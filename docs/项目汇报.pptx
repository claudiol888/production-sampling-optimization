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handoutMasterIdLst>
    <p:handoutMasterId r:id="rId48"/>
  </p:handoutMasterIdLst>
  <p:sldIdLst>
    <p:sldId id="298" r:id="rId4"/>
    <p:sldId id="257" r:id="rId5"/>
    <p:sldId id="441" r:id="rId7"/>
    <p:sldId id="442" r:id="rId8"/>
    <p:sldId id="447" r:id="rId9"/>
    <p:sldId id="446" r:id="rId10"/>
    <p:sldId id="435" r:id="rId11"/>
    <p:sldId id="427" r:id="rId12"/>
    <p:sldId id="428" r:id="rId13"/>
    <p:sldId id="429" r:id="rId14"/>
    <p:sldId id="430" r:id="rId15"/>
    <p:sldId id="431" r:id="rId16"/>
    <p:sldId id="432" r:id="rId17"/>
    <p:sldId id="433" r:id="rId18"/>
    <p:sldId id="434" r:id="rId19"/>
    <p:sldId id="261" r:id="rId20"/>
    <p:sldId id="258" r:id="rId21"/>
    <p:sldId id="426" r:id="rId22"/>
    <p:sldId id="437" r:id="rId23"/>
    <p:sldId id="425" r:id="rId24"/>
    <p:sldId id="438" r:id="rId25"/>
    <p:sldId id="439" r:id="rId26"/>
    <p:sldId id="436" r:id="rId27"/>
    <p:sldId id="449" r:id="rId28"/>
    <p:sldId id="450" r:id="rId29"/>
    <p:sldId id="451" r:id="rId30"/>
    <p:sldId id="452" r:id="rId31"/>
    <p:sldId id="453" r:id="rId32"/>
    <p:sldId id="454" r:id="rId33"/>
    <p:sldId id="455" r:id="rId34"/>
    <p:sldId id="456" r:id="rId35"/>
    <p:sldId id="457" r:id="rId36"/>
    <p:sldId id="393" r:id="rId37"/>
    <p:sldId id="264" r:id="rId38"/>
    <p:sldId id="265" r:id="rId39"/>
    <p:sldId id="443" r:id="rId40"/>
    <p:sldId id="444" r:id="rId41"/>
    <p:sldId id="463" r:id="rId42"/>
    <p:sldId id="464" r:id="rId43"/>
    <p:sldId id="465" r:id="rId44"/>
    <p:sldId id="466" r:id="rId45"/>
    <p:sldId id="467" r:id="rId46"/>
    <p:sldId id="299" r:id="rId47"/>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付 庆娇" initials="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61318"/>
    <a:srgbClr val="C00000"/>
    <a:srgbClr val="C73D2D"/>
    <a:srgbClr val="C74030"/>
    <a:srgbClr val="0062AD"/>
    <a:srgbClr val="0C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130" y="67"/>
      </p:cViewPr>
      <p:guideLst>
        <p:guide orient="horz" pos="2178"/>
        <p:guide pos="36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3" Type="http://schemas.openxmlformats.org/officeDocument/2006/relationships/tags" Target="tags/tag104.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D87F81-F693-4D61-96C3-51640B3E97A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FF7DB9-3AC9-45BF-BBE5-11AD8F5E63C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FF7DB9-3AC9-45BF-BBE5-11AD8F5E63C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FF7DB9-3AC9-45BF-BBE5-11AD8F5E63C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FF7DB9-3AC9-45BF-BBE5-11AD8F5E63C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6778765-80AB-4232-8B24-10519C1517F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CBEEDB-AC50-479F-9C8D-98D693D4933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8"/>
            <a:ext cx="80772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15125E8-DA77-45D8-B09C-9491D3A96F0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CB4346-82FD-4349-A908-96327397DAE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alphaModFix amt="14000"/>
            <a:lum/>
          </a:blip>
          <a:srcRect/>
          <a:stretch>
            <a:fillRect t="-9000" b="-9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778765-80AB-4232-8B24-10519C1517F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CBEEDB-AC50-479F-9C8D-98D693D49331}" type="slidenum">
              <a:rPr lang="zh-CN" altLang="en-US" smtClean="0"/>
            </a:fld>
            <a:endParaRPr lang="zh-CN" altLang="en-US"/>
          </a:p>
        </p:txBody>
      </p:sp>
      <p:sp>
        <p:nvSpPr>
          <p:cNvPr id="8" name="文本框 2"/>
          <p:cNvSpPr txBox="1"/>
          <p:nvPr userDrawn="1"/>
        </p:nvSpPr>
        <p:spPr>
          <a:xfrm>
            <a:off x="47328" y="6027003"/>
            <a:ext cx="3600356" cy="830997"/>
          </a:xfrm>
          <a:prstGeom prst="rect">
            <a:avLst/>
          </a:prstGeom>
          <a:noFill/>
        </p:spPr>
        <p:txBody>
          <a:bodyPr wrap="square" rtlCol="0">
            <a:spAutoFit/>
          </a:bodyPr>
          <a:lstStyle/>
          <a:p>
            <a:r>
              <a:rPr lang="zh-CN" altLang="en-US" sz="2400" dirty="0">
                <a:solidFill>
                  <a:srgbClr val="8C1515"/>
                </a:solidFill>
                <a:latin typeface="华文行楷" panose="02010800040101010101" pitchFamily="2" charset="-122"/>
                <a:ea typeface="华文行楷" panose="02010800040101010101" pitchFamily="2" charset="-122"/>
              </a:rPr>
              <a:t>精勤求学 敦笃励志 </a:t>
            </a:r>
            <a:endParaRPr lang="zh-CN" altLang="en-US" sz="2400" dirty="0">
              <a:solidFill>
                <a:srgbClr val="8C1515"/>
              </a:solidFill>
              <a:latin typeface="华文行楷" panose="02010800040101010101" pitchFamily="2" charset="-122"/>
              <a:ea typeface="华文行楷" panose="02010800040101010101" pitchFamily="2" charset="-122"/>
            </a:endParaRPr>
          </a:p>
          <a:p>
            <a:r>
              <a:rPr lang="zh-CN" altLang="en-US" sz="2400" dirty="0">
                <a:solidFill>
                  <a:srgbClr val="8C1515"/>
                </a:solidFill>
                <a:latin typeface="华文行楷" panose="02010800040101010101" pitchFamily="2" charset="-122"/>
                <a:ea typeface="华文行楷" panose="02010800040101010101" pitchFamily="2" charset="-122"/>
              </a:rPr>
              <a:t>果毅力行 忠恕任事</a:t>
            </a:r>
            <a:endParaRPr lang="zh-CN" altLang="en-US" sz="2400" dirty="0">
              <a:solidFill>
                <a:srgbClr val="8C1515"/>
              </a:solidFill>
              <a:latin typeface="华文行楷" panose="02010800040101010101" pitchFamily="2" charset="-122"/>
              <a:ea typeface="华文行楷" panose="02010800040101010101" pitchFamily="2" charset="-122"/>
            </a:endParaRPr>
          </a:p>
        </p:txBody>
      </p:sp>
      <p:pic>
        <p:nvPicPr>
          <p:cNvPr id="10" name="图片 9"/>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039688" y="172384"/>
            <a:ext cx="1936288" cy="55945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alphaModFix amt="14000"/>
            <a:lum/>
          </a:blip>
          <a:srcRect/>
          <a:stretch>
            <a:fillRect t="-9000" b="-9000"/>
          </a:stretch>
        </a:blipFill>
        <a:effectLst/>
      </p:bgPr>
    </p:bg>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125E8-DA77-45D8-B09C-9491D3A96F07}" type="datetimeFigureOut">
              <a:rPr lang="zh-CN" altLang="en-US" smtClean="0"/>
            </a:fld>
            <a:endParaRPr lang="zh-CN" altLang="en-US"/>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CB4346-82FD-4349-A908-96327397DAE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microsoft.com/office/2007/relationships/hdphoto" Target="../media/image4.wdp"/><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2" Type="http://schemas.openxmlformats.org/officeDocument/2006/relationships/notesSlide" Target="../notesSlides/notesSlide1.xml"/><Relationship Id="rId41" Type="http://schemas.openxmlformats.org/officeDocument/2006/relationships/slideLayout" Target="../slideLayouts/slideLayout1.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3" Type="http://schemas.openxmlformats.org/officeDocument/2006/relationships/slideLayout" Target="../slideLayouts/slideLayout1.xml"/><Relationship Id="rId22" Type="http://schemas.openxmlformats.org/officeDocument/2006/relationships/image" Target="../media/image27.png"/><Relationship Id="rId21" Type="http://schemas.openxmlformats.org/officeDocument/2006/relationships/image" Target="../media/image26.png"/><Relationship Id="rId20" Type="http://schemas.openxmlformats.org/officeDocument/2006/relationships/image" Target="../media/image25.png"/><Relationship Id="rId2" Type="http://schemas.openxmlformats.org/officeDocument/2006/relationships/tags" Target="../tags/tag41.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26.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0" Type="http://schemas.openxmlformats.org/officeDocument/2006/relationships/slideLayout" Target="../slideLayouts/slideLayout1.xml"/><Relationship Id="rId1" Type="http://schemas.openxmlformats.org/officeDocument/2006/relationships/tags" Target="../tags/tag5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29.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4" Type="http://schemas.openxmlformats.org/officeDocument/2006/relationships/slideLayout" Target="../slideLayouts/slideLayout1.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9.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0" Type="http://schemas.openxmlformats.org/officeDocument/2006/relationships/slideLayout" Target="../slideLayouts/slideLayout1.xml"/><Relationship Id="rId2" Type="http://schemas.openxmlformats.org/officeDocument/2006/relationships/tags" Target="../tags/tag80.xml"/><Relationship Id="rId19" Type="http://schemas.openxmlformats.org/officeDocument/2006/relationships/tags" Target="../tags/tag97.xml"/><Relationship Id="rId18" Type="http://schemas.openxmlformats.org/officeDocument/2006/relationships/tags" Target="../tags/tag96.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tags" Target="../tags/tag79.xml"/></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0.wdp"/><Relationship Id="rId2" Type="http://schemas.openxmlformats.org/officeDocument/2006/relationships/image" Target="../media/image39.png"/><Relationship Id="rId1" Type="http://schemas.openxmlformats.org/officeDocument/2006/relationships/tags" Target="../tags/tag10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500" y="1489075"/>
            <a:ext cx="12278360" cy="3632200"/>
          </a:xfrm>
          <a:prstGeom prst="rect">
            <a:avLst/>
          </a:prstGeom>
          <a:solidFill>
            <a:srgbClr val="961318">
              <a:alpha val="85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charset="-122"/>
              <a:cs typeface="+mn-ea"/>
              <a:sym typeface="+mn-lt"/>
            </a:endParaRPr>
          </a:p>
        </p:txBody>
      </p:sp>
      <p:grpSp>
        <p:nvGrpSpPr>
          <p:cNvPr id="3" name="组合 2"/>
          <p:cNvGrpSpPr/>
          <p:nvPr/>
        </p:nvGrpSpPr>
        <p:grpSpPr>
          <a:xfrm>
            <a:off x="3036002" y="5879953"/>
            <a:ext cx="6305550" cy="674370"/>
            <a:chOff x="3035927" y="5766489"/>
            <a:chExt cx="6305550" cy="674370"/>
          </a:xfrm>
        </p:grpSpPr>
        <p:sp>
          <p:nvSpPr>
            <p:cNvPr id="4" name="TextBox 14"/>
            <p:cNvSpPr txBox="1"/>
            <p:nvPr/>
          </p:nvSpPr>
          <p:spPr>
            <a:xfrm>
              <a:off x="3035927" y="5766489"/>
              <a:ext cx="6305550" cy="337185"/>
            </a:xfrm>
            <a:prstGeom prst="rect">
              <a:avLst/>
            </a:prstGeom>
            <a:noFill/>
          </p:spPr>
          <p:txBody>
            <a:bodyPr wrap="none" rtlCol="0">
              <a:spAutoFit/>
            </a:bodyPr>
            <a:lstStyle/>
            <a:p>
              <a:r>
                <a:rPr lang="zh-CN" altLang="en-US" sz="1600" b="1" dirty="0">
                  <a:solidFill>
                    <a:srgbClr val="961318"/>
                  </a:solidFill>
                  <a:latin typeface="Arial" panose="020B0604020202020204"/>
                  <a:ea typeface="微软雅黑" panose="020B0503020204020204" charset="-122"/>
                  <a:cs typeface="+mn-ea"/>
                </a:rPr>
                <a:t>答辩人：顾雨阳</a:t>
              </a:r>
              <a:r>
                <a:rPr lang="en-US" altLang="zh-CN" sz="1600" b="1" dirty="0">
                  <a:solidFill>
                    <a:srgbClr val="961318"/>
                  </a:solidFill>
                  <a:latin typeface="Arial" panose="020B0604020202020204"/>
                  <a:ea typeface="微软雅黑" panose="020B0503020204020204" charset="-122"/>
                  <a:cs typeface="+mn-ea"/>
                </a:rPr>
                <a:t>2233311465 </a:t>
              </a:r>
              <a:r>
                <a:rPr lang="zh-CN" altLang="en-US" sz="1600" b="1" dirty="0">
                  <a:solidFill>
                    <a:srgbClr val="961318"/>
                  </a:solidFill>
                  <a:latin typeface="Arial" panose="020B0604020202020204"/>
                  <a:ea typeface="微软雅黑" panose="020B0503020204020204" charset="-122"/>
                  <a:cs typeface="+mn-ea"/>
                </a:rPr>
                <a:t>伍俊宇</a:t>
              </a:r>
              <a:r>
                <a:rPr lang="en-US" altLang="zh-CN" sz="1600" b="1" dirty="0">
                  <a:solidFill>
                    <a:srgbClr val="961318"/>
                  </a:solidFill>
                  <a:latin typeface="Arial" panose="020B0604020202020204"/>
                  <a:ea typeface="微软雅黑" panose="020B0503020204020204" charset="-122"/>
                  <a:cs typeface="+mn-ea"/>
                </a:rPr>
                <a:t>2233311421 </a:t>
              </a:r>
              <a:r>
                <a:rPr lang="zh-CN" altLang="en-US" sz="1600" b="1" dirty="0">
                  <a:solidFill>
                    <a:srgbClr val="961318"/>
                  </a:solidFill>
                  <a:latin typeface="Arial" panose="020B0604020202020204"/>
                  <a:ea typeface="微软雅黑" panose="020B0503020204020204" charset="-122"/>
                  <a:cs typeface="+mn-ea"/>
                </a:rPr>
                <a:t>李佳融</a:t>
              </a:r>
              <a:r>
                <a:rPr lang="en-US" altLang="zh-CN" sz="1600" b="1" dirty="0">
                  <a:solidFill>
                    <a:srgbClr val="961318"/>
                  </a:solidFill>
                  <a:latin typeface="Arial" panose="020B0604020202020204"/>
                  <a:ea typeface="微软雅黑" panose="020B0503020204020204" charset="-122"/>
                  <a:cs typeface="+mn-ea"/>
                </a:rPr>
                <a:t>2233514238</a:t>
              </a:r>
              <a:endParaRPr lang="en-US" altLang="zh-CN" sz="1600" b="1" dirty="0">
                <a:solidFill>
                  <a:srgbClr val="961318"/>
                </a:solidFill>
                <a:latin typeface="Arial" panose="020B0604020202020204"/>
                <a:ea typeface="微软雅黑" panose="020B0503020204020204" charset="-122"/>
                <a:cs typeface="+mn-ea"/>
              </a:endParaRPr>
            </a:p>
          </p:txBody>
        </p:sp>
        <p:sp>
          <p:nvSpPr>
            <p:cNvPr id="6" name="TextBox 90"/>
            <p:cNvSpPr txBox="1"/>
            <p:nvPr/>
          </p:nvSpPr>
          <p:spPr>
            <a:xfrm>
              <a:off x="5035024" y="6103674"/>
              <a:ext cx="2306320" cy="337185"/>
            </a:xfrm>
            <a:prstGeom prst="rect">
              <a:avLst/>
            </a:prstGeom>
            <a:noFill/>
          </p:spPr>
          <p:txBody>
            <a:bodyPr wrap="none" rtlCol="0">
              <a:spAutoFit/>
            </a:bodyPr>
            <a:lstStyle/>
            <a:p>
              <a:r>
                <a:rPr lang="zh-CN" altLang="en-US" sz="1600" b="1" dirty="0">
                  <a:solidFill>
                    <a:srgbClr val="961318"/>
                  </a:solidFill>
                  <a:latin typeface="Arial" panose="020B0604020202020204"/>
                  <a:ea typeface="微软雅黑" panose="020B0503020204020204" charset="-122"/>
                  <a:cs typeface="+mn-ea"/>
                </a:rPr>
                <a:t>日期：</a:t>
              </a:r>
              <a:r>
                <a:rPr lang="en-US" altLang="zh-CN" sz="1600" b="1" dirty="0">
                  <a:solidFill>
                    <a:srgbClr val="961318"/>
                  </a:solidFill>
                  <a:latin typeface="Arial" panose="020B0604020202020204"/>
                  <a:ea typeface="微软雅黑" panose="020B0503020204020204" charset="-122"/>
                  <a:cs typeface="+mn-ea"/>
                </a:rPr>
                <a:t>2025</a:t>
              </a:r>
              <a:r>
                <a:rPr lang="zh-CN" altLang="en-US" sz="1600" b="1" dirty="0">
                  <a:solidFill>
                    <a:srgbClr val="961318"/>
                  </a:solidFill>
                  <a:latin typeface="Arial" panose="020B0604020202020204"/>
                  <a:ea typeface="微软雅黑" panose="020B0503020204020204" charset="-122"/>
                  <a:cs typeface="+mn-ea"/>
                </a:rPr>
                <a:t>年</a:t>
              </a:r>
              <a:r>
                <a:rPr lang="en-US" altLang="zh-CN" sz="1600" b="1" dirty="0">
                  <a:solidFill>
                    <a:srgbClr val="961318"/>
                  </a:solidFill>
                  <a:latin typeface="Arial" panose="020B0604020202020204"/>
                  <a:ea typeface="微软雅黑" panose="020B0503020204020204" charset="-122"/>
                  <a:cs typeface="+mn-ea"/>
                </a:rPr>
                <a:t>04</a:t>
              </a:r>
              <a:r>
                <a:rPr lang="zh-CN" altLang="en-US" sz="1600" b="1" dirty="0">
                  <a:solidFill>
                    <a:srgbClr val="961318"/>
                  </a:solidFill>
                  <a:latin typeface="Arial" panose="020B0604020202020204"/>
                  <a:ea typeface="微软雅黑" panose="020B0503020204020204" charset="-122"/>
                  <a:cs typeface="+mn-ea"/>
                </a:rPr>
                <a:t>月</a:t>
              </a:r>
              <a:r>
                <a:rPr lang="en-US" altLang="zh-CN" sz="1600" b="1" dirty="0">
                  <a:solidFill>
                    <a:srgbClr val="961318"/>
                  </a:solidFill>
                  <a:latin typeface="Arial" panose="020B0604020202020204"/>
                  <a:ea typeface="微软雅黑" panose="020B0503020204020204" charset="-122"/>
                  <a:cs typeface="+mn-ea"/>
                </a:rPr>
                <a:t>10</a:t>
              </a:r>
              <a:r>
                <a:rPr lang="zh-CN" altLang="en-US" sz="1600" b="1" dirty="0">
                  <a:solidFill>
                    <a:srgbClr val="961318"/>
                  </a:solidFill>
                  <a:latin typeface="Arial" panose="020B0604020202020204"/>
                  <a:ea typeface="微软雅黑" panose="020B0503020204020204" charset="-122"/>
                  <a:cs typeface="+mn-ea"/>
                </a:rPr>
                <a:t>日</a:t>
              </a:r>
              <a:endParaRPr lang="zh-CN" altLang="en-US" sz="1600" b="1" dirty="0">
                <a:solidFill>
                  <a:srgbClr val="961318"/>
                </a:solidFill>
                <a:latin typeface="Arial" panose="020B0604020202020204"/>
                <a:ea typeface="微软雅黑" panose="020B0503020204020204" charset="-122"/>
                <a:cs typeface="+mn-ea"/>
              </a:endParaRPr>
            </a:p>
          </p:txBody>
        </p:sp>
      </p:grpSp>
      <p:grpSp>
        <p:nvGrpSpPr>
          <p:cNvPr id="7" name="Group 15"/>
          <p:cNvGrpSpPr/>
          <p:nvPr/>
        </p:nvGrpSpPr>
        <p:grpSpPr>
          <a:xfrm>
            <a:off x="1" y="2571819"/>
            <a:ext cx="12215445" cy="2372382"/>
            <a:chOff x="-1504285" y="2717304"/>
            <a:chExt cx="10824150" cy="2372382"/>
          </a:xfrm>
        </p:grpSpPr>
        <p:sp>
          <p:nvSpPr>
            <p:cNvPr id="8" name="Rectangle 9"/>
            <p:cNvSpPr/>
            <p:nvPr/>
          </p:nvSpPr>
          <p:spPr>
            <a:xfrm>
              <a:off x="-215195" y="2717304"/>
              <a:ext cx="8343919" cy="1778000"/>
            </a:xfrm>
            <a:prstGeom prst="rect">
              <a:avLst/>
            </a:prstGeom>
          </p:spPr>
          <p:txBody>
            <a:bodyPr wrap="square">
              <a:noAutofit/>
            </a:bodyPr>
            <a:lstStyle/>
            <a:p>
              <a:pPr algn="ctr"/>
              <a:r>
                <a:rPr lang="zh-CN" altLang="en-US" sz="6000" b="1" dirty="0">
                  <a:solidFill>
                    <a:prstClr val="white"/>
                  </a:solidFill>
                  <a:latin typeface="微软雅黑" panose="020B0503020204020204" charset="-122"/>
                  <a:ea typeface="微软雅黑" panose="020B0503020204020204" charset="-122"/>
                  <a:cs typeface="阿里巴巴普惠体 B" panose="00020600040101010101" pitchFamily="18" charset="-122"/>
                </a:rPr>
                <a:t>基于贝叶斯抽样检测与库存反馈的生产决策优化模型</a:t>
              </a:r>
              <a:endParaRPr lang="zh-CN" altLang="en-US" sz="6000" b="1" dirty="0">
                <a:solidFill>
                  <a:prstClr val="white"/>
                </a:solidFill>
                <a:latin typeface="微软雅黑" panose="020B0503020204020204" charset="-122"/>
                <a:ea typeface="微软雅黑" panose="020B0503020204020204" charset="-122"/>
                <a:cs typeface="阿里巴巴普惠体 B" panose="00020600040101010101" pitchFamily="18" charset="-122"/>
              </a:endParaRPr>
            </a:p>
          </p:txBody>
        </p:sp>
        <p:sp>
          <p:nvSpPr>
            <p:cNvPr id="9" name="Rectangle 10"/>
            <p:cNvSpPr/>
            <p:nvPr/>
          </p:nvSpPr>
          <p:spPr>
            <a:xfrm>
              <a:off x="-1504285" y="4690906"/>
              <a:ext cx="10824150" cy="398780"/>
            </a:xfrm>
            <a:prstGeom prst="rect">
              <a:avLst/>
            </a:prstGeom>
          </p:spPr>
          <p:txBody>
            <a:bodyPr wrap="square">
              <a:spAutoFit/>
            </a:bodyPr>
            <a:lstStyle/>
            <a:p>
              <a:pPr algn="ctr"/>
              <a:endParaRPr lang="zh-CN" altLang="en-US" sz="2000" b="1" dirty="0">
                <a:solidFill>
                  <a:prstClr val="white"/>
                </a:solidFill>
                <a:latin typeface="微软雅黑 Light" panose="020B0502040204020203" pitchFamily="34" charset="-122"/>
                <a:ea typeface="微软雅黑 Light" panose="020B0502040204020203" pitchFamily="34" charset="-122"/>
              </a:endParaRPr>
            </a:p>
          </p:txBody>
        </p:sp>
      </p:grpSp>
      <p:cxnSp>
        <p:nvCxnSpPr>
          <p:cNvPr id="10" name="直接连接符 9"/>
          <p:cNvCxnSpPr/>
          <p:nvPr/>
        </p:nvCxnSpPr>
        <p:spPr>
          <a:xfrm flipV="1">
            <a:off x="-541722" y="5529572"/>
            <a:ext cx="5256126" cy="1"/>
          </a:xfrm>
          <a:prstGeom prst="line">
            <a:avLst/>
          </a:prstGeom>
          <a:noFill/>
          <a:ln w="38100" cap="flat" cmpd="sng" algn="ctr">
            <a:solidFill>
              <a:srgbClr val="961318"/>
            </a:solidFill>
            <a:prstDash val="solid"/>
            <a:miter lim="800000"/>
          </a:ln>
          <a:effectLst/>
        </p:spPr>
      </p:cxnSp>
      <p:cxnSp>
        <p:nvCxnSpPr>
          <p:cNvPr id="11" name="直接连接符 10"/>
          <p:cNvCxnSpPr/>
          <p:nvPr/>
        </p:nvCxnSpPr>
        <p:spPr>
          <a:xfrm>
            <a:off x="7601791" y="5529572"/>
            <a:ext cx="5446002" cy="0"/>
          </a:xfrm>
          <a:prstGeom prst="line">
            <a:avLst/>
          </a:prstGeom>
          <a:noFill/>
          <a:ln w="38100" cap="flat" cmpd="sng" algn="ctr">
            <a:solidFill>
              <a:srgbClr val="961318"/>
            </a:solidFill>
            <a:prstDash val="solid"/>
            <a:miter lim="800000"/>
          </a:ln>
          <a:effectLst/>
        </p:spPr>
      </p:cxnSp>
      <p:sp>
        <p:nvSpPr>
          <p:cNvPr id="13" name="文本框 8"/>
          <p:cNvSpPr txBox="1"/>
          <p:nvPr/>
        </p:nvSpPr>
        <p:spPr>
          <a:xfrm>
            <a:off x="4775464" y="5233692"/>
            <a:ext cx="2826327" cy="646331"/>
          </a:xfrm>
          <a:prstGeom prst="rect">
            <a:avLst/>
          </a:prstGeom>
          <a:noFill/>
        </p:spPr>
        <p:txBody>
          <a:bodyPr wrap="square" rtlCol="0">
            <a:spAutoFit/>
          </a:bodyPr>
          <a:lstStyle/>
          <a:p>
            <a:pPr algn="ctr">
              <a:buClrTx/>
              <a:buSzTx/>
              <a:buFontTx/>
            </a:pPr>
            <a:r>
              <a:rPr lang="zh-CN" altLang="en-US" dirty="0">
                <a:solidFill>
                  <a:srgbClr val="8C1515"/>
                </a:solidFill>
                <a:latin typeface="华文行楷" panose="02010800040101010101" pitchFamily="2" charset="-122"/>
                <a:ea typeface="华文行楷" panose="02010800040101010101" pitchFamily="2" charset="-122"/>
                <a:sym typeface="+mn-ea"/>
              </a:rPr>
              <a:t>精勤求学 敦笃励志 </a:t>
            </a:r>
            <a:endParaRPr lang="zh-CN" altLang="en-US" dirty="0">
              <a:solidFill>
                <a:srgbClr val="8C1515"/>
              </a:solidFill>
              <a:latin typeface="华文行楷" panose="02010800040101010101" pitchFamily="2" charset="-122"/>
              <a:ea typeface="华文行楷" panose="02010800040101010101" pitchFamily="2" charset="-122"/>
              <a:sym typeface="+mn-ea"/>
            </a:endParaRPr>
          </a:p>
          <a:p>
            <a:pPr algn="ctr">
              <a:buClrTx/>
              <a:buSzTx/>
              <a:buFontTx/>
            </a:pPr>
            <a:r>
              <a:rPr lang="zh-CN" altLang="en-US" dirty="0">
                <a:solidFill>
                  <a:srgbClr val="8C1515"/>
                </a:solidFill>
                <a:latin typeface="华文行楷" panose="02010800040101010101" pitchFamily="2" charset="-122"/>
                <a:ea typeface="华文行楷" panose="02010800040101010101" pitchFamily="2" charset="-122"/>
                <a:sym typeface="+mn-ea"/>
              </a:rPr>
              <a:t>果毅力行 忠恕任事</a:t>
            </a:r>
            <a:endParaRPr lang="zh-CN" altLang="en-US" dirty="0">
              <a:solidFill>
                <a:srgbClr val="8C1515"/>
              </a:solidFill>
              <a:latin typeface="华文行楷" panose="02010800040101010101" pitchFamily="2" charset="-122"/>
              <a:ea typeface="华文行楷" panose="02010800040101010101" pitchFamily="2" charset="-122"/>
              <a:sym typeface="+mn-ea"/>
            </a:endParaRPr>
          </a:p>
        </p:txBody>
      </p:sp>
      <p:pic>
        <p:nvPicPr>
          <p:cNvPr id="12" name="图片 11"/>
          <p:cNvPicPr>
            <a:picLocks noChangeAspect="1"/>
          </p:cNvPicPr>
          <p:nvPr/>
        </p:nvPicPr>
        <p:blipFill>
          <a:blip r:embed="rId1" cstate="print">
            <a:extLst>
              <a:ext uri="{BEBA8EAE-BF5A-486C-A8C5-ECC9F3942E4B}">
                <a14:imgProps xmlns:a14="http://schemas.microsoft.com/office/drawing/2010/main">
                  <a14:imgLayer r:embed="rId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27121" y="1639042"/>
            <a:ext cx="3271744" cy="9453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77" y="-7719"/>
            <a:ext cx="5165132" cy="6800942"/>
          </a:xfrm>
          <a:prstGeom prst="rect">
            <a:avLst/>
          </a:prstGeom>
        </p:spPr>
      </p:pic>
      <p:sp>
        <p:nvSpPr>
          <p:cNvPr id="3" name="PA-矩形 8"/>
          <p:cNvSpPr/>
          <p:nvPr>
            <p:custDataLst>
              <p:tags r:id="rId2"/>
            </p:custDataLst>
          </p:nvPr>
        </p:nvSpPr>
        <p:spPr>
          <a:xfrm>
            <a:off x="0" y="-7719"/>
            <a:ext cx="5155855" cy="6858000"/>
          </a:xfrm>
          <a:prstGeom prst="rect">
            <a:avLst/>
          </a:prstGeom>
          <a:gradFill flip="none" rotWithShape="1">
            <a:gsLst>
              <a:gs pos="0">
                <a:srgbClr val="961318"/>
              </a:gs>
              <a:gs pos="100000">
                <a:srgbClr val="961318">
                  <a:alpha val="62000"/>
                </a:srgbClr>
              </a:gs>
            </a:gsLst>
            <a:lin ang="0" scaled="1"/>
            <a:tileRect/>
          </a:gra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grpSp>
        <p:nvGrpSpPr>
          <p:cNvPr id="4" name="PA-组合 20"/>
          <p:cNvGrpSpPr/>
          <p:nvPr>
            <p:custDataLst>
              <p:tags r:id="rId3"/>
            </p:custDataLst>
          </p:nvPr>
        </p:nvGrpSpPr>
        <p:grpSpPr>
          <a:xfrm>
            <a:off x="6503258" y="915655"/>
            <a:ext cx="672405" cy="923330"/>
            <a:chOff x="7138670" y="1012807"/>
            <a:chExt cx="672405" cy="923330"/>
          </a:xfrm>
        </p:grpSpPr>
        <p:sp>
          <p:nvSpPr>
            <p:cNvPr id="5" name="PA-任意多边形 9"/>
            <p:cNvSpPr/>
            <p:nvPr>
              <p:custDataLst>
                <p:tags r:id="rId4"/>
              </p:custDataLst>
            </p:nvPr>
          </p:nvSpPr>
          <p:spPr>
            <a:xfrm>
              <a:off x="7138670" y="1555752"/>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961318"/>
                </a:gs>
                <a:gs pos="72000">
                  <a:srgbClr val="961318">
                    <a:alpha val="40000"/>
                  </a:srgbClr>
                </a:gs>
                <a:gs pos="100000">
                  <a:srgbClr val="961318">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ea"/>
                <a:sym typeface="+mn-lt"/>
              </a:endParaRPr>
            </a:p>
          </p:txBody>
        </p:sp>
        <p:sp>
          <p:nvSpPr>
            <p:cNvPr id="6" name="PA-文本框 13"/>
            <p:cNvSpPr txBox="1"/>
            <p:nvPr>
              <p:custDataLst>
                <p:tags r:id="rId5"/>
              </p:custDataLst>
            </p:nvPr>
          </p:nvSpPr>
          <p:spPr>
            <a:xfrm>
              <a:off x="7186365" y="1012807"/>
              <a:ext cx="624710" cy="9233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54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rPr>
                <a:t>1</a:t>
              </a:r>
              <a:endParaRPr kumimoji="0" lang="zh-CN" altLang="en-US" sz="54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endParaRPr>
            </a:p>
          </p:txBody>
        </p:sp>
      </p:grpSp>
      <p:grpSp>
        <p:nvGrpSpPr>
          <p:cNvPr id="7" name="PA-组合 19"/>
          <p:cNvGrpSpPr/>
          <p:nvPr>
            <p:custDataLst>
              <p:tags r:id="rId6"/>
            </p:custDataLst>
          </p:nvPr>
        </p:nvGrpSpPr>
        <p:grpSpPr>
          <a:xfrm>
            <a:off x="6503258" y="2027263"/>
            <a:ext cx="672405" cy="830997"/>
            <a:chOff x="7138670" y="2490624"/>
            <a:chExt cx="672405" cy="830997"/>
          </a:xfrm>
        </p:grpSpPr>
        <p:sp>
          <p:nvSpPr>
            <p:cNvPr id="8" name="PA-任意多边形 10"/>
            <p:cNvSpPr/>
            <p:nvPr>
              <p:custDataLst>
                <p:tags r:id="rId7"/>
              </p:custDataLst>
            </p:nvPr>
          </p:nvSpPr>
          <p:spPr>
            <a:xfrm>
              <a:off x="7138670" y="2967858"/>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961318"/>
                </a:gs>
                <a:gs pos="72000">
                  <a:srgbClr val="961318">
                    <a:alpha val="40000"/>
                  </a:srgbClr>
                </a:gs>
                <a:gs pos="100000">
                  <a:srgbClr val="961318">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ea"/>
                <a:sym typeface="+mn-lt"/>
              </a:endParaRPr>
            </a:p>
          </p:txBody>
        </p:sp>
        <p:sp>
          <p:nvSpPr>
            <p:cNvPr id="9" name="PA-文本框 14"/>
            <p:cNvSpPr txBox="1"/>
            <p:nvPr>
              <p:custDataLst>
                <p:tags r:id="rId8"/>
              </p:custDataLst>
            </p:nvPr>
          </p:nvSpPr>
          <p:spPr>
            <a:xfrm>
              <a:off x="7186365" y="2490624"/>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rPr>
                <a:t>2</a:t>
              </a:r>
              <a:endParaRPr kumimoji="0" lang="zh-CN" altLang="en-US" sz="48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endParaRPr>
            </a:p>
          </p:txBody>
        </p:sp>
      </p:grpSp>
      <p:sp>
        <p:nvSpPr>
          <p:cNvPr id="10" name="PA-任意多边形 11"/>
          <p:cNvSpPr/>
          <p:nvPr>
            <p:custDataLst>
              <p:tags r:id="rId9"/>
            </p:custDataLst>
          </p:nvPr>
        </p:nvSpPr>
        <p:spPr>
          <a:xfrm>
            <a:off x="6503258" y="3541241"/>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961318"/>
              </a:gs>
              <a:gs pos="72000">
                <a:srgbClr val="961318">
                  <a:alpha val="40000"/>
                </a:srgbClr>
              </a:gs>
              <a:gs pos="100000">
                <a:srgbClr val="961318">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ea"/>
              <a:sym typeface="+mn-lt"/>
            </a:endParaRPr>
          </a:p>
        </p:txBody>
      </p:sp>
      <p:sp>
        <p:nvSpPr>
          <p:cNvPr id="11" name="PA-文本框 15"/>
          <p:cNvSpPr txBox="1"/>
          <p:nvPr>
            <p:custDataLst>
              <p:tags r:id="rId10"/>
            </p:custDataLst>
          </p:nvPr>
        </p:nvSpPr>
        <p:spPr>
          <a:xfrm>
            <a:off x="6550953" y="3046537"/>
            <a:ext cx="624710" cy="830997"/>
          </a:xfrm>
          <a:prstGeom prst="rect">
            <a:avLst/>
          </a:prstGeom>
          <a:noFill/>
        </p:spPr>
        <p:txBody>
          <a:bodyPr wrap="square" rtlCol="0">
            <a:spAutoFit/>
          </a:bodyPr>
          <a:lstStyle/>
          <a:p>
            <a:r>
              <a:rPr lang="en-US" altLang="zh-CN" sz="4800" b="1" i="1" dirty="0">
                <a:solidFill>
                  <a:srgbClr val="961318"/>
                </a:solidFill>
                <a:latin typeface="Arial" panose="020B0604020202020204"/>
                <a:ea typeface="微软雅黑" panose="020B0503020204020204" charset="-122"/>
                <a:cs typeface="+mn-ea"/>
                <a:sym typeface="+mn-lt"/>
              </a:rPr>
              <a:t>3</a:t>
            </a:r>
            <a:endParaRPr lang="zh-CN" altLang="en-US" sz="4800" b="1" i="1" dirty="0">
              <a:solidFill>
                <a:srgbClr val="961318"/>
              </a:solidFill>
              <a:latin typeface="Arial" panose="020B0604020202020204"/>
              <a:ea typeface="微软雅黑" panose="020B0503020204020204" charset="-122"/>
              <a:cs typeface="+mn-ea"/>
              <a:sym typeface="+mn-lt"/>
            </a:endParaRPr>
          </a:p>
        </p:txBody>
      </p:sp>
      <p:grpSp>
        <p:nvGrpSpPr>
          <p:cNvPr id="12" name="PA-组合 17"/>
          <p:cNvGrpSpPr/>
          <p:nvPr>
            <p:custDataLst>
              <p:tags r:id="rId11"/>
            </p:custDataLst>
          </p:nvPr>
        </p:nvGrpSpPr>
        <p:grpSpPr>
          <a:xfrm>
            <a:off x="6503258" y="4065812"/>
            <a:ext cx="672405" cy="830997"/>
            <a:chOff x="7138670" y="5303103"/>
            <a:chExt cx="672405" cy="830997"/>
          </a:xfrm>
        </p:grpSpPr>
        <p:sp>
          <p:nvSpPr>
            <p:cNvPr id="13" name="PA-任意多边形 12"/>
            <p:cNvSpPr/>
            <p:nvPr>
              <p:custDataLst>
                <p:tags r:id="rId12"/>
              </p:custDataLst>
            </p:nvPr>
          </p:nvSpPr>
          <p:spPr>
            <a:xfrm>
              <a:off x="7138670" y="5792070"/>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961318"/>
                </a:gs>
                <a:gs pos="72000">
                  <a:srgbClr val="961318">
                    <a:alpha val="40000"/>
                  </a:srgbClr>
                </a:gs>
                <a:gs pos="100000">
                  <a:srgbClr val="961318">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ea"/>
                <a:sym typeface="+mn-lt"/>
              </a:endParaRPr>
            </a:p>
          </p:txBody>
        </p:sp>
        <p:sp>
          <p:nvSpPr>
            <p:cNvPr id="14" name="PA-文本框 16"/>
            <p:cNvSpPr txBox="1"/>
            <p:nvPr>
              <p:custDataLst>
                <p:tags r:id="rId13"/>
              </p:custDataLst>
            </p:nvPr>
          </p:nvSpPr>
          <p:spPr>
            <a:xfrm>
              <a:off x="7186365" y="5303103"/>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rPr>
                <a:t>4</a:t>
              </a:r>
              <a:endParaRPr kumimoji="0" lang="zh-CN" altLang="en-US" sz="48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endParaRPr>
            </a:p>
          </p:txBody>
        </p:sp>
      </p:grpSp>
      <p:sp>
        <p:nvSpPr>
          <p:cNvPr id="15" name="PA-文本框 21"/>
          <p:cNvSpPr txBox="1"/>
          <p:nvPr>
            <p:custDataLst>
              <p:tags r:id="rId14"/>
            </p:custDataLst>
          </p:nvPr>
        </p:nvSpPr>
        <p:spPr>
          <a:xfrm>
            <a:off x="7169314" y="1213162"/>
            <a:ext cx="3611122" cy="460375"/>
          </a:xfrm>
          <a:prstGeom prst="rect">
            <a:avLst/>
          </a:prstGeom>
          <a:noFill/>
        </p:spPr>
        <p:txBody>
          <a:bodyPr wrap="square" rtlCol="0">
            <a:spAutoFit/>
          </a:bodyPr>
          <a:lstStyle/>
          <a:p>
            <a:r>
              <a:rPr lang="zh-CN" altLang="en-US" sz="2400" dirty="0">
                <a:solidFill>
                  <a:srgbClr val="768394">
                    <a:lumMod val="75000"/>
                  </a:srgbClr>
                </a:solidFill>
                <a:latin typeface="Arial" panose="020B0604020202020204"/>
                <a:ea typeface="微软雅黑" panose="020B0503020204020204" charset="-122"/>
                <a:cs typeface="+mn-ea"/>
                <a:sym typeface="+mn-lt"/>
              </a:rPr>
              <a:t>总览</a:t>
            </a:r>
            <a:endParaRPr lang="zh-CN" altLang="en-US" sz="2400" dirty="0">
              <a:solidFill>
                <a:srgbClr val="768394">
                  <a:lumMod val="75000"/>
                </a:srgbClr>
              </a:solidFill>
              <a:latin typeface="Arial" panose="020B0604020202020204"/>
              <a:ea typeface="微软雅黑" panose="020B0503020204020204" charset="-122"/>
              <a:cs typeface="+mn-ea"/>
              <a:sym typeface="+mn-lt"/>
            </a:endParaRPr>
          </a:p>
        </p:txBody>
      </p:sp>
      <p:sp>
        <p:nvSpPr>
          <p:cNvPr id="16" name="PA-文本框 22"/>
          <p:cNvSpPr txBox="1"/>
          <p:nvPr>
            <p:custDataLst>
              <p:tags r:id="rId15"/>
            </p:custDataLst>
          </p:nvPr>
        </p:nvSpPr>
        <p:spPr>
          <a:xfrm>
            <a:off x="7169314" y="2212563"/>
            <a:ext cx="3611122" cy="460375"/>
          </a:xfrm>
          <a:prstGeom prst="rect">
            <a:avLst/>
          </a:prstGeom>
          <a:noFill/>
        </p:spPr>
        <p:txBody>
          <a:bodyPr wrap="square" rtlCol="0">
            <a:spAutoFit/>
          </a:bodyPr>
          <a:lstStyle/>
          <a:p>
            <a:r>
              <a:rPr lang="zh-CN" altLang="en-US" sz="2400" dirty="0">
                <a:solidFill>
                  <a:srgbClr val="768394">
                    <a:lumMod val="75000"/>
                  </a:srgbClr>
                </a:solidFill>
                <a:latin typeface="Arial" panose="020B0604020202020204"/>
                <a:ea typeface="微软雅黑" panose="020B0503020204020204" charset="-122"/>
                <a:cs typeface="+mn-ea"/>
                <a:sym typeface="+mn-lt"/>
              </a:rPr>
              <a:t>问题一模型建立</a:t>
            </a:r>
            <a:r>
              <a:rPr lang="zh-CN" altLang="en-US" sz="2400" dirty="0">
                <a:solidFill>
                  <a:srgbClr val="768394">
                    <a:lumMod val="75000"/>
                  </a:srgbClr>
                </a:solidFill>
                <a:latin typeface="Arial" panose="020B0604020202020204"/>
                <a:ea typeface="微软雅黑" panose="020B0503020204020204" charset="-122"/>
                <a:cs typeface="+mn-ea"/>
                <a:sym typeface="+mn-lt"/>
              </a:rPr>
              <a:t>和求解</a:t>
            </a:r>
            <a:endParaRPr lang="zh-CN" altLang="en-US" sz="2400" dirty="0">
              <a:solidFill>
                <a:srgbClr val="768394">
                  <a:lumMod val="75000"/>
                </a:srgbClr>
              </a:solidFill>
              <a:latin typeface="Arial" panose="020B0604020202020204"/>
              <a:ea typeface="微软雅黑" panose="020B0503020204020204" charset="-122"/>
              <a:cs typeface="+mn-ea"/>
              <a:sym typeface="+mn-lt"/>
            </a:endParaRPr>
          </a:p>
        </p:txBody>
      </p:sp>
      <p:sp>
        <p:nvSpPr>
          <p:cNvPr id="17" name="PA-文本框 23"/>
          <p:cNvSpPr txBox="1"/>
          <p:nvPr>
            <p:custDataLst>
              <p:tags r:id="rId16"/>
            </p:custDataLst>
          </p:nvPr>
        </p:nvSpPr>
        <p:spPr>
          <a:xfrm>
            <a:off x="7169314" y="3232275"/>
            <a:ext cx="3611122" cy="460375"/>
          </a:xfrm>
          <a:prstGeom prst="rect">
            <a:avLst/>
          </a:prstGeom>
          <a:noFill/>
        </p:spPr>
        <p:txBody>
          <a:bodyPr wrap="square" rtlCol="0">
            <a:spAutoFit/>
          </a:bodyPr>
          <a:lstStyle/>
          <a:p>
            <a:r>
              <a:rPr lang="zh-CN" altLang="en-US" sz="2400" dirty="0">
                <a:solidFill>
                  <a:srgbClr val="768394">
                    <a:lumMod val="75000"/>
                  </a:srgbClr>
                </a:solidFill>
                <a:latin typeface="Arial" panose="020B0604020202020204"/>
                <a:ea typeface="微软雅黑" panose="020B0503020204020204" charset="-122"/>
                <a:cs typeface="+mn-ea"/>
                <a:sym typeface="+mn-lt"/>
              </a:rPr>
              <a:t>问题</a:t>
            </a:r>
            <a:r>
              <a:rPr lang="zh-CN" altLang="en-US" sz="2400" dirty="0">
                <a:solidFill>
                  <a:srgbClr val="768394">
                    <a:lumMod val="75000"/>
                  </a:srgbClr>
                </a:solidFill>
                <a:latin typeface="Arial" panose="020B0604020202020204"/>
                <a:ea typeface="微软雅黑" panose="020B0503020204020204" charset="-122"/>
                <a:cs typeface="+mn-ea"/>
                <a:sym typeface="+mn-lt"/>
              </a:rPr>
              <a:t>二模型建立和求解</a:t>
            </a:r>
            <a:endParaRPr lang="zh-CN" altLang="en-US" sz="2400" dirty="0">
              <a:solidFill>
                <a:srgbClr val="768394">
                  <a:lumMod val="75000"/>
                </a:srgbClr>
              </a:solidFill>
              <a:latin typeface="Arial" panose="020B0604020202020204"/>
              <a:ea typeface="微软雅黑" panose="020B0503020204020204" charset="-122"/>
              <a:cs typeface="+mn-ea"/>
              <a:sym typeface="+mn-lt"/>
            </a:endParaRPr>
          </a:p>
        </p:txBody>
      </p:sp>
      <p:sp>
        <p:nvSpPr>
          <p:cNvPr id="18" name="PA-文本框 24"/>
          <p:cNvSpPr txBox="1"/>
          <p:nvPr>
            <p:custDataLst>
              <p:tags r:id="rId17"/>
            </p:custDataLst>
          </p:nvPr>
        </p:nvSpPr>
        <p:spPr>
          <a:xfrm>
            <a:off x="7169313" y="4244127"/>
            <a:ext cx="3611122" cy="460375"/>
          </a:xfrm>
          <a:prstGeom prst="rect">
            <a:avLst/>
          </a:prstGeom>
          <a:noFill/>
        </p:spPr>
        <p:txBody>
          <a:bodyPr wrap="square" rtlCol="0">
            <a:spAutoFit/>
          </a:bodyPr>
          <a:lstStyle/>
          <a:p>
            <a:r>
              <a:rPr lang="zh-CN" altLang="en-US" sz="2400" dirty="0">
                <a:solidFill>
                  <a:srgbClr val="768394">
                    <a:lumMod val="75000"/>
                  </a:srgbClr>
                </a:solidFill>
                <a:latin typeface="Arial" panose="020B0604020202020204"/>
                <a:ea typeface="微软雅黑" panose="020B0503020204020204" charset="-122"/>
                <a:cs typeface="+mn-ea"/>
                <a:sym typeface="+mn-lt"/>
              </a:rPr>
              <a:t>问题</a:t>
            </a:r>
            <a:r>
              <a:rPr lang="zh-CN" altLang="en-US" sz="2400" dirty="0">
                <a:solidFill>
                  <a:srgbClr val="768394">
                    <a:lumMod val="75000"/>
                  </a:srgbClr>
                </a:solidFill>
                <a:latin typeface="Arial" panose="020B0604020202020204"/>
                <a:ea typeface="微软雅黑" panose="020B0503020204020204" charset="-122"/>
                <a:cs typeface="+mn-ea"/>
                <a:sym typeface="+mn-lt"/>
              </a:rPr>
              <a:t>三模型建立和求解</a:t>
            </a:r>
            <a:endParaRPr lang="zh-CN" altLang="en-US" sz="2400" dirty="0">
              <a:solidFill>
                <a:srgbClr val="768394">
                  <a:lumMod val="75000"/>
                </a:srgbClr>
              </a:solidFill>
              <a:latin typeface="Arial" panose="020B0604020202020204"/>
              <a:ea typeface="微软雅黑" panose="020B0503020204020204" charset="-122"/>
              <a:cs typeface="+mn-ea"/>
              <a:sym typeface="+mn-lt"/>
            </a:endParaRPr>
          </a:p>
        </p:txBody>
      </p:sp>
      <p:cxnSp>
        <p:nvCxnSpPr>
          <p:cNvPr id="19" name="PA-直接连接符 25"/>
          <p:cNvCxnSpPr/>
          <p:nvPr>
            <p:custDataLst>
              <p:tags r:id="rId18"/>
            </p:custDataLst>
          </p:nvPr>
        </p:nvCxnSpPr>
        <p:spPr>
          <a:xfrm flipV="1">
            <a:off x="5565474" y="4867219"/>
            <a:ext cx="628650" cy="358139"/>
          </a:xfrm>
          <a:prstGeom prst="line">
            <a:avLst/>
          </a:prstGeom>
          <a:noFill/>
          <a:ln w="57150" cap="rnd" cmpd="sng" algn="ctr">
            <a:gradFill>
              <a:gsLst>
                <a:gs pos="0">
                  <a:srgbClr val="FFFFFF">
                    <a:alpha val="77000"/>
                  </a:srgbClr>
                </a:gs>
                <a:gs pos="100000">
                  <a:srgbClr val="961318"/>
                </a:gs>
              </a:gsLst>
              <a:lin ang="5400000" scaled="1"/>
            </a:gradFill>
            <a:prstDash val="solid"/>
            <a:round/>
          </a:ln>
          <a:effectLst/>
        </p:spPr>
      </p:cxnSp>
      <p:cxnSp>
        <p:nvCxnSpPr>
          <p:cNvPr id="20" name="PA-直接连接符 26"/>
          <p:cNvCxnSpPr/>
          <p:nvPr>
            <p:custDataLst>
              <p:tags r:id="rId19"/>
            </p:custDataLst>
          </p:nvPr>
        </p:nvCxnSpPr>
        <p:spPr>
          <a:xfrm flipV="1">
            <a:off x="6108366" y="5945110"/>
            <a:ext cx="1149834" cy="616027"/>
          </a:xfrm>
          <a:prstGeom prst="line">
            <a:avLst/>
          </a:prstGeom>
          <a:noFill/>
          <a:ln w="63500" cap="rnd" cmpd="sng" algn="ctr">
            <a:gradFill>
              <a:gsLst>
                <a:gs pos="0">
                  <a:srgbClr val="FFFFFF">
                    <a:alpha val="0"/>
                  </a:srgbClr>
                </a:gs>
                <a:gs pos="70000">
                  <a:srgbClr val="961318"/>
                </a:gs>
              </a:gsLst>
              <a:lin ang="5400000" scaled="1"/>
            </a:gradFill>
            <a:prstDash val="solid"/>
            <a:round/>
          </a:ln>
          <a:effectLst/>
        </p:spPr>
      </p:cxnSp>
      <p:cxnSp>
        <p:nvCxnSpPr>
          <p:cNvPr id="21" name="PA-直接连接符 31"/>
          <p:cNvCxnSpPr/>
          <p:nvPr>
            <p:custDataLst>
              <p:tags r:id="rId20"/>
            </p:custDataLst>
          </p:nvPr>
        </p:nvCxnSpPr>
        <p:spPr>
          <a:xfrm flipV="1">
            <a:off x="7646099" y="4006159"/>
            <a:ext cx="315585" cy="179789"/>
          </a:xfrm>
          <a:prstGeom prst="line">
            <a:avLst/>
          </a:prstGeom>
          <a:noFill/>
          <a:ln w="69850" cap="rnd" cmpd="sng" algn="ctr">
            <a:gradFill>
              <a:gsLst>
                <a:gs pos="0">
                  <a:srgbClr val="FFFFFF">
                    <a:alpha val="77000"/>
                  </a:srgbClr>
                </a:gs>
                <a:gs pos="100000">
                  <a:srgbClr val="961318"/>
                </a:gs>
              </a:gsLst>
              <a:lin ang="5400000" scaled="1"/>
            </a:gradFill>
            <a:prstDash val="solid"/>
            <a:round/>
          </a:ln>
          <a:effectLst/>
        </p:spPr>
      </p:cxnSp>
      <p:cxnSp>
        <p:nvCxnSpPr>
          <p:cNvPr id="22" name="PA-直接连接符 33"/>
          <p:cNvCxnSpPr/>
          <p:nvPr>
            <p:custDataLst>
              <p:tags r:id="rId21"/>
            </p:custDataLst>
          </p:nvPr>
        </p:nvCxnSpPr>
        <p:spPr>
          <a:xfrm flipV="1">
            <a:off x="6970741" y="5579561"/>
            <a:ext cx="574917" cy="277128"/>
          </a:xfrm>
          <a:prstGeom prst="line">
            <a:avLst/>
          </a:prstGeom>
          <a:noFill/>
          <a:ln w="47625" cap="rnd" cmpd="sng" algn="ctr">
            <a:gradFill>
              <a:gsLst>
                <a:gs pos="0">
                  <a:srgbClr val="FFFFFF">
                    <a:alpha val="0"/>
                  </a:srgbClr>
                </a:gs>
                <a:gs pos="100000">
                  <a:srgbClr val="961318"/>
                </a:gs>
              </a:gsLst>
              <a:lin ang="5400000" scaled="1"/>
            </a:gradFill>
            <a:prstDash val="solid"/>
            <a:round/>
          </a:ln>
          <a:effectLst/>
        </p:spPr>
      </p:cxnSp>
      <p:cxnSp>
        <p:nvCxnSpPr>
          <p:cNvPr id="23" name="PA-直接连接符 36"/>
          <p:cNvCxnSpPr/>
          <p:nvPr>
            <p:custDataLst>
              <p:tags r:id="rId22"/>
            </p:custDataLst>
          </p:nvPr>
        </p:nvCxnSpPr>
        <p:spPr>
          <a:xfrm flipH="1">
            <a:off x="9035548" y="1906325"/>
            <a:ext cx="301333" cy="171668"/>
          </a:xfrm>
          <a:prstGeom prst="line">
            <a:avLst/>
          </a:prstGeom>
          <a:noFill/>
          <a:ln w="47625" cap="rnd" cmpd="sng" algn="ctr">
            <a:gradFill>
              <a:gsLst>
                <a:gs pos="0">
                  <a:srgbClr val="FFFFFF">
                    <a:alpha val="74000"/>
                  </a:srgbClr>
                </a:gs>
                <a:gs pos="100000">
                  <a:srgbClr val="961318"/>
                </a:gs>
              </a:gsLst>
              <a:lin ang="5400000" scaled="1"/>
            </a:gradFill>
            <a:prstDash val="solid"/>
            <a:round/>
          </a:ln>
          <a:effectLst/>
        </p:spPr>
      </p:cxnSp>
      <p:grpSp>
        <p:nvGrpSpPr>
          <p:cNvPr id="24" name="组合 23"/>
          <p:cNvGrpSpPr/>
          <p:nvPr/>
        </p:nvGrpSpPr>
        <p:grpSpPr>
          <a:xfrm>
            <a:off x="357611" y="1592658"/>
            <a:ext cx="4378398" cy="3207306"/>
            <a:chOff x="1043940" y="2140627"/>
            <a:chExt cx="4000500" cy="2930484"/>
          </a:xfrm>
        </p:grpSpPr>
        <p:sp>
          <p:nvSpPr>
            <p:cNvPr id="25" name="PA-右中括号 1"/>
            <p:cNvSpPr/>
            <p:nvPr>
              <p:custDataLst>
                <p:tags r:id="rId23"/>
              </p:custDataLst>
            </p:nvPr>
          </p:nvSpPr>
          <p:spPr>
            <a:xfrm rot="16200000">
              <a:off x="2712720" y="1310047"/>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dirty="0">
                <a:solidFill>
                  <a:srgbClr val="000000"/>
                </a:solidFill>
                <a:latin typeface="Arial" panose="020B0604020202020204"/>
                <a:ea typeface="微软雅黑" panose="020B0503020204020204" charset="-122"/>
                <a:cs typeface="+mn-ea"/>
                <a:sym typeface="+mn-lt"/>
              </a:endParaRPr>
            </a:p>
          </p:txBody>
        </p:sp>
        <p:sp>
          <p:nvSpPr>
            <p:cNvPr id="26" name="PA-右中括号 3"/>
            <p:cNvSpPr/>
            <p:nvPr>
              <p:custDataLst>
                <p:tags r:id="rId24"/>
              </p:custDataLst>
            </p:nvPr>
          </p:nvSpPr>
          <p:spPr>
            <a:xfrm rot="5400000" flipV="1">
              <a:off x="2712720" y="3577591"/>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a:solidFill>
                  <a:srgbClr val="000000"/>
                </a:solidFill>
                <a:latin typeface="Arial" panose="020B0604020202020204"/>
                <a:ea typeface="微软雅黑" panose="020B0503020204020204" charset="-122"/>
                <a:cs typeface="+mn-ea"/>
                <a:sym typeface="+mn-lt"/>
              </a:endParaRPr>
            </a:p>
          </p:txBody>
        </p:sp>
        <p:sp>
          <p:nvSpPr>
            <p:cNvPr id="27" name="PA-矩形 4"/>
            <p:cNvSpPr/>
            <p:nvPr>
              <p:custDataLst>
                <p:tags r:id="rId25"/>
              </p:custDataLst>
            </p:nvPr>
          </p:nvSpPr>
          <p:spPr>
            <a:xfrm>
              <a:off x="1043940" y="2951479"/>
              <a:ext cx="4000500" cy="1087120"/>
            </a:xfrm>
            <a:prstGeom prst="rect">
              <a:avLst/>
            </a:prstGeom>
            <a:solidFill>
              <a:srgbClr val="FFFFFF">
                <a:alpha val="55000"/>
              </a:srgbClr>
            </a:solidFill>
            <a:ln w="12700" cap="flat" cmpd="sng" algn="ctr">
              <a:gradFill>
                <a:gsLst>
                  <a:gs pos="0">
                    <a:srgbClr val="00723E">
                      <a:lumMod val="5000"/>
                      <a:lumOff val="95000"/>
                    </a:srgbClr>
                  </a:gs>
                  <a:gs pos="69400">
                    <a:srgbClr val="FAFFFD">
                      <a:alpha val="33000"/>
                    </a:srgbClr>
                  </a:gs>
                  <a:gs pos="32000">
                    <a:srgbClr val="F3FFFA">
                      <a:alpha val="0"/>
                    </a:srgbClr>
                  </a:gs>
                  <a:gs pos="100000">
                    <a:srgbClr val="FFFFFF">
                      <a:alpha val="94000"/>
                    </a:srgbClr>
                  </a:gs>
                </a:gsLst>
                <a:lin ang="5400000" scaled="1"/>
              </a:gra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28" name="PA-文本框 5"/>
            <p:cNvSpPr txBox="1"/>
            <p:nvPr>
              <p:custDataLst>
                <p:tags r:id="rId26"/>
              </p:custDataLst>
            </p:nvPr>
          </p:nvSpPr>
          <p:spPr>
            <a:xfrm>
              <a:off x="1993900" y="2986360"/>
              <a:ext cx="2100580" cy="1168466"/>
            </a:xfrm>
            <a:prstGeom prst="rect">
              <a:avLst/>
            </a:prstGeom>
            <a:noFill/>
          </p:spPr>
          <p:txBody>
            <a:bodyPr wrap="square" rtlCol="0">
              <a:spAutoFit/>
            </a:bodyPr>
            <a:lstStyle/>
            <a:p>
              <a:pPr algn="dist">
                <a:defRPr/>
              </a:pPr>
              <a:r>
                <a:rPr lang="zh-CN" altLang="en-US" sz="6600" b="1" kern="0" dirty="0">
                  <a:solidFill>
                    <a:srgbClr val="FFFFFF"/>
                  </a:solidFill>
                  <a:latin typeface="Arial" panose="020B0604020202020204"/>
                  <a:ea typeface="微软雅黑" panose="020B0503020204020204" charset="-122"/>
                  <a:cs typeface="+mn-ea"/>
                  <a:sym typeface="+mn-lt"/>
                </a:rPr>
                <a:t>目录</a:t>
              </a:r>
              <a:endParaRPr lang="zh-CN" altLang="en-US" sz="6600" b="1" kern="0" dirty="0">
                <a:solidFill>
                  <a:srgbClr val="FFFFFF"/>
                </a:solidFill>
                <a:latin typeface="Arial" panose="020B0604020202020204"/>
                <a:ea typeface="微软雅黑" panose="020B0503020204020204" charset="-122"/>
                <a:cs typeface="+mn-ea"/>
                <a:sym typeface="+mn-lt"/>
              </a:endParaRPr>
            </a:p>
          </p:txBody>
        </p:sp>
        <p:sp>
          <p:nvSpPr>
            <p:cNvPr id="29" name="PA-文本框 6"/>
            <p:cNvSpPr txBox="1"/>
            <p:nvPr>
              <p:custDataLst>
                <p:tags r:id="rId27"/>
              </p:custDataLst>
            </p:nvPr>
          </p:nvSpPr>
          <p:spPr>
            <a:xfrm>
              <a:off x="2094230" y="4223504"/>
              <a:ext cx="1899920" cy="369332"/>
            </a:xfrm>
            <a:prstGeom prst="rect">
              <a:avLst/>
            </a:prstGeom>
            <a:noFill/>
          </p:spPr>
          <p:txBody>
            <a:bodyPr wrap="square" rtlCol="0">
              <a:spAutoFit/>
            </a:bodyPr>
            <a:lstStyle/>
            <a:p>
              <a:pPr algn="dist">
                <a:defRPr/>
              </a:pPr>
              <a:r>
                <a:rPr lang="en-US" altLang="zh-CN" kern="0" dirty="0">
                  <a:solidFill>
                    <a:srgbClr val="FFFFFF"/>
                  </a:solidFill>
                  <a:latin typeface="Arial" panose="020B0604020202020204"/>
                  <a:ea typeface="微软雅黑" panose="020B0503020204020204" charset="-122"/>
                  <a:cs typeface="+mn-ea"/>
                  <a:sym typeface="+mn-lt"/>
                </a:rPr>
                <a:t>CONTEXT</a:t>
              </a:r>
              <a:endParaRPr lang="zh-CN" altLang="en-US" kern="0" dirty="0">
                <a:solidFill>
                  <a:srgbClr val="FFFFFF"/>
                </a:solidFill>
                <a:latin typeface="Arial" panose="020B0604020202020204"/>
                <a:ea typeface="微软雅黑" panose="020B0503020204020204" charset="-122"/>
                <a:cs typeface="+mn-ea"/>
                <a:sym typeface="+mn-lt"/>
              </a:endParaRPr>
            </a:p>
          </p:txBody>
        </p:sp>
        <p:cxnSp>
          <p:nvCxnSpPr>
            <p:cNvPr id="30" name="PA-直接连接符 42"/>
            <p:cNvCxnSpPr/>
            <p:nvPr>
              <p:custDataLst>
                <p:tags r:id="rId28"/>
              </p:custDataLst>
            </p:nvPr>
          </p:nvCxnSpPr>
          <p:spPr>
            <a:xfrm>
              <a:off x="2170176" y="4174352"/>
              <a:ext cx="1737360" cy="0"/>
            </a:xfrm>
            <a:prstGeom prst="line">
              <a:avLst/>
            </a:prstGeom>
            <a:noFill/>
            <a:ln w="9525" cap="flat" cmpd="sng" algn="ctr">
              <a:solidFill>
                <a:srgbClr val="FFFFFF"/>
              </a:solidFill>
              <a:prstDash val="solid"/>
              <a:miter lim="800000"/>
            </a:ln>
            <a:effectLst/>
          </p:spPr>
        </p:cxnSp>
        <p:grpSp>
          <p:nvGrpSpPr>
            <p:cNvPr id="31" name="PA-组合 54"/>
            <p:cNvGrpSpPr/>
            <p:nvPr>
              <p:custDataLst>
                <p:tags r:id="rId29"/>
              </p:custDataLst>
            </p:nvPr>
          </p:nvGrpSpPr>
          <p:grpSpPr>
            <a:xfrm>
              <a:off x="4200650" y="3381742"/>
              <a:ext cx="221996" cy="292636"/>
              <a:chOff x="4206240" y="3385284"/>
              <a:chExt cx="221996" cy="292636"/>
            </a:xfrm>
          </p:grpSpPr>
          <p:cxnSp>
            <p:nvCxnSpPr>
              <p:cNvPr id="36" name="PA-直接连接符 47"/>
              <p:cNvCxnSpPr/>
              <p:nvPr>
                <p:custDataLst>
                  <p:tags r:id="rId30"/>
                </p:custDataLst>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37" name="PA-直接连接符 48"/>
              <p:cNvCxnSpPr/>
              <p:nvPr>
                <p:custDataLst>
                  <p:tags r:id="rId31"/>
                </p:custDataLst>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38" name="PA-直接连接符 49"/>
              <p:cNvCxnSpPr/>
              <p:nvPr>
                <p:custDataLst>
                  <p:tags r:id="rId32"/>
                </p:custDataLst>
              </p:nvPr>
            </p:nvCxnSpPr>
            <p:spPr>
              <a:xfrm>
                <a:off x="4428236" y="3459480"/>
                <a:ext cx="0" cy="144561"/>
              </a:xfrm>
              <a:prstGeom prst="line">
                <a:avLst/>
              </a:prstGeom>
              <a:noFill/>
              <a:ln w="22225" cap="rnd" cmpd="sng" algn="ctr">
                <a:solidFill>
                  <a:srgbClr val="FFFFFF"/>
                </a:solidFill>
                <a:prstDash val="solid"/>
                <a:miter lim="800000"/>
              </a:ln>
              <a:effectLst/>
            </p:spPr>
          </p:cxnSp>
        </p:grpSp>
        <p:grpSp>
          <p:nvGrpSpPr>
            <p:cNvPr id="32" name="PA-组合 55"/>
            <p:cNvGrpSpPr/>
            <p:nvPr>
              <p:custDataLst>
                <p:tags r:id="rId33"/>
              </p:custDataLst>
            </p:nvPr>
          </p:nvGrpSpPr>
          <p:grpSpPr>
            <a:xfrm flipH="1">
              <a:off x="1665733" y="3381742"/>
              <a:ext cx="221996" cy="292636"/>
              <a:chOff x="4206240" y="3385284"/>
              <a:chExt cx="221996" cy="292636"/>
            </a:xfrm>
          </p:grpSpPr>
          <p:cxnSp>
            <p:nvCxnSpPr>
              <p:cNvPr id="33" name="PA-直接连接符 56"/>
              <p:cNvCxnSpPr/>
              <p:nvPr>
                <p:custDataLst>
                  <p:tags r:id="rId34"/>
                </p:custDataLst>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34" name="PA-直接连接符 57"/>
              <p:cNvCxnSpPr/>
              <p:nvPr>
                <p:custDataLst>
                  <p:tags r:id="rId35"/>
                </p:custDataLst>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35" name="PA-直接连接符 58"/>
              <p:cNvCxnSpPr/>
              <p:nvPr>
                <p:custDataLst>
                  <p:tags r:id="rId36"/>
                </p:custDataLst>
              </p:nvPr>
            </p:nvCxnSpPr>
            <p:spPr>
              <a:xfrm>
                <a:off x="4428236" y="3459480"/>
                <a:ext cx="0" cy="144561"/>
              </a:xfrm>
              <a:prstGeom prst="line">
                <a:avLst/>
              </a:prstGeom>
              <a:noFill/>
              <a:ln w="22225" cap="rnd" cmpd="sng" algn="ctr">
                <a:solidFill>
                  <a:srgbClr val="FFFFFF"/>
                </a:solidFill>
                <a:prstDash val="solid"/>
                <a:miter lim="800000"/>
              </a:ln>
              <a:effectLst/>
            </p:spPr>
          </p:cxnSp>
        </p:grpSp>
      </p:grpSp>
      <p:sp>
        <p:nvSpPr>
          <p:cNvPr id="40" name="文本框 8"/>
          <p:cNvSpPr txBox="1"/>
          <p:nvPr/>
        </p:nvSpPr>
        <p:spPr>
          <a:xfrm>
            <a:off x="9116069" y="5945110"/>
            <a:ext cx="3075931" cy="707886"/>
          </a:xfrm>
          <a:prstGeom prst="rect">
            <a:avLst/>
          </a:prstGeom>
          <a:noFill/>
        </p:spPr>
        <p:txBody>
          <a:bodyPr wrap="square" rtlCol="0">
            <a:spAutoFit/>
          </a:bodyPr>
          <a:lstStyle/>
          <a:p>
            <a:pPr algn="ctr">
              <a:buClrTx/>
              <a:buSzTx/>
              <a:buFontTx/>
            </a:pPr>
            <a:r>
              <a:rPr lang="zh-CN" altLang="en-US" sz="2000" dirty="0">
                <a:solidFill>
                  <a:srgbClr val="8C1515"/>
                </a:solidFill>
                <a:latin typeface="华文行楷" panose="02010800040101010101" pitchFamily="2" charset="-122"/>
                <a:ea typeface="华文行楷" panose="02010800040101010101" pitchFamily="2" charset="-122"/>
                <a:sym typeface="+mn-ea"/>
              </a:rPr>
              <a:t>精勤求学 敦笃励志 </a:t>
            </a:r>
            <a:endParaRPr lang="zh-CN" altLang="en-US" sz="2000" dirty="0">
              <a:solidFill>
                <a:srgbClr val="8C1515"/>
              </a:solidFill>
              <a:latin typeface="华文行楷" panose="02010800040101010101" pitchFamily="2" charset="-122"/>
              <a:ea typeface="华文行楷" panose="02010800040101010101" pitchFamily="2" charset="-122"/>
              <a:sym typeface="+mn-ea"/>
            </a:endParaRPr>
          </a:p>
          <a:p>
            <a:pPr algn="ctr">
              <a:buClrTx/>
              <a:buSzTx/>
              <a:buFontTx/>
            </a:pPr>
            <a:r>
              <a:rPr lang="zh-CN" altLang="en-US" sz="2000" dirty="0">
                <a:solidFill>
                  <a:srgbClr val="8C1515"/>
                </a:solidFill>
                <a:latin typeface="华文行楷" panose="02010800040101010101" pitchFamily="2" charset="-122"/>
                <a:ea typeface="华文行楷" panose="02010800040101010101" pitchFamily="2" charset="-122"/>
                <a:sym typeface="+mn-ea"/>
              </a:rPr>
              <a:t>果毅力行 忠恕任事</a:t>
            </a:r>
            <a:endParaRPr lang="zh-CN" altLang="en-US" sz="2000" dirty="0">
              <a:solidFill>
                <a:srgbClr val="8C1515"/>
              </a:solidFill>
              <a:latin typeface="华文行楷" panose="02010800040101010101" pitchFamily="2" charset="-122"/>
              <a:ea typeface="华文行楷" panose="02010800040101010101" pitchFamily="2" charset="-122"/>
              <a:sym typeface="+mn-ea"/>
            </a:endParaRPr>
          </a:p>
        </p:txBody>
      </p:sp>
      <p:grpSp>
        <p:nvGrpSpPr>
          <p:cNvPr id="39" name="PA-组合 20"/>
          <p:cNvGrpSpPr/>
          <p:nvPr>
            <p:custDataLst>
              <p:tags r:id="rId37"/>
            </p:custDataLst>
          </p:nvPr>
        </p:nvGrpSpPr>
        <p:grpSpPr>
          <a:xfrm>
            <a:off x="6509608" y="4959335"/>
            <a:ext cx="672405" cy="922020"/>
            <a:chOff x="7138670" y="1012807"/>
            <a:chExt cx="672405" cy="922020"/>
          </a:xfrm>
        </p:grpSpPr>
        <p:sp>
          <p:nvSpPr>
            <p:cNvPr id="41" name="PA-任意多边形 9"/>
            <p:cNvSpPr/>
            <p:nvPr>
              <p:custDataLst>
                <p:tags r:id="rId38"/>
              </p:custDataLst>
            </p:nvPr>
          </p:nvSpPr>
          <p:spPr>
            <a:xfrm>
              <a:off x="7138670" y="1555752"/>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961318"/>
                </a:gs>
                <a:gs pos="72000">
                  <a:srgbClr val="961318">
                    <a:alpha val="40000"/>
                  </a:srgbClr>
                </a:gs>
                <a:gs pos="100000">
                  <a:srgbClr val="961318">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ea"/>
                <a:sym typeface="+mn-lt"/>
              </a:endParaRPr>
            </a:p>
          </p:txBody>
        </p:sp>
        <p:sp>
          <p:nvSpPr>
            <p:cNvPr id="42" name="PA-文本框 13"/>
            <p:cNvSpPr txBox="1"/>
            <p:nvPr>
              <p:custDataLst>
                <p:tags r:id="rId39"/>
              </p:custDataLst>
            </p:nvPr>
          </p:nvSpPr>
          <p:spPr>
            <a:xfrm>
              <a:off x="7186365" y="1012807"/>
              <a:ext cx="624710" cy="922020"/>
            </a:xfrm>
            <a:prstGeom prst="rect">
              <a:avLst/>
            </a:prstGeom>
            <a:noFill/>
          </p:spPr>
          <p:txBody>
            <a:bodyPr wrap="square" rtlCol="0">
              <a:spAutoFit/>
            </a:bodyPr>
            <a:p>
              <a:pPr marL="0" marR="0" lvl="0" indent="0" defTabSz="914400" eaLnBrk="1" fontAlgn="auto" latinLnBrk="0" hangingPunct="1">
                <a:lnSpc>
                  <a:spcPct val="100000"/>
                </a:lnSpc>
                <a:spcBef>
                  <a:spcPts val="0"/>
                </a:spcBef>
                <a:spcAft>
                  <a:spcPts val="0"/>
                </a:spcAft>
                <a:buClrTx/>
                <a:buSzTx/>
                <a:buFontTx/>
                <a:buNone/>
                <a:defRPr/>
              </a:pPr>
              <a:r>
                <a:rPr kumimoji="0" lang="en-US" altLang="zh-CN" sz="54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rPr>
                <a:t>5</a:t>
              </a:r>
              <a:endParaRPr kumimoji="0" lang="zh-CN" altLang="en-US" sz="5400" b="1" i="1" u="none" strike="noStrike" kern="0" cap="none" spc="0" normalizeH="0" baseline="0" noProof="0" dirty="0">
                <a:ln>
                  <a:noFill/>
                </a:ln>
                <a:solidFill>
                  <a:srgbClr val="961318"/>
                </a:solidFill>
                <a:effectLst/>
                <a:uLnTx/>
                <a:uFillTx/>
                <a:latin typeface="Arial" panose="020B0604020202020204"/>
                <a:ea typeface="微软雅黑" panose="020B0503020204020204" charset="-122"/>
                <a:cs typeface="+mn-ea"/>
                <a:sym typeface="+mn-lt"/>
              </a:endParaRPr>
            </a:p>
          </p:txBody>
        </p:sp>
      </p:grpSp>
      <p:sp>
        <p:nvSpPr>
          <p:cNvPr id="43" name="PA-文本框 21"/>
          <p:cNvSpPr txBox="1"/>
          <p:nvPr>
            <p:custDataLst>
              <p:tags r:id="rId40"/>
            </p:custDataLst>
          </p:nvPr>
        </p:nvSpPr>
        <p:spPr>
          <a:xfrm>
            <a:off x="7169314" y="5256842"/>
            <a:ext cx="3611122" cy="460375"/>
          </a:xfrm>
          <a:prstGeom prst="rect">
            <a:avLst/>
          </a:prstGeom>
          <a:noFill/>
        </p:spPr>
        <p:txBody>
          <a:bodyPr wrap="square" rtlCol="0">
            <a:spAutoFit/>
          </a:bodyPr>
          <a:p>
            <a:r>
              <a:rPr lang="zh-CN" altLang="en-US" sz="2400" dirty="0">
                <a:solidFill>
                  <a:srgbClr val="768394">
                    <a:lumMod val="75000"/>
                  </a:srgbClr>
                </a:solidFill>
                <a:latin typeface="Arial" panose="020B0604020202020204"/>
                <a:ea typeface="微软雅黑" panose="020B0503020204020204" charset="-122"/>
                <a:cs typeface="+mn-ea"/>
                <a:sym typeface="+mn-lt"/>
              </a:rPr>
              <a:t>问题</a:t>
            </a:r>
            <a:r>
              <a:rPr lang="zh-CN" altLang="en-US" sz="2400" dirty="0">
                <a:solidFill>
                  <a:srgbClr val="768394">
                    <a:lumMod val="75000"/>
                  </a:srgbClr>
                </a:solidFill>
                <a:latin typeface="Arial" panose="020B0604020202020204"/>
                <a:ea typeface="微软雅黑" panose="020B0503020204020204" charset="-122"/>
                <a:cs typeface="+mn-ea"/>
                <a:sym typeface="+mn-lt"/>
              </a:rPr>
              <a:t>四模型建立和求解</a:t>
            </a:r>
            <a:endParaRPr lang="zh-CN" altLang="en-US" sz="2400" dirty="0">
              <a:solidFill>
                <a:srgbClr val="768394">
                  <a:lumMod val="75000"/>
                </a:srgbClr>
              </a:solidFill>
              <a:latin typeface="Arial" panose="020B0604020202020204"/>
              <a:ea typeface="微软雅黑" panose="020B0503020204020204" charset="-122"/>
              <a:cs typeface="+mn-ea"/>
              <a:sym typeface="+mn-lt"/>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b="13696"/>
          <a:stretch>
            <a:fillRect/>
          </a:stretch>
        </p:blipFill>
        <p:spPr>
          <a:xfrm>
            <a:off x="0" y="1"/>
            <a:ext cx="12204296" cy="3083074"/>
          </a:xfrm>
          <a:prstGeom prst="rect">
            <a:avLst/>
          </a:prstGeom>
        </p:spPr>
      </p:pic>
      <p:sp>
        <p:nvSpPr>
          <p:cNvPr id="5" name="矩形 4"/>
          <p:cNvSpPr/>
          <p:nvPr/>
        </p:nvSpPr>
        <p:spPr>
          <a:xfrm>
            <a:off x="0" y="0"/>
            <a:ext cx="12216765" cy="3083074"/>
          </a:xfrm>
          <a:prstGeom prst="rect">
            <a:avLst/>
          </a:prstGeom>
          <a:solidFill>
            <a:srgbClr val="961318">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charset="-122"/>
              <a:cs typeface="+mn-ea"/>
              <a:sym typeface="+mn-lt"/>
            </a:endParaRPr>
          </a:p>
        </p:txBody>
      </p:sp>
      <p:sp>
        <p:nvSpPr>
          <p:cNvPr id="6" name="文本占位符 8"/>
          <p:cNvSpPr txBox="1"/>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961318"/>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B0604020202020204"/>
              <a:ea typeface="微软雅黑" panose="020B0503020204020204" charset="-122"/>
              <a:cs typeface="+mn-ea"/>
              <a:sym typeface="+mn-lt"/>
            </a:endParaRPr>
          </a:p>
        </p:txBody>
      </p:sp>
      <p:sp>
        <p:nvSpPr>
          <p:cNvPr id="8" name="标题 4"/>
          <p:cNvSpPr txBox="1"/>
          <p:nvPr/>
        </p:nvSpPr>
        <p:spPr>
          <a:xfrm>
            <a:off x="2411730" y="4385310"/>
            <a:ext cx="7393940" cy="7467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r>
              <a:rPr lang="zh-CN" altLang="en-US" sz="5400" b="1" dirty="0">
                <a:solidFill>
                  <a:srgbClr val="961318"/>
                </a:solidFill>
                <a:latin typeface="微软雅黑" panose="020B0503020204020204" charset="-122"/>
                <a:ea typeface="微软雅黑" panose="020B0503020204020204" charset="-122"/>
              </a:rPr>
              <a:t>总览</a:t>
            </a:r>
            <a:endParaRPr lang="zh-CN" altLang="en-US" sz="5400" b="1" dirty="0">
              <a:solidFill>
                <a:srgbClr val="961318"/>
              </a:solidFill>
              <a:latin typeface="微软雅黑" panose="020B0503020204020204" charset="-122"/>
              <a:ea typeface="微软雅黑" panose="020B0503020204020204" charset="-122"/>
            </a:endParaRPr>
          </a:p>
        </p:txBody>
      </p:sp>
      <p:cxnSp>
        <p:nvCxnSpPr>
          <p:cNvPr id="9" name="直接连接符 8"/>
          <p:cNvCxnSpPr/>
          <p:nvPr/>
        </p:nvCxnSpPr>
        <p:spPr>
          <a:xfrm>
            <a:off x="3575720" y="5244190"/>
            <a:ext cx="4752528" cy="0"/>
          </a:xfrm>
          <a:prstGeom prst="line">
            <a:avLst/>
          </a:prstGeom>
          <a:noFill/>
          <a:ln w="28575" cap="flat" cmpd="sng" algn="ctr">
            <a:solidFill>
              <a:srgbClr val="961318"/>
            </a:solidFill>
            <a:prstDash val="solid"/>
            <a:headEnd type="oval" w="med" len="med"/>
            <a:tailEnd type="oval" w="med" len="med"/>
          </a:ln>
          <a:effectLst/>
        </p:spPr>
      </p:cxnSp>
      <p:sp>
        <p:nvSpPr>
          <p:cNvPr id="10" name="标题 4"/>
          <p:cNvSpPr txBox="1"/>
          <p:nvPr/>
        </p:nvSpPr>
        <p:spPr>
          <a:xfrm>
            <a:off x="2207565" y="5264024"/>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lnSpc>
                <a:spcPct val="125000"/>
              </a:lnSpc>
            </a:pPr>
            <a:endParaRPr lang="zh-CN" altLang="en-US" sz="2000" dirty="0">
              <a:solidFill>
                <a:srgbClr val="961318"/>
              </a:solidFill>
              <a:latin typeface="微软雅黑" panose="020B0503020204020204" charset="-122"/>
              <a:ea typeface="微软雅黑" panose="020B0503020204020204" charset="-122"/>
            </a:endParaRPr>
          </a:p>
        </p:txBody>
      </p:sp>
      <p:sp>
        <p:nvSpPr>
          <p:cNvPr id="11" name="文本框 10"/>
          <p:cNvSpPr txBox="1"/>
          <p:nvPr/>
        </p:nvSpPr>
        <p:spPr>
          <a:xfrm>
            <a:off x="10704512" y="6406826"/>
            <a:ext cx="1050925" cy="368300"/>
          </a:xfrm>
          <a:prstGeom prst="rect">
            <a:avLst/>
          </a:prstGeom>
          <a:noFill/>
        </p:spPr>
        <p:txBody>
          <a:bodyPr wrap="none" rtlCol="0">
            <a:spAutoFit/>
          </a:bodyPr>
          <a:lstStyle/>
          <a:p>
            <a:pPr>
              <a:defRPr/>
            </a:pPr>
            <a:r>
              <a:rPr lang="en-US" altLang="zh-CN" b="1" dirty="0">
                <a:solidFill>
                  <a:srgbClr val="961318">
                    <a:alpha val="70000"/>
                  </a:srgbClr>
                </a:solidFill>
                <a:latin typeface="Calibri" panose="020F0502020204030204"/>
                <a:ea typeface="宋体" panose="02010600030101010101" pitchFamily="2" charset="-122"/>
              </a:rPr>
              <a:t>April 10</a:t>
            </a:r>
            <a:r>
              <a:rPr lang="en-US" altLang="zh-CN" b="1" baseline="30000" dirty="0">
                <a:solidFill>
                  <a:srgbClr val="961318">
                    <a:alpha val="70000"/>
                  </a:srgbClr>
                </a:solidFill>
                <a:latin typeface="Calibri" panose="020F0502020204030204"/>
                <a:ea typeface="宋体" panose="02010600030101010101" pitchFamily="2" charset="-122"/>
              </a:rPr>
              <a:t>th</a:t>
            </a:r>
            <a:endParaRPr lang="zh-CN" altLang="en-US" b="1" baseline="30000" dirty="0">
              <a:solidFill>
                <a:srgbClr val="961318">
                  <a:alpha val="70000"/>
                </a:srgbClr>
              </a:solidFill>
              <a:latin typeface="Calibri" panose="020F0502020204030204"/>
              <a:ea typeface="宋体" panose="02010600030101010101" pitchFamily="2" charset="-122"/>
            </a:endParaRPr>
          </a:p>
        </p:txBody>
      </p:sp>
      <p:sp>
        <p:nvSpPr>
          <p:cNvPr id="12" name="文本框 11"/>
          <p:cNvSpPr txBox="1"/>
          <p:nvPr/>
        </p:nvSpPr>
        <p:spPr>
          <a:xfrm>
            <a:off x="5250253" y="2386575"/>
            <a:ext cx="1675130" cy="144526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01</a:t>
            </a:r>
            <a:endParaRPr lang="zh-CN" altLang="en-US" sz="8800" b="1" dirty="0">
              <a:solidFill>
                <a:prstClr val="white"/>
              </a:solidFill>
              <a:latin typeface="Arial Black" panose="020B0A04020102020204" pitchFamily="34" charset="0"/>
              <a:ea typeface="宋体" panose="02010600030101010101" pitchFamily="2" charset="-122"/>
            </a:endParaRPr>
          </a:p>
        </p:txBody>
      </p:sp>
    </p:spTree>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680342"/>
            <a:chOff x="335361" y="116633"/>
            <a:chExt cx="11521279" cy="668034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小组</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分工</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rPr>
                <a:t>April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endParaRPr>
            </a:p>
          </p:txBody>
        </p:sp>
      </p:grpSp>
      <p:sp>
        <p:nvSpPr>
          <p:cNvPr id="36" name="圆角矩形 6"/>
          <p:cNvSpPr/>
          <p:nvPr/>
        </p:nvSpPr>
        <p:spPr>
          <a:xfrm>
            <a:off x="413878" y="1019284"/>
            <a:ext cx="3177540" cy="490220"/>
          </a:xfrm>
          <a:prstGeom prst="roundRect">
            <a:avLst>
              <a:gd name="adj" fmla="val 37046"/>
            </a:avLst>
          </a:prstGeom>
          <a:gradFill>
            <a:gsLst>
              <a:gs pos="53000">
                <a:srgbClr val="961318"/>
              </a:gs>
              <a:gs pos="95000">
                <a:srgbClr val="961318">
                  <a:alpha val="0"/>
                </a:srgbClr>
              </a:gs>
              <a:gs pos="0">
                <a:srgbClr val="961318"/>
              </a:gs>
            </a:gsLst>
            <a:lin ang="20700000" scaled="0"/>
          </a:gradFill>
          <a:ln w="12700" cap="flat" cmpd="sng" algn="ctr">
            <a:noFill/>
            <a:prstDash val="solid"/>
            <a:miter lim="800000"/>
          </a:ln>
          <a:effectLst/>
        </p:spPr>
        <p:txBody>
          <a:bodyPr rtlCol="0" anchor="ctr"/>
          <a:lstStyle/>
          <a:p>
            <a:pPr algn="ctr">
              <a:defRPr/>
            </a:pPr>
            <a:endParaRPr lang="zh-CN" altLang="en-US" kern="0">
              <a:solidFill>
                <a:prstClr val="white"/>
              </a:solidFill>
              <a:latin typeface="微软雅黑" panose="020B0503020204020204" charset="-122"/>
              <a:ea typeface="微软雅黑" panose="020B0503020204020204" charset="-122"/>
            </a:endParaRPr>
          </a:p>
        </p:txBody>
      </p:sp>
      <p:grpSp>
        <p:nvGrpSpPr>
          <p:cNvPr id="2" name="ï$ľîḑè"/>
          <p:cNvGrpSpPr/>
          <p:nvPr/>
        </p:nvGrpSpPr>
        <p:grpSpPr>
          <a:xfrm>
            <a:off x="508022" y="2345055"/>
            <a:ext cx="11018214" cy="3275965"/>
            <a:chOff x="1356784" y="1917130"/>
            <a:chExt cx="9279166" cy="3161994"/>
          </a:xfrm>
        </p:grpSpPr>
        <p:grpSp>
          <p:nvGrpSpPr>
            <p:cNvPr id="3" name="isḻíḍé"/>
            <p:cNvGrpSpPr/>
            <p:nvPr/>
          </p:nvGrpSpPr>
          <p:grpSpPr>
            <a:xfrm>
              <a:off x="1356784" y="1917130"/>
              <a:ext cx="2853730" cy="3161994"/>
              <a:chOff x="1356784" y="1917130"/>
              <a:chExt cx="2853730" cy="3161994"/>
            </a:xfrm>
          </p:grpSpPr>
          <p:sp>
            <p:nvSpPr>
              <p:cNvPr id="38" name="işlïḋê"/>
              <p:cNvSpPr/>
              <p:nvPr/>
            </p:nvSpPr>
            <p:spPr>
              <a:xfrm>
                <a:off x="1356784" y="1917130"/>
                <a:ext cx="2853695" cy="3161994"/>
              </a:xfrm>
              <a:prstGeom prst="snip1Rect">
                <a:avLst>
                  <a:gd name="adj" fmla="val 40731"/>
                </a:avLst>
              </a:prstGeom>
              <a:solidFill>
                <a:sysClr val="window" lastClr="FFFFFF"/>
              </a:solidFill>
              <a:ln w="3175" cap="flat" cmpd="sng" algn="ctr">
                <a:solidFill>
                  <a:srgbClr val="961318"/>
                </a:solidFill>
                <a:prstDash val="solid"/>
                <a:miter lim="800000"/>
              </a:ln>
              <a:effectLst/>
            </p:spPr>
            <p:txBody>
              <a:bodyPr anchor="ctr"/>
              <a:p>
                <a:pPr algn="ctr">
                  <a:defRPr/>
                </a:pPr>
                <a:endParaRPr kern="0" dirty="0">
                  <a:solidFill>
                    <a:prstClr val="white"/>
                  </a:solidFill>
                  <a:latin typeface="Arial" panose="020B0604020202020204"/>
                  <a:ea typeface="微软雅黑 Light" panose="020B0502040204020203" pitchFamily="34" charset="-122"/>
                </a:endParaRPr>
              </a:p>
            </p:txBody>
          </p:sp>
          <p:sp>
            <p:nvSpPr>
              <p:cNvPr id="39" name="ïşḻîḓe"/>
              <p:cNvSpPr/>
              <p:nvPr/>
            </p:nvSpPr>
            <p:spPr>
              <a:xfrm>
                <a:off x="1356785" y="4955943"/>
                <a:ext cx="2853695" cy="123181"/>
              </a:xfrm>
              <a:prstGeom prst="rect">
                <a:avLst/>
              </a:prstGeom>
              <a:solidFill>
                <a:srgbClr val="961318"/>
              </a:solidFill>
              <a:ln w="3175">
                <a:noFill/>
                <a:prstDash val="solid"/>
                <a:round/>
              </a:ln>
              <a:effectLst/>
            </p:spPr>
            <p:txBody>
              <a:bodyPr anchor="ctr"/>
              <a:p>
                <a:pPr algn="ctr">
                  <a:defRPr/>
                </a:pPr>
                <a:endParaRPr kern="0" dirty="0">
                  <a:solidFill>
                    <a:prstClr val="black"/>
                  </a:solidFill>
                  <a:latin typeface="Arial" panose="020B0604020202020204"/>
                  <a:ea typeface="微软雅黑 Light" panose="020B0502040204020203" pitchFamily="34" charset="-122"/>
                </a:endParaRPr>
              </a:p>
            </p:txBody>
          </p:sp>
          <p:sp>
            <p:nvSpPr>
              <p:cNvPr id="40" name="íş1ïḋê"/>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961318"/>
              </a:solidFill>
              <a:ln w="3175">
                <a:noFill/>
                <a:prstDash val="solid"/>
                <a:round/>
              </a:ln>
              <a:effectLst/>
            </p:spPr>
            <p:txBody>
              <a:bodyPr vert="horz" wrap="square" lIns="121920" tIns="60960" rIns="121920" bIns="60960" anchor="t" anchorCtr="0" compatLnSpc="1">
                <a:normAutofit/>
              </a:bodyPr>
              <a:p>
                <a:pPr algn="r">
                  <a:defRPr/>
                </a:pPr>
                <a:r>
                  <a:rPr lang="en-US" altLang="ko-KR" sz="3200" b="1" kern="0" dirty="0">
                    <a:solidFill>
                      <a:prstClr val="white"/>
                    </a:solidFill>
                    <a:latin typeface="Arial" panose="020B0604020202020204"/>
                    <a:ea typeface="微软雅黑 Light" panose="020B0502040204020203" pitchFamily="34" charset="-122"/>
                  </a:rPr>
                  <a:t>1</a:t>
                </a:r>
                <a:endParaRPr lang="en-US" altLang="ko-KR" sz="3200" b="1" kern="0" dirty="0">
                  <a:solidFill>
                    <a:prstClr val="white"/>
                  </a:solidFill>
                  <a:latin typeface="Arial" panose="020B0604020202020204"/>
                  <a:ea typeface="微软雅黑 Light" panose="020B0502040204020203" pitchFamily="34" charset="-122"/>
                </a:endParaRPr>
              </a:p>
            </p:txBody>
          </p:sp>
          <p:sp>
            <p:nvSpPr>
              <p:cNvPr id="41" name="îṡḷíďê"/>
              <p:cNvSpPr txBox="1"/>
              <p:nvPr/>
            </p:nvSpPr>
            <p:spPr>
              <a:xfrm>
                <a:off x="1357283" y="1930354"/>
                <a:ext cx="1588717" cy="588331"/>
              </a:xfrm>
              <a:prstGeom prst="rect">
                <a:avLst/>
              </a:prstGeom>
              <a:noFill/>
            </p:spPr>
            <p:txBody>
              <a:bodyPr wrap="none" lIns="90000" tIns="46800" rIns="90000" bIns="46800" rtlCol="0" anchor="ctr" anchorCtr="0">
                <a:normAutofit/>
              </a:bodyPr>
              <a:p>
                <a:pPr>
                  <a:defRPr/>
                </a:pPr>
                <a:r>
                  <a:rPr lang="zh-CN" altLang="en-US" b="1" kern="0" dirty="0">
                    <a:solidFill>
                      <a:prstClr val="black"/>
                    </a:solidFill>
                    <a:latin typeface="微软雅黑" panose="020B0503020204020204" charset="-122"/>
                    <a:ea typeface="微软雅黑" panose="020B0503020204020204" charset="-122"/>
                  </a:rPr>
                  <a:t>顾雨阳</a:t>
                </a:r>
                <a:endParaRPr lang="zh-CN" altLang="en-US" b="1" kern="0" dirty="0">
                  <a:solidFill>
                    <a:prstClr val="black"/>
                  </a:solidFill>
                  <a:latin typeface="微软雅黑" panose="020B0503020204020204" charset="-122"/>
                  <a:ea typeface="微软雅黑" panose="020B0503020204020204" charset="-122"/>
                </a:endParaRPr>
              </a:p>
            </p:txBody>
          </p:sp>
          <p:sp>
            <p:nvSpPr>
              <p:cNvPr id="42" name="iślíde"/>
              <p:cNvSpPr txBox="1"/>
              <p:nvPr/>
            </p:nvSpPr>
            <p:spPr>
              <a:xfrm>
                <a:off x="1357282" y="2518686"/>
                <a:ext cx="2853197" cy="640314"/>
              </a:xfrm>
              <a:prstGeom prst="rect">
                <a:avLst/>
              </a:prstGeom>
              <a:noFill/>
            </p:spPr>
            <p:txBody>
              <a:bodyPr wrap="square" lIns="90000" tIns="46800" rIns="90000" bIns="46800" rtlCol="0"/>
              <a:p>
                <a:pPr marL="171450" indent="-171450">
                  <a:lnSpc>
                    <a:spcPct val="150000"/>
                  </a:lnSpc>
                  <a:buFont typeface="Arial" panose="020B0604020202020204" pitchFamily="34" charset="0"/>
                  <a:buChar char="•"/>
                  <a:tabLst>
                    <a:tab pos="227965" algn="l"/>
                  </a:tabLst>
                  <a:defRPr/>
                </a:pPr>
                <a:r>
                  <a:rPr lang="zh-CN" altLang="en-US" sz="1400" kern="0" dirty="0">
                    <a:solidFill>
                      <a:prstClr val="black"/>
                    </a:solidFill>
                    <a:latin typeface="Arial" panose="020B0604020202020204"/>
                    <a:ea typeface="微软雅黑 Light" panose="020B0502040204020203" pitchFamily="34" charset="-122"/>
                  </a:rPr>
                  <a:t>问题</a:t>
                </a:r>
                <a:r>
                  <a:rPr lang="en-US" altLang="zh-CN" sz="1400" kern="0" dirty="0">
                    <a:solidFill>
                      <a:prstClr val="black"/>
                    </a:solidFill>
                    <a:latin typeface="Arial" panose="020B0604020202020204"/>
                    <a:ea typeface="微软雅黑 Light" panose="020B0502040204020203" pitchFamily="34" charset="-122"/>
                  </a:rPr>
                  <a:t>2</a:t>
                </a:r>
                <a:endParaRPr lang="en-US" altLang="zh-CN" sz="1400" kern="0" dirty="0">
                  <a:solidFill>
                    <a:prstClr val="black"/>
                  </a:solidFill>
                  <a:latin typeface="Arial" panose="020B0604020202020204"/>
                  <a:ea typeface="微软雅黑 Light" panose="020B0502040204020203" pitchFamily="34" charset="-122"/>
                </a:endParaRPr>
              </a:p>
              <a:p>
                <a:pPr marL="171450" indent="-171450">
                  <a:lnSpc>
                    <a:spcPct val="150000"/>
                  </a:lnSpc>
                  <a:buFont typeface="Arial" panose="020B0604020202020204" pitchFamily="34" charset="0"/>
                  <a:buChar char="•"/>
                  <a:tabLst>
                    <a:tab pos="227965" algn="l"/>
                  </a:tabLst>
                  <a:defRPr/>
                </a:pPr>
                <a:r>
                  <a:rPr lang="zh-CN" altLang="en-US" sz="1400" kern="0" dirty="0">
                    <a:solidFill>
                      <a:prstClr val="black"/>
                    </a:solidFill>
                    <a:latin typeface="Arial" panose="020B0604020202020204"/>
                    <a:ea typeface="微软雅黑 Light" panose="020B0502040204020203" pitchFamily="34" charset="-122"/>
                  </a:rPr>
                  <a:t>以及问题</a:t>
                </a:r>
                <a:r>
                  <a:rPr lang="en-US" altLang="zh-CN" sz="1400" kern="0" dirty="0">
                    <a:solidFill>
                      <a:prstClr val="black"/>
                    </a:solidFill>
                    <a:latin typeface="Arial" panose="020B0604020202020204"/>
                    <a:ea typeface="微软雅黑 Light" panose="020B0502040204020203" pitchFamily="34" charset="-122"/>
                  </a:rPr>
                  <a:t>4</a:t>
                </a:r>
                <a:r>
                  <a:rPr lang="zh-CN" altLang="en-US" sz="1400" kern="0" dirty="0">
                    <a:solidFill>
                      <a:prstClr val="black"/>
                    </a:solidFill>
                    <a:latin typeface="Arial" panose="020B0604020202020204"/>
                    <a:ea typeface="微软雅黑 Light" panose="020B0502040204020203" pitchFamily="34" charset="-122"/>
                  </a:rPr>
                  <a:t>中重新完成问题</a:t>
                </a:r>
                <a:r>
                  <a:rPr lang="en-US" altLang="zh-CN" sz="1400" kern="0" dirty="0">
                    <a:solidFill>
                      <a:prstClr val="black"/>
                    </a:solidFill>
                    <a:latin typeface="Arial" panose="020B0604020202020204"/>
                    <a:ea typeface="微软雅黑 Light" panose="020B0502040204020203" pitchFamily="34" charset="-122"/>
                  </a:rPr>
                  <a:t>2</a:t>
                </a:r>
                <a:r>
                  <a:rPr lang="zh-CN" altLang="en-US" sz="1400" kern="0" dirty="0">
                    <a:solidFill>
                      <a:prstClr val="black"/>
                    </a:solidFill>
                    <a:latin typeface="Arial" panose="020B0604020202020204"/>
                    <a:ea typeface="微软雅黑 Light" panose="020B0502040204020203" pitchFamily="34" charset="-122"/>
                  </a:rPr>
                  <a:t>部分的</a:t>
                </a:r>
                <a:endParaRPr lang="zh-CN" altLang="en-US" sz="1400" kern="0" dirty="0">
                  <a:solidFill>
                    <a:prstClr val="black"/>
                  </a:solidFill>
                  <a:latin typeface="Arial" panose="020B0604020202020204"/>
                  <a:ea typeface="微软雅黑 Light" panose="020B0502040204020203" pitchFamily="34" charset="-122"/>
                </a:endParaRPr>
              </a:p>
              <a:p>
                <a:pPr indent="0">
                  <a:lnSpc>
                    <a:spcPct val="150000"/>
                  </a:lnSpc>
                  <a:buFont typeface="Arial" panose="020B0604020202020204" pitchFamily="34" charset="0"/>
                  <a:buNone/>
                  <a:tabLst>
                    <a:tab pos="227965" algn="l"/>
                  </a:tabLst>
                  <a:defRPr/>
                </a:pPr>
                <a:r>
                  <a:rPr lang="en-US" altLang="zh-CN" sz="1400" kern="0" dirty="0">
                    <a:solidFill>
                      <a:prstClr val="black"/>
                    </a:solidFill>
                    <a:latin typeface="Arial" panose="020B0604020202020204"/>
                    <a:ea typeface="微软雅黑 Light" panose="020B0502040204020203" pitchFamily="34" charset="-122"/>
                  </a:rPr>
                  <a:t>   </a:t>
                </a:r>
                <a:r>
                  <a:rPr lang="zh-CN" altLang="en-US" sz="1400" kern="0" dirty="0">
                    <a:solidFill>
                      <a:prstClr val="black"/>
                    </a:solidFill>
                    <a:latin typeface="Arial" panose="020B0604020202020204"/>
                    <a:ea typeface="微软雅黑 Light" panose="020B0502040204020203" pitchFamily="34" charset="-122"/>
                  </a:rPr>
                  <a:t>建模与实现</a:t>
                </a:r>
                <a:endParaRPr lang="zh-CN" altLang="en-US" sz="1400" kern="0" dirty="0">
                  <a:solidFill>
                    <a:prstClr val="black"/>
                  </a:solidFill>
                  <a:latin typeface="Arial" panose="020B0604020202020204"/>
                  <a:ea typeface="微软雅黑 Light" panose="020B0502040204020203" pitchFamily="34" charset="-122"/>
                </a:endParaRPr>
              </a:p>
            </p:txBody>
          </p:sp>
          <p:cxnSp>
            <p:nvCxnSpPr>
              <p:cNvPr id="48" name="直接连接符 47"/>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49" name="直接连接符 48"/>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50" name="iślíde"/>
              <p:cNvSpPr txBox="1"/>
              <p:nvPr/>
            </p:nvSpPr>
            <p:spPr>
              <a:xfrm>
                <a:off x="1357317" y="3522395"/>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400" kern="0" dirty="0">
                    <a:solidFill>
                      <a:prstClr val="black"/>
                    </a:solidFill>
                    <a:latin typeface="Arial" panose="020B0604020202020204"/>
                    <a:ea typeface="微软雅黑 Light" panose="020B0502040204020203" pitchFamily="34" charset="-122"/>
                  </a:rPr>
                  <a:t>论文和</a:t>
                </a:r>
                <a:r>
                  <a:rPr lang="en-US" altLang="zh-CN" sz="1400" kern="0" dirty="0">
                    <a:solidFill>
                      <a:prstClr val="black"/>
                    </a:solidFill>
                    <a:latin typeface="Arial" panose="020B0604020202020204"/>
                    <a:ea typeface="微软雅黑 Light" panose="020B0502040204020203" pitchFamily="34" charset="-122"/>
                  </a:rPr>
                  <a:t>ppt</a:t>
                </a:r>
                <a:r>
                  <a:rPr lang="zh-CN" altLang="en-US" sz="1400" kern="0" dirty="0">
                    <a:solidFill>
                      <a:prstClr val="black"/>
                    </a:solidFill>
                    <a:latin typeface="Arial" panose="020B0604020202020204"/>
                    <a:ea typeface="微软雅黑 Light" panose="020B0502040204020203" pitchFamily="34" charset="-122"/>
                  </a:rPr>
                  <a:t>的汇总与</a:t>
                </a:r>
                <a:r>
                  <a:rPr lang="zh-CN" altLang="en-US" sz="1400" kern="0" dirty="0">
                    <a:solidFill>
                      <a:prstClr val="black"/>
                    </a:solidFill>
                    <a:latin typeface="Arial" panose="020B0604020202020204"/>
                    <a:ea typeface="微软雅黑 Light" panose="020B0502040204020203" pitchFamily="34" charset="-122"/>
                  </a:rPr>
                  <a:t>排版</a:t>
                </a:r>
                <a:endParaRPr lang="zh-CN" altLang="en-US" sz="1400" kern="0" dirty="0">
                  <a:solidFill>
                    <a:prstClr val="black"/>
                  </a:solidFill>
                  <a:latin typeface="Arial" panose="020B0604020202020204"/>
                  <a:ea typeface="微软雅黑 Light" panose="020B0502040204020203" pitchFamily="34" charset="-122"/>
                </a:endParaRPr>
              </a:p>
            </p:txBody>
          </p:sp>
        </p:grpSp>
        <p:grpSp>
          <p:nvGrpSpPr>
            <p:cNvPr id="4" name="íṣļîďê"/>
            <p:cNvGrpSpPr/>
            <p:nvPr/>
          </p:nvGrpSpPr>
          <p:grpSpPr>
            <a:xfrm>
              <a:off x="4475963" y="1917130"/>
              <a:ext cx="2853734" cy="3161994"/>
              <a:chOff x="1356747" y="1917130"/>
              <a:chExt cx="2853734" cy="3161994"/>
            </a:xfrm>
          </p:grpSpPr>
          <p:sp>
            <p:nvSpPr>
              <p:cNvPr id="5" name="íšlïdê"/>
              <p:cNvSpPr/>
              <p:nvPr/>
            </p:nvSpPr>
            <p:spPr>
              <a:xfrm>
                <a:off x="1356784" y="1917130"/>
                <a:ext cx="2853695" cy="3161994"/>
              </a:xfrm>
              <a:prstGeom prst="snip1Rect">
                <a:avLst>
                  <a:gd name="adj" fmla="val 40731"/>
                </a:avLst>
              </a:prstGeom>
              <a:solidFill>
                <a:sysClr val="window" lastClr="FFFFFF"/>
              </a:solidFill>
              <a:ln w="3175" cap="flat" cmpd="sng" algn="ctr">
                <a:solidFill>
                  <a:srgbClr val="961318"/>
                </a:solidFill>
                <a:prstDash val="solid"/>
                <a:miter lim="800000"/>
              </a:ln>
              <a:effectLst/>
            </p:spPr>
            <p:txBody>
              <a:bodyPr anchor="ctr"/>
              <a:p>
                <a:pPr algn="ctr">
                  <a:defRPr/>
                </a:pPr>
                <a:endParaRPr kern="0" dirty="0">
                  <a:solidFill>
                    <a:prstClr val="white"/>
                  </a:solidFill>
                  <a:latin typeface="Arial" panose="020B0604020202020204"/>
                  <a:ea typeface="微软雅黑 Light" panose="020B0502040204020203" pitchFamily="34" charset="-122"/>
                </a:endParaRPr>
              </a:p>
            </p:txBody>
          </p:sp>
          <p:sp>
            <p:nvSpPr>
              <p:cNvPr id="6" name="îṡľide"/>
              <p:cNvSpPr/>
              <p:nvPr/>
            </p:nvSpPr>
            <p:spPr>
              <a:xfrm>
                <a:off x="1356785" y="4955943"/>
                <a:ext cx="2853695" cy="123181"/>
              </a:xfrm>
              <a:prstGeom prst="rect">
                <a:avLst/>
              </a:prstGeom>
              <a:solidFill>
                <a:srgbClr val="961318"/>
              </a:solidFill>
              <a:ln w="3175">
                <a:noFill/>
                <a:prstDash val="solid"/>
                <a:round/>
              </a:ln>
              <a:effectLst/>
            </p:spPr>
            <p:txBody>
              <a:bodyPr anchor="ctr"/>
              <a:p>
                <a:pPr algn="ctr">
                  <a:defRPr/>
                </a:pPr>
                <a:endParaRPr kern="0" dirty="0">
                  <a:solidFill>
                    <a:prstClr val="black"/>
                  </a:solidFill>
                  <a:latin typeface="Arial" panose="020B0604020202020204"/>
                  <a:ea typeface="微软雅黑 Light" panose="020B0502040204020203" pitchFamily="34" charset="-122"/>
                </a:endParaRPr>
              </a:p>
            </p:txBody>
          </p:sp>
          <p:sp>
            <p:nvSpPr>
              <p:cNvPr id="12" name="iś1íde"/>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961318"/>
              </a:solidFill>
              <a:ln w="3175">
                <a:noFill/>
                <a:prstDash val="solid"/>
                <a:round/>
              </a:ln>
              <a:effectLst/>
            </p:spPr>
            <p:txBody>
              <a:bodyPr vert="horz" wrap="square" lIns="121920" tIns="60960" rIns="121920" bIns="60960" anchor="t" anchorCtr="0" compatLnSpc="1">
                <a:normAutofit/>
              </a:bodyPr>
              <a:p>
                <a:pPr algn="r">
                  <a:defRPr/>
                </a:pPr>
                <a:r>
                  <a:rPr lang="en-US" altLang="zh-CN" sz="3200" b="1" kern="0" dirty="0">
                    <a:solidFill>
                      <a:prstClr val="white"/>
                    </a:solidFill>
                    <a:latin typeface="Arial" panose="020B0604020202020204"/>
                    <a:ea typeface="微软雅黑 Light" panose="020B0502040204020203" pitchFamily="34" charset="-122"/>
                  </a:rPr>
                  <a:t>2</a:t>
                </a:r>
                <a:endParaRPr lang="en-US" altLang="zh-CN" sz="3200" b="1" kern="0" dirty="0">
                  <a:solidFill>
                    <a:prstClr val="white"/>
                  </a:solidFill>
                  <a:latin typeface="Arial" panose="020B0604020202020204"/>
                  <a:ea typeface="微软雅黑 Light" panose="020B0502040204020203" pitchFamily="34" charset="-122"/>
                </a:endParaRPr>
              </a:p>
            </p:txBody>
          </p:sp>
          <p:sp>
            <p:nvSpPr>
              <p:cNvPr id="43" name="ïṧľîḑê"/>
              <p:cNvSpPr txBox="1"/>
              <p:nvPr/>
            </p:nvSpPr>
            <p:spPr>
              <a:xfrm>
                <a:off x="1357283" y="1930354"/>
                <a:ext cx="1588717" cy="588331"/>
              </a:xfrm>
              <a:prstGeom prst="rect">
                <a:avLst/>
              </a:prstGeom>
              <a:noFill/>
            </p:spPr>
            <p:txBody>
              <a:bodyPr wrap="none" lIns="90000" tIns="46800" rIns="90000" bIns="46800" rtlCol="0" anchor="ctr" anchorCtr="0">
                <a:normAutofit/>
              </a:bodyPr>
              <a:p>
                <a:pPr>
                  <a:defRPr/>
                </a:pPr>
                <a:r>
                  <a:rPr lang="zh-CN" altLang="en-US" b="1" kern="0" dirty="0">
                    <a:solidFill>
                      <a:prstClr val="black"/>
                    </a:solidFill>
                    <a:latin typeface="微软雅黑" panose="020B0503020204020204" charset="-122"/>
                    <a:ea typeface="微软雅黑" panose="020B0503020204020204" charset="-122"/>
                  </a:rPr>
                  <a:t>伍俊宇</a:t>
                </a:r>
                <a:endParaRPr lang="zh-CN" altLang="en-US" b="1" kern="0" dirty="0">
                  <a:solidFill>
                    <a:prstClr val="black"/>
                  </a:solidFill>
                  <a:latin typeface="微软雅黑" panose="020B0503020204020204" charset="-122"/>
                  <a:ea typeface="微软雅黑" panose="020B0503020204020204" charset="-122"/>
                </a:endParaRPr>
              </a:p>
            </p:txBody>
          </p:sp>
          <p:sp>
            <p:nvSpPr>
              <p:cNvPr id="44" name="iṣ1íďê"/>
              <p:cNvSpPr txBox="1"/>
              <p:nvPr/>
            </p:nvSpPr>
            <p:spPr>
              <a:xfrm>
                <a:off x="1356747" y="2564041"/>
                <a:ext cx="2853197" cy="640314"/>
              </a:xfrm>
              <a:prstGeom prst="rect">
                <a:avLst/>
              </a:prstGeom>
              <a:noFill/>
            </p:spPr>
            <p:txBody>
              <a:bodyPr wrap="square" lIns="90000" tIns="46800" rIns="90000" bIns="46800" rtlCol="0"/>
              <a:p>
                <a:pPr marL="171450" indent="-171450">
                  <a:lnSpc>
                    <a:spcPct val="150000"/>
                  </a:lnSpc>
                  <a:buFont typeface="Arial" panose="020B0604020202020204" pitchFamily="34" charset="0"/>
                  <a:buChar char="•"/>
                  <a:tabLst>
                    <a:tab pos="227965" algn="l"/>
                  </a:tabLst>
                  <a:defRPr/>
                </a:pPr>
                <a:r>
                  <a:rPr lang="zh-CN" altLang="en-US" sz="1400" kern="0" dirty="0">
                    <a:solidFill>
                      <a:prstClr val="black"/>
                    </a:solidFill>
                    <a:latin typeface="Arial" panose="020B0604020202020204"/>
                    <a:ea typeface="微软雅黑 Light" panose="020B0502040204020203" pitchFamily="34" charset="-122"/>
                    <a:sym typeface="+mn-ea"/>
                  </a:rPr>
                  <a:t>问题</a:t>
                </a:r>
                <a:r>
                  <a:rPr lang="en-US" altLang="zh-CN" sz="1400" kern="0" dirty="0">
                    <a:solidFill>
                      <a:prstClr val="black"/>
                    </a:solidFill>
                    <a:latin typeface="Arial" panose="020B0604020202020204"/>
                    <a:ea typeface="微软雅黑 Light" panose="020B0502040204020203" pitchFamily="34" charset="-122"/>
                    <a:sym typeface="+mn-ea"/>
                  </a:rPr>
                  <a:t>1</a:t>
                </a:r>
                <a:r>
                  <a:rPr lang="zh-CN" altLang="en-US" sz="1400" kern="0" dirty="0">
                    <a:solidFill>
                      <a:prstClr val="black"/>
                    </a:solidFill>
                    <a:latin typeface="Arial" panose="020B0604020202020204"/>
                    <a:ea typeface="微软雅黑 Light" panose="020B0502040204020203" pitchFamily="34" charset="-122"/>
                    <a:sym typeface="+mn-ea"/>
                  </a:rPr>
                  <a:t>的建模与实现</a:t>
                </a:r>
                <a:endParaRPr lang="zh-CN" altLang="en-US" sz="1400" kern="0" dirty="0">
                  <a:solidFill>
                    <a:prstClr val="black"/>
                  </a:solidFill>
                  <a:latin typeface="Arial" panose="020B0604020202020204"/>
                  <a:ea typeface="微软雅黑 Light" panose="020B0502040204020203" pitchFamily="34" charset="-122"/>
                  <a:sym typeface="+mn-ea"/>
                </a:endParaRPr>
              </a:p>
              <a:p>
                <a:pPr marL="171450" indent="-171450">
                  <a:lnSpc>
                    <a:spcPct val="150000"/>
                  </a:lnSpc>
                  <a:buFont typeface="Arial" panose="020B0604020202020204" pitchFamily="34" charset="0"/>
                  <a:buChar char="•"/>
                  <a:tabLst>
                    <a:tab pos="227965" algn="l"/>
                  </a:tabLst>
                  <a:defRPr/>
                </a:pPr>
                <a:endParaRPr lang="zh-CN" altLang="en-US" sz="1400" kern="0" dirty="0">
                  <a:solidFill>
                    <a:prstClr val="black"/>
                  </a:solidFill>
                  <a:latin typeface="Arial" panose="020B0604020202020204"/>
                  <a:ea typeface="微软雅黑 Light" panose="020B0502040204020203" pitchFamily="34" charset="-122"/>
                  <a:sym typeface="+mn-ea"/>
                </a:endParaRPr>
              </a:p>
              <a:p>
                <a:pPr marL="171450" indent="-171450">
                  <a:lnSpc>
                    <a:spcPct val="150000"/>
                  </a:lnSpc>
                  <a:buFont typeface="Arial" panose="020B0604020202020204" pitchFamily="34" charset="0"/>
                  <a:buChar char="•"/>
                  <a:tabLst>
                    <a:tab pos="227965" algn="l"/>
                  </a:tabLst>
                  <a:defRPr/>
                </a:pPr>
                <a:endParaRPr lang="en-US" altLang="zh-CN" sz="1400" kern="0" dirty="0">
                  <a:solidFill>
                    <a:prstClr val="black"/>
                  </a:solidFill>
                  <a:latin typeface="Arial" panose="020B0604020202020204"/>
                  <a:ea typeface="微软雅黑 Light" panose="020B0502040204020203" pitchFamily="34" charset="-122"/>
                </a:endParaRPr>
              </a:p>
              <a:p>
                <a:pPr marL="171450" indent="-171450">
                  <a:lnSpc>
                    <a:spcPct val="150000"/>
                  </a:lnSpc>
                  <a:buFont typeface="Arial" panose="020B0604020202020204" pitchFamily="34" charset="0"/>
                  <a:buChar char="•"/>
                  <a:tabLst>
                    <a:tab pos="227965" algn="l"/>
                  </a:tabLst>
                  <a:defRPr/>
                </a:pPr>
                <a:r>
                  <a:rPr lang="zh-CN" altLang="en-US" sz="1400" kern="0" dirty="0">
                    <a:solidFill>
                      <a:prstClr val="black"/>
                    </a:solidFill>
                    <a:latin typeface="Arial" panose="020B0604020202020204"/>
                    <a:ea typeface="微软雅黑 Light" panose="020B0502040204020203" pitchFamily="34" charset="-122"/>
                    <a:sym typeface="+mn-ea"/>
                  </a:rPr>
                  <a:t>以及对问题</a:t>
                </a:r>
                <a:r>
                  <a:rPr lang="en-US" altLang="zh-CN" sz="1400" kern="0" dirty="0">
                    <a:solidFill>
                      <a:prstClr val="black"/>
                    </a:solidFill>
                    <a:latin typeface="Arial" panose="020B0604020202020204"/>
                    <a:ea typeface="微软雅黑 Light" panose="020B0502040204020203" pitchFamily="34" charset="-122"/>
                    <a:sym typeface="+mn-ea"/>
                  </a:rPr>
                  <a:t>4</a:t>
                </a:r>
                <a:r>
                  <a:rPr lang="zh-CN" altLang="en-US" sz="1400" kern="0" dirty="0">
                    <a:solidFill>
                      <a:prstClr val="black"/>
                    </a:solidFill>
                    <a:latin typeface="Arial" panose="020B0604020202020204"/>
                    <a:ea typeface="微软雅黑 Light" panose="020B0502040204020203" pitchFamily="34" charset="-122"/>
                    <a:sym typeface="+mn-ea"/>
                  </a:rPr>
                  <a:t>的</a:t>
                </a:r>
                <a:r>
                  <a:rPr lang="zh-CN" altLang="en-US" sz="1400" kern="0" dirty="0">
                    <a:solidFill>
                      <a:prstClr val="black"/>
                    </a:solidFill>
                    <a:latin typeface="Arial" panose="020B0604020202020204"/>
                    <a:ea typeface="微软雅黑 Light" panose="020B0502040204020203" pitchFamily="34" charset="-122"/>
                    <a:sym typeface="+mn-ea"/>
                  </a:rPr>
                  <a:t>构思</a:t>
                </a:r>
                <a:endParaRPr lang="zh-CN" altLang="en-US" sz="1400" kern="0" dirty="0">
                  <a:solidFill>
                    <a:prstClr val="black"/>
                  </a:solidFill>
                  <a:latin typeface="Arial" panose="020B0604020202020204"/>
                  <a:ea typeface="微软雅黑 Light" panose="020B0502040204020203" pitchFamily="34" charset="-122"/>
                  <a:sym typeface="+mn-ea"/>
                </a:endParaRPr>
              </a:p>
            </p:txBody>
          </p:sp>
          <p:cxnSp>
            <p:nvCxnSpPr>
              <p:cNvPr id="45" name="直接连接符 44"/>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46" name="直接连接符 45"/>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grpSp>
        <p:grpSp>
          <p:nvGrpSpPr>
            <p:cNvPr id="53" name="îśľîḑe"/>
            <p:cNvGrpSpPr/>
            <p:nvPr/>
          </p:nvGrpSpPr>
          <p:grpSpPr>
            <a:xfrm>
              <a:off x="7595216" y="1917130"/>
              <a:ext cx="3040734" cy="3161994"/>
              <a:chOff x="1356784" y="1917130"/>
              <a:chExt cx="3040734" cy="3161994"/>
            </a:xfrm>
          </p:grpSpPr>
          <p:sp>
            <p:nvSpPr>
              <p:cNvPr id="54" name="îṥḻïḍê"/>
              <p:cNvSpPr/>
              <p:nvPr/>
            </p:nvSpPr>
            <p:spPr>
              <a:xfrm>
                <a:off x="1356784" y="1917130"/>
                <a:ext cx="2853695" cy="3161994"/>
              </a:xfrm>
              <a:prstGeom prst="snip1Rect">
                <a:avLst>
                  <a:gd name="adj" fmla="val 40731"/>
                </a:avLst>
              </a:prstGeom>
              <a:solidFill>
                <a:sysClr val="window" lastClr="FFFFFF"/>
              </a:solidFill>
              <a:ln w="3175" cap="flat" cmpd="sng" algn="ctr">
                <a:solidFill>
                  <a:srgbClr val="961318"/>
                </a:solidFill>
                <a:prstDash val="solid"/>
                <a:miter lim="800000"/>
              </a:ln>
              <a:effectLst/>
            </p:spPr>
            <p:txBody>
              <a:bodyPr anchor="ctr"/>
              <a:p>
                <a:pPr algn="ctr">
                  <a:defRPr/>
                </a:pPr>
                <a:endParaRPr kern="0" dirty="0">
                  <a:solidFill>
                    <a:prstClr val="white"/>
                  </a:solidFill>
                  <a:latin typeface="Arial" panose="020B0604020202020204"/>
                  <a:ea typeface="微软雅黑 Light" panose="020B0502040204020203" pitchFamily="34" charset="-122"/>
                </a:endParaRPr>
              </a:p>
            </p:txBody>
          </p:sp>
          <p:sp>
            <p:nvSpPr>
              <p:cNvPr id="55" name="ïṥḻiḋê"/>
              <p:cNvSpPr/>
              <p:nvPr/>
            </p:nvSpPr>
            <p:spPr>
              <a:xfrm>
                <a:off x="1356785" y="4955943"/>
                <a:ext cx="2853695" cy="123181"/>
              </a:xfrm>
              <a:prstGeom prst="rect">
                <a:avLst/>
              </a:prstGeom>
              <a:solidFill>
                <a:srgbClr val="961318"/>
              </a:solidFill>
              <a:ln w="3175">
                <a:noFill/>
                <a:prstDash val="solid"/>
                <a:round/>
              </a:ln>
              <a:effectLst/>
            </p:spPr>
            <p:txBody>
              <a:bodyPr anchor="ctr"/>
              <a:p>
                <a:pPr algn="ctr">
                  <a:defRPr/>
                </a:pPr>
                <a:endParaRPr kern="0" dirty="0">
                  <a:solidFill>
                    <a:prstClr val="black"/>
                  </a:solidFill>
                  <a:latin typeface="Arial" panose="020B0604020202020204"/>
                  <a:ea typeface="微软雅黑 Light" panose="020B0502040204020203" pitchFamily="34" charset="-122"/>
                </a:endParaRPr>
              </a:p>
            </p:txBody>
          </p:sp>
          <p:sp>
            <p:nvSpPr>
              <p:cNvPr id="56" name="îṣľîḋé"/>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961318"/>
              </a:solidFill>
              <a:ln w="3175">
                <a:noFill/>
                <a:prstDash val="solid"/>
                <a:round/>
              </a:ln>
              <a:effectLst/>
            </p:spPr>
            <p:txBody>
              <a:bodyPr vert="horz" wrap="square" lIns="121920" tIns="60960" rIns="121920" bIns="60960" anchor="t" anchorCtr="0" compatLnSpc="1">
                <a:normAutofit/>
              </a:bodyPr>
              <a:p>
                <a:pPr algn="r">
                  <a:defRPr/>
                </a:pPr>
                <a:r>
                  <a:rPr lang="en-US" altLang="zh-CN" sz="3200" b="1" kern="0" dirty="0">
                    <a:solidFill>
                      <a:prstClr val="white"/>
                    </a:solidFill>
                    <a:latin typeface="Arial" panose="020B0604020202020204"/>
                    <a:ea typeface="微软雅黑 Light" panose="020B0502040204020203" pitchFamily="34" charset="-122"/>
                  </a:rPr>
                  <a:t>3</a:t>
                </a:r>
                <a:endParaRPr lang="en-US" altLang="zh-CN" sz="3200" b="1" kern="0" dirty="0">
                  <a:solidFill>
                    <a:prstClr val="white"/>
                  </a:solidFill>
                  <a:latin typeface="Arial" panose="020B0604020202020204"/>
                  <a:ea typeface="微软雅黑 Light" panose="020B0502040204020203" pitchFamily="34" charset="-122"/>
                </a:endParaRPr>
              </a:p>
            </p:txBody>
          </p:sp>
          <p:sp>
            <p:nvSpPr>
              <p:cNvPr id="57" name="ïṧliḑè"/>
              <p:cNvSpPr txBox="1"/>
              <p:nvPr/>
            </p:nvSpPr>
            <p:spPr>
              <a:xfrm>
                <a:off x="1357283" y="1930354"/>
                <a:ext cx="1588717" cy="588331"/>
              </a:xfrm>
              <a:prstGeom prst="rect">
                <a:avLst/>
              </a:prstGeom>
              <a:noFill/>
            </p:spPr>
            <p:txBody>
              <a:bodyPr wrap="none" lIns="90000" tIns="46800" rIns="90000" bIns="46800" rtlCol="0" anchor="ctr" anchorCtr="0">
                <a:normAutofit/>
              </a:bodyPr>
              <a:p>
                <a:pPr>
                  <a:defRPr/>
                </a:pPr>
                <a:r>
                  <a:rPr lang="zh-CN" altLang="en-US" b="1" kern="0" dirty="0">
                    <a:solidFill>
                      <a:prstClr val="black"/>
                    </a:solidFill>
                    <a:latin typeface="微软雅黑" panose="020B0503020204020204" charset="-122"/>
                    <a:ea typeface="微软雅黑" panose="020B0503020204020204" charset="-122"/>
                  </a:rPr>
                  <a:t>李佳融</a:t>
                </a:r>
                <a:endParaRPr lang="zh-CN" altLang="en-US" b="1" kern="0" dirty="0">
                  <a:solidFill>
                    <a:prstClr val="black"/>
                  </a:solidFill>
                  <a:latin typeface="微软雅黑" panose="020B0503020204020204" charset="-122"/>
                  <a:ea typeface="微软雅黑" panose="020B0503020204020204" charset="-122"/>
                </a:endParaRPr>
              </a:p>
            </p:txBody>
          </p:sp>
          <p:sp>
            <p:nvSpPr>
              <p:cNvPr id="58" name="îŝliďè"/>
              <p:cNvSpPr txBox="1"/>
              <p:nvPr/>
            </p:nvSpPr>
            <p:spPr>
              <a:xfrm>
                <a:off x="1357319" y="2518393"/>
                <a:ext cx="3040199" cy="2042211"/>
              </a:xfrm>
              <a:prstGeom prst="rect">
                <a:avLst/>
              </a:prstGeom>
              <a:noFill/>
            </p:spPr>
            <p:txBody>
              <a:bodyPr wrap="square" lIns="90000" tIns="46800" rIns="90000" bIns="46800" rtlCol="0"/>
              <a:p>
                <a:pPr marL="171450" indent="-171450">
                  <a:lnSpc>
                    <a:spcPct val="150000"/>
                  </a:lnSpc>
                  <a:buFont typeface="Arial" panose="020B0604020202020204" pitchFamily="34" charset="0"/>
                  <a:buChar char="•"/>
                  <a:tabLst>
                    <a:tab pos="227965" algn="l"/>
                  </a:tabLst>
                  <a:defRPr/>
                </a:pPr>
                <a:r>
                  <a:rPr lang="zh-CN" altLang="en-US" sz="1400" kern="0" dirty="0">
                    <a:solidFill>
                      <a:prstClr val="black"/>
                    </a:solidFill>
                    <a:latin typeface="Arial" panose="020B0604020202020204"/>
                    <a:ea typeface="微软雅黑 Light" panose="020B0502040204020203" pitchFamily="34" charset="-122"/>
                    <a:sym typeface="+mn-ea"/>
                  </a:rPr>
                  <a:t>问题</a:t>
                </a:r>
                <a:r>
                  <a:rPr lang="en-US" altLang="zh-CN" sz="1400" kern="0" dirty="0">
                    <a:solidFill>
                      <a:prstClr val="black"/>
                    </a:solidFill>
                    <a:latin typeface="Arial" panose="020B0604020202020204"/>
                    <a:ea typeface="微软雅黑 Light" panose="020B0502040204020203" pitchFamily="34" charset="-122"/>
                    <a:sym typeface="+mn-ea"/>
                  </a:rPr>
                  <a:t>3</a:t>
                </a:r>
                <a:endParaRPr lang="en-US" altLang="zh-CN" sz="1400" kern="0" dirty="0">
                  <a:solidFill>
                    <a:prstClr val="black"/>
                  </a:solidFill>
                  <a:latin typeface="Arial" panose="020B0604020202020204"/>
                  <a:ea typeface="微软雅黑 Light" panose="020B0502040204020203" pitchFamily="34" charset="-122"/>
                  <a:sym typeface="+mn-ea"/>
                </a:endParaRPr>
              </a:p>
              <a:p>
                <a:pPr marL="171450" indent="-171450">
                  <a:lnSpc>
                    <a:spcPct val="150000"/>
                  </a:lnSpc>
                  <a:buFont typeface="Arial" panose="020B0604020202020204" pitchFamily="34" charset="0"/>
                  <a:buChar char="•"/>
                  <a:tabLst>
                    <a:tab pos="227965" algn="l"/>
                  </a:tabLst>
                  <a:defRPr/>
                </a:pPr>
                <a:endParaRPr lang="en-US" altLang="zh-CN" sz="1400" kern="0" dirty="0">
                  <a:solidFill>
                    <a:prstClr val="black"/>
                  </a:solidFill>
                  <a:latin typeface="Arial" panose="020B0604020202020204"/>
                  <a:ea typeface="微软雅黑 Light" panose="020B0502040204020203" pitchFamily="34" charset="-122"/>
                </a:endParaRPr>
              </a:p>
              <a:p>
                <a:pPr marL="171450" indent="-171450">
                  <a:lnSpc>
                    <a:spcPct val="150000"/>
                  </a:lnSpc>
                  <a:buFont typeface="Arial" panose="020B0604020202020204" pitchFamily="34" charset="0"/>
                  <a:buChar char="•"/>
                  <a:tabLst>
                    <a:tab pos="227965" algn="l"/>
                  </a:tabLst>
                  <a:defRPr/>
                </a:pPr>
                <a:r>
                  <a:rPr lang="zh-CN" altLang="en-US" sz="1400" kern="0" dirty="0">
                    <a:solidFill>
                      <a:prstClr val="black"/>
                    </a:solidFill>
                    <a:latin typeface="Arial" panose="020B0604020202020204"/>
                    <a:ea typeface="微软雅黑 Light" panose="020B0502040204020203" pitchFamily="34" charset="-122"/>
                    <a:sym typeface="+mn-ea"/>
                  </a:rPr>
                  <a:t>以及问题</a:t>
                </a:r>
                <a:r>
                  <a:rPr lang="en-US" altLang="zh-CN" sz="1400" kern="0" dirty="0">
                    <a:solidFill>
                      <a:prstClr val="black"/>
                    </a:solidFill>
                    <a:latin typeface="Arial" panose="020B0604020202020204"/>
                    <a:ea typeface="微软雅黑 Light" panose="020B0502040204020203" pitchFamily="34" charset="-122"/>
                    <a:sym typeface="+mn-ea"/>
                  </a:rPr>
                  <a:t>4</a:t>
                </a:r>
                <a:r>
                  <a:rPr lang="zh-CN" altLang="en-US" sz="1400" kern="0" dirty="0">
                    <a:solidFill>
                      <a:prstClr val="black"/>
                    </a:solidFill>
                    <a:latin typeface="Arial" panose="020B0604020202020204"/>
                    <a:ea typeface="微软雅黑 Light" panose="020B0502040204020203" pitchFamily="34" charset="-122"/>
                    <a:sym typeface="+mn-ea"/>
                  </a:rPr>
                  <a:t>中重新完成问题</a:t>
                </a:r>
                <a:r>
                  <a:rPr lang="en-US" altLang="zh-CN" sz="1400" kern="0" dirty="0">
                    <a:solidFill>
                      <a:prstClr val="black"/>
                    </a:solidFill>
                    <a:latin typeface="Arial" panose="020B0604020202020204"/>
                    <a:ea typeface="微软雅黑 Light" panose="020B0502040204020203" pitchFamily="34" charset="-122"/>
                    <a:sym typeface="+mn-ea"/>
                  </a:rPr>
                  <a:t>3</a:t>
                </a:r>
                <a:r>
                  <a:rPr lang="zh-CN" altLang="en-US" sz="1400" kern="0" dirty="0">
                    <a:solidFill>
                      <a:prstClr val="black"/>
                    </a:solidFill>
                    <a:latin typeface="Arial" panose="020B0604020202020204"/>
                    <a:ea typeface="微软雅黑 Light" panose="020B0502040204020203" pitchFamily="34" charset="-122"/>
                    <a:sym typeface="+mn-ea"/>
                  </a:rPr>
                  <a:t>部分的</a:t>
                </a:r>
                <a:endParaRPr lang="zh-CN" altLang="en-US" sz="1400" kern="0" dirty="0">
                  <a:solidFill>
                    <a:prstClr val="black"/>
                  </a:solidFill>
                  <a:latin typeface="Arial" panose="020B0604020202020204"/>
                  <a:ea typeface="微软雅黑 Light" panose="020B0502040204020203" pitchFamily="34" charset="-122"/>
                </a:endParaRPr>
              </a:p>
              <a:p>
                <a:pPr indent="0">
                  <a:lnSpc>
                    <a:spcPct val="150000"/>
                  </a:lnSpc>
                  <a:buFont typeface="Arial" panose="020B0604020202020204" pitchFamily="34" charset="0"/>
                  <a:buNone/>
                  <a:tabLst>
                    <a:tab pos="227965" algn="l"/>
                  </a:tabLst>
                  <a:defRPr/>
                </a:pPr>
                <a:r>
                  <a:rPr lang="en-US" altLang="zh-CN" sz="1400" kern="0" dirty="0">
                    <a:solidFill>
                      <a:prstClr val="black"/>
                    </a:solidFill>
                    <a:latin typeface="Arial" panose="020B0604020202020204"/>
                    <a:ea typeface="微软雅黑 Light" panose="020B0502040204020203" pitchFamily="34" charset="-122"/>
                    <a:sym typeface="+mn-ea"/>
                  </a:rPr>
                  <a:t>   </a:t>
                </a:r>
                <a:r>
                  <a:rPr lang="zh-CN" altLang="en-US" sz="1400" kern="0" dirty="0">
                    <a:solidFill>
                      <a:prstClr val="black"/>
                    </a:solidFill>
                    <a:latin typeface="Arial" panose="020B0604020202020204"/>
                    <a:ea typeface="微软雅黑 Light" panose="020B0502040204020203" pitchFamily="34" charset="-122"/>
                    <a:sym typeface="+mn-ea"/>
                  </a:rPr>
                  <a:t>建模与实现</a:t>
                </a:r>
                <a:endParaRPr lang="zh-CN" altLang="en-US" sz="1400" kern="0" dirty="0">
                  <a:solidFill>
                    <a:prstClr val="black"/>
                  </a:solidFill>
                  <a:latin typeface="Arial" panose="020B0604020202020204"/>
                  <a:ea typeface="微软雅黑 Light" panose="020B0502040204020203" pitchFamily="34" charset="-122"/>
                  <a:sym typeface="+mn-ea"/>
                </a:endParaRPr>
              </a:p>
            </p:txBody>
          </p:sp>
          <p:cxnSp>
            <p:nvCxnSpPr>
              <p:cNvPr id="59" name="直接连接符 58"/>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60" name="直接连接符 59"/>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61" name="îŝliďè"/>
              <p:cNvSpPr txBox="1"/>
              <p:nvPr/>
            </p:nvSpPr>
            <p:spPr>
              <a:xfrm>
                <a:off x="1373967" y="3282748"/>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endParaRPr lang="zh-CN" altLang="en-US" sz="1600" kern="0" dirty="0">
                  <a:solidFill>
                    <a:prstClr val="black"/>
                  </a:solidFill>
                  <a:latin typeface="Arial" panose="020B0604020202020204"/>
                  <a:ea typeface="微软雅黑 Light" panose="020B0502040204020203" pitchFamily="34" charset="-122"/>
                </a:endParaRPr>
              </a:p>
            </p:txBody>
          </p:sp>
        </p:grpSp>
      </p:grpSp>
    </p:spTree>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背景</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矩形 14"/>
          <p:cNvSpPr/>
          <p:nvPr/>
        </p:nvSpPr>
        <p:spPr>
          <a:xfrm>
            <a:off x="5871845" y="1708150"/>
            <a:ext cx="3957320" cy="3411220"/>
          </a:xfrm>
          <a:prstGeom prst="rect">
            <a:avLst/>
          </a:prstGeom>
          <a:solidFill>
            <a:srgbClr val="961318"/>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algn="ctr">
              <a:defRPr/>
            </a:pPr>
            <a:endParaRPr lang="zh-CN" altLang="en-US" kern="0">
              <a:solidFill>
                <a:prstClr val="white"/>
              </a:solidFill>
              <a:latin typeface="Arial" panose="020B0604020202020204"/>
              <a:ea typeface="微软雅黑 Light" panose="020B0502040204020203" pitchFamily="34" charset="-122"/>
            </a:endParaRPr>
          </a:p>
        </p:txBody>
      </p:sp>
      <p:grpSp>
        <p:nvGrpSpPr>
          <p:cNvPr id="17" name="组合 16"/>
          <p:cNvGrpSpPr/>
          <p:nvPr/>
        </p:nvGrpSpPr>
        <p:grpSpPr>
          <a:xfrm>
            <a:off x="767715" y="1268730"/>
            <a:ext cx="4672330" cy="4413250"/>
            <a:chOff x="542296" y="1526796"/>
            <a:chExt cx="3586142" cy="4413452"/>
          </a:xfrm>
        </p:grpSpPr>
        <p:sp>
          <p:nvSpPr>
            <p:cNvPr id="18" name="矩形: 圆角 17"/>
            <p:cNvSpPr/>
            <p:nvPr/>
          </p:nvSpPr>
          <p:spPr>
            <a:xfrm>
              <a:off x="694352" y="1728133"/>
              <a:ext cx="3282030" cy="4007528"/>
            </a:xfrm>
            <a:prstGeom prst="roundRect">
              <a:avLst>
                <a:gd name="adj" fmla="val 14822"/>
              </a:avLst>
            </a:prstGeom>
            <a:noFill/>
            <a:ln w="38100" cap="flat" cmpd="sng" algn="ctr">
              <a:solidFill>
                <a:srgbClr val="961318"/>
              </a:solidFill>
              <a:prstDash val="solid"/>
              <a:miter lim="800000"/>
            </a:ln>
            <a:effectLst/>
          </p:spPr>
          <p:txBody>
            <a:bodyPr rtlCol="0" anchor="ctr"/>
            <a:lstStyle/>
            <a:p>
              <a:pPr algn="ctr">
                <a:defRPr/>
              </a:pPr>
              <a:endParaRPr lang="zh-CN" altLang="en-US" kern="0">
                <a:solidFill>
                  <a:prstClr val="white"/>
                </a:solidFill>
                <a:latin typeface="Arial" panose="020B0604020202020204"/>
                <a:ea typeface="微软雅黑 Light" panose="020B0502040204020203" pitchFamily="34" charset="-122"/>
              </a:endParaRPr>
            </a:p>
          </p:txBody>
        </p:sp>
        <p:pic>
          <p:nvPicPr>
            <p:cNvPr id="19" name="图片 1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2296" y="1526796"/>
              <a:ext cx="704418" cy="684000"/>
            </a:xfrm>
            <a:prstGeom prst="rect">
              <a:avLst/>
            </a:prstGeom>
          </p:spPr>
        </p:pic>
        <p:sp>
          <p:nvSpPr>
            <p:cNvPr id="20" name="quotation-mark_32371"/>
            <p:cNvSpPr>
              <a:spLocks noChangeAspect="1"/>
            </p:cNvSpPr>
            <p:nvPr/>
          </p:nvSpPr>
          <p:spPr bwMode="auto">
            <a:xfrm>
              <a:off x="627940" y="1628814"/>
              <a:ext cx="504244" cy="468000"/>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rgbClr val="961318"/>
            </a:solidFill>
            <a:ln>
              <a:noFill/>
            </a:ln>
          </p:spPr>
          <p:txBody>
            <a:bodyPr/>
            <a:lstStyle/>
            <a:p>
              <a:endParaRPr lang="zh-CN" altLang="en-US"/>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24020" y="5256248"/>
              <a:ext cx="704418" cy="684000"/>
            </a:xfrm>
            <a:prstGeom prst="rect">
              <a:avLst/>
            </a:prstGeom>
          </p:spPr>
        </p:pic>
        <p:sp>
          <p:nvSpPr>
            <p:cNvPr id="22" name="right-quote-sign_56826"/>
            <p:cNvSpPr>
              <a:spLocks noChangeAspect="1"/>
            </p:cNvSpPr>
            <p:nvPr/>
          </p:nvSpPr>
          <p:spPr bwMode="auto">
            <a:xfrm>
              <a:off x="3501766" y="5377427"/>
              <a:ext cx="531016" cy="468000"/>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961318"/>
            </a:solidFill>
            <a:ln>
              <a:noFill/>
            </a:ln>
          </p:spPr>
          <p:txBody>
            <a:bodyPr/>
            <a:lstStyle/>
            <a:p>
              <a:endParaRPr lang="zh-CN" altLang="en-US"/>
            </a:p>
          </p:txBody>
        </p:sp>
      </p:grpSp>
      <p:sp>
        <p:nvSpPr>
          <p:cNvPr id="23" name="文本框 22"/>
          <p:cNvSpPr txBox="1"/>
          <p:nvPr/>
        </p:nvSpPr>
        <p:spPr>
          <a:xfrm>
            <a:off x="1154430" y="1784985"/>
            <a:ext cx="3898900" cy="3392170"/>
          </a:xfrm>
          <a:prstGeom prst="rect">
            <a:avLst/>
          </a:prstGeom>
          <a:noFill/>
        </p:spPr>
        <p:txBody>
          <a:bodyPr wrap="square" rtlCol="0">
            <a:spAutoFit/>
          </a:bodyPr>
          <a:lstStyle/>
          <a:p>
            <a:pPr indent="0">
              <a:lnSpc>
                <a:spcPct val="150000"/>
              </a:lnSpc>
              <a:defRPr/>
            </a:pPr>
            <a:r>
              <a:rPr lang="en-US" altLang="zh-CN" sz="1300" dirty="0">
                <a:solidFill>
                  <a:prstClr val="black"/>
                </a:solidFill>
                <a:latin typeface="微软雅黑" panose="020B0503020204020204" charset="-122"/>
                <a:ea typeface="微软雅黑" panose="020B0503020204020204" charset="-122"/>
              </a:rPr>
              <a:t>       </a:t>
            </a:r>
            <a:r>
              <a:rPr lang="zh-CN" altLang="en-US" sz="1300" dirty="0">
                <a:solidFill>
                  <a:prstClr val="black"/>
                </a:solidFill>
                <a:latin typeface="微软雅黑" panose="020B0503020204020204" charset="-122"/>
                <a:ea typeface="微软雅黑" panose="020B0503020204020204" charset="-122"/>
              </a:rPr>
              <a:t>在本问题中，企业需要在生产过程中做出一系列决策，以实现利润最大化。具体来说，企业需要决定是否对零配件进行检测、是否对成品进行检测、如何处理不合格成品以及如何应对退回的不合格产品。这些决策将直接影响生产成本、成品质量和最终的市场收入。然而，生产过程中存在诸多不确定因素，如零配件的次品率和成品质量波动，这些不确定性使得决策更加复杂。因此，模型引入了贝叶斯推断、蒙特卡罗模拟、库存反馈机制和遗传算法等优化工具，帮助企业在面对这些不确定性时，能、做出更加合理和稳定的决策，从而最大化整体利润。</a:t>
            </a:r>
            <a:endParaRPr lang="zh-CN" altLang="en-US" sz="1300" dirty="0">
              <a:solidFill>
                <a:prstClr val="black"/>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001" y="2433175"/>
            <a:ext cx="4463703" cy="3411219"/>
          </a:xfrm>
          <a:prstGeom prst="rect">
            <a:avLst/>
          </a:prstGeom>
        </p:spPr>
      </p:pic>
      <p:sp>
        <p:nvSpPr>
          <p:cNvPr id="6" name="文本框 5"/>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2" name="文本框 1"/>
          <p:cNvSpPr txBox="1"/>
          <p:nvPr/>
        </p:nvSpPr>
        <p:spPr>
          <a:xfrm>
            <a:off x="2647950" y="5916930"/>
            <a:ext cx="4064000" cy="368300"/>
          </a:xfrm>
          <a:prstGeom prst="rect">
            <a:avLst/>
          </a:prstGeom>
          <a:noFill/>
        </p:spPr>
        <p:txBody>
          <a:bodyPr wrap="square" rtlCol="0">
            <a:spAutoFit/>
          </a:bodyPr>
          <a:p>
            <a:endParaRPr lang="zh-CN" altLang="en-US"/>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93041"/>
            <a:chOff x="335361" y="116633"/>
            <a:chExt cx="11521279" cy="693041"/>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模型</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假设</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2" name="ïšļide"/>
          <p:cNvSpPr/>
          <p:nvPr/>
        </p:nvSpPr>
        <p:spPr>
          <a:xfrm>
            <a:off x="4137959" y="1512808"/>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sz="3200" cap="none">
                <a:solidFill>
                  <a:srgbClr val="000000"/>
                </a:solidFill>
              </a:defRPr>
            </a:pPr>
            <a:endParaRPr sz="3200" dirty="0">
              <a:solidFill>
                <a:srgbClr val="000000"/>
              </a:solidFill>
              <a:latin typeface="Arial" panose="020B0604020202020204"/>
              <a:ea typeface="微软雅黑 Light" panose="020B0502040204020203" pitchFamily="34" charset="-122"/>
            </a:endParaRPr>
          </a:p>
        </p:txBody>
      </p:sp>
      <p:sp>
        <p:nvSpPr>
          <p:cNvPr id="3" name="ïšḷîḓe"/>
          <p:cNvSpPr/>
          <p:nvPr/>
        </p:nvSpPr>
        <p:spPr>
          <a:xfrm>
            <a:off x="4267180" y="1646446"/>
            <a:ext cx="833646" cy="833647"/>
          </a:xfrm>
          <a:prstGeom prst="ellipse">
            <a:avLst/>
          </a:prstGeom>
          <a:solidFill>
            <a:srgbClr val="961318"/>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r>
              <a:rPr lang="en-US" altLang="zh-CN" sz="2000" b="1" kern="0" dirty="0">
                <a:solidFill>
                  <a:prstClr val="white"/>
                </a:solidFill>
                <a:latin typeface="Arial" panose="020B0604020202020204"/>
                <a:ea typeface="微软雅黑 Light" panose="020B0502040204020203" pitchFamily="34" charset="-122"/>
              </a:rPr>
              <a:t>01</a:t>
            </a:r>
            <a:endParaRPr lang="zh-CN" altLang="en-US" sz="2000" b="1" kern="0" dirty="0">
              <a:solidFill>
                <a:prstClr val="white"/>
              </a:solidFill>
              <a:latin typeface="Arial" panose="020B0604020202020204"/>
              <a:ea typeface="微软雅黑 Light" panose="020B0502040204020203" pitchFamily="34" charset="-122"/>
            </a:endParaRPr>
          </a:p>
        </p:txBody>
      </p:sp>
      <p:sp>
        <p:nvSpPr>
          <p:cNvPr id="4" name="ïŝḷiḑê"/>
          <p:cNvSpPr/>
          <p:nvPr/>
        </p:nvSpPr>
        <p:spPr>
          <a:xfrm rot="10800000">
            <a:off x="5263667" y="1713445"/>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endParaRPr sz="2000" kern="0" dirty="0">
              <a:solidFill>
                <a:prstClr val="white"/>
              </a:solidFill>
              <a:latin typeface="Arial" panose="020B0604020202020204"/>
              <a:ea typeface="微软雅黑 Light" panose="020B0502040204020203" pitchFamily="34" charset="-122"/>
            </a:endParaRPr>
          </a:p>
        </p:txBody>
      </p:sp>
      <p:sp>
        <p:nvSpPr>
          <p:cNvPr id="5" name="íṩļïďê"/>
          <p:cNvSpPr/>
          <p:nvPr/>
        </p:nvSpPr>
        <p:spPr>
          <a:xfrm>
            <a:off x="7078476" y="1838430"/>
            <a:ext cx="833646" cy="833647"/>
          </a:xfrm>
          <a:prstGeom prst="ellipse">
            <a:avLst/>
          </a:prstGeom>
          <a:solidFill>
            <a:srgbClr val="961318"/>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r>
              <a:rPr lang="en-US" altLang="zh-CN" sz="2000" b="1" kern="0" dirty="0">
                <a:solidFill>
                  <a:prstClr val="white"/>
                </a:solidFill>
                <a:latin typeface="Arial" panose="020B0604020202020204"/>
                <a:ea typeface="微软雅黑 Light" panose="020B0502040204020203" pitchFamily="34" charset="-122"/>
              </a:rPr>
              <a:t>02</a:t>
            </a:r>
            <a:endParaRPr lang="zh-CN" altLang="en-US" sz="2000" b="1" kern="0" dirty="0">
              <a:solidFill>
                <a:prstClr val="white"/>
              </a:solidFill>
              <a:latin typeface="Arial" panose="020B0604020202020204"/>
              <a:ea typeface="微软雅黑 Light" panose="020B0502040204020203" pitchFamily="34" charset="-122"/>
            </a:endParaRPr>
          </a:p>
        </p:txBody>
      </p:sp>
      <p:sp>
        <p:nvSpPr>
          <p:cNvPr id="6" name="ïsḷïḋê"/>
          <p:cNvSpPr/>
          <p:nvPr/>
        </p:nvSpPr>
        <p:spPr>
          <a:xfrm>
            <a:off x="4137959" y="2985747"/>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sz="3200" cap="none">
                <a:solidFill>
                  <a:srgbClr val="000000"/>
                </a:solidFill>
              </a:defRPr>
            </a:pPr>
            <a:endParaRPr sz="3200" dirty="0">
              <a:solidFill>
                <a:srgbClr val="000000"/>
              </a:solidFill>
              <a:latin typeface="Arial" panose="020B0604020202020204"/>
              <a:ea typeface="微软雅黑 Light" panose="020B0502040204020203" pitchFamily="34" charset="-122"/>
            </a:endParaRPr>
          </a:p>
        </p:txBody>
      </p:sp>
      <p:sp>
        <p:nvSpPr>
          <p:cNvPr id="16" name="í$ḻíḓê"/>
          <p:cNvSpPr/>
          <p:nvPr/>
        </p:nvSpPr>
        <p:spPr>
          <a:xfrm>
            <a:off x="4267180" y="3119385"/>
            <a:ext cx="833646" cy="833647"/>
          </a:xfrm>
          <a:prstGeom prst="ellipse">
            <a:avLst/>
          </a:prstGeom>
          <a:solidFill>
            <a:srgbClr val="961318"/>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r>
              <a:rPr lang="en-US" altLang="zh-CN" sz="2000" b="1" kern="0" dirty="0">
                <a:solidFill>
                  <a:prstClr val="white"/>
                </a:solidFill>
                <a:latin typeface="Arial" panose="020B0604020202020204"/>
                <a:ea typeface="微软雅黑 Light" panose="020B0502040204020203" pitchFamily="34" charset="-122"/>
              </a:rPr>
              <a:t>03</a:t>
            </a:r>
            <a:endParaRPr lang="zh-CN" altLang="en-US" sz="2000" b="1" kern="0" dirty="0">
              <a:solidFill>
                <a:prstClr val="white"/>
              </a:solidFill>
              <a:latin typeface="Arial" panose="020B0604020202020204"/>
              <a:ea typeface="微软雅黑 Light" panose="020B0502040204020203" pitchFamily="34" charset="-122"/>
            </a:endParaRPr>
          </a:p>
        </p:txBody>
      </p:sp>
      <p:sp>
        <p:nvSpPr>
          <p:cNvPr id="18" name="ïŝ1íḍé"/>
          <p:cNvSpPr/>
          <p:nvPr/>
        </p:nvSpPr>
        <p:spPr>
          <a:xfrm rot="10800000">
            <a:off x="5263667" y="3186384"/>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endParaRPr sz="2000" kern="0" dirty="0">
              <a:solidFill>
                <a:prstClr val="white"/>
              </a:solidFill>
              <a:latin typeface="Arial" panose="020B0604020202020204"/>
              <a:ea typeface="微软雅黑 Light" panose="020B0502040204020203" pitchFamily="34" charset="-122"/>
            </a:endParaRPr>
          </a:p>
        </p:txBody>
      </p:sp>
      <p:sp>
        <p:nvSpPr>
          <p:cNvPr id="20" name="ïśľiďê"/>
          <p:cNvSpPr/>
          <p:nvPr/>
        </p:nvSpPr>
        <p:spPr>
          <a:xfrm>
            <a:off x="7078476" y="3311369"/>
            <a:ext cx="833646" cy="833647"/>
          </a:xfrm>
          <a:prstGeom prst="ellipse">
            <a:avLst/>
          </a:prstGeom>
          <a:solidFill>
            <a:srgbClr val="961318"/>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r>
              <a:rPr lang="en-US" altLang="zh-CN" sz="2000" b="1" kern="0" dirty="0">
                <a:solidFill>
                  <a:prstClr val="white"/>
                </a:solidFill>
                <a:latin typeface="Arial" panose="020B0604020202020204"/>
                <a:ea typeface="微软雅黑 Light" panose="020B0502040204020203" pitchFamily="34" charset="-122"/>
              </a:rPr>
              <a:t>04</a:t>
            </a:r>
            <a:endParaRPr lang="zh-CN" altLang="en-US" sz="2000" b="1" kern="0" dirty="0">
              <a:solidFill>
                <a:prstClr val="white"/>
              </a:solidFill>
              <a:latin typeface="Arial" panose="020B0604020202020204"/>
              <a:ea typeface="微软雅黑 Light" panose="020B0502040204020203" pitchFamily="34" charset="-122"/>
            </a:endParaRPr>
          </a:p>
        </p:txBody>
      </p:sp>
      <p:sp>
        <p:nvSpPr>
          <p:cNvPr id="22" name="iṩḻîďè"/>
          <p:cNvSpPr/>
          <p:nvPr/>
        </p:nvSpPr>
        <p:spPr>
          <a:xfrm>
            <a:off x="4137959" y="4458686"/>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sz="3200" cap="none">
                <a:solidFill>
                  <a:srgbClr val="000000"/>
                </a:solidFill>
              </a:defRPr>
            </a:pPr>
            <a:endParaRPr sz="3200" dirty="0">
              <a:solidFill>
                <a:srgbClr val="000000"/>
              </a:solidFill>
              <a:latin typeface="Arial" panose="020B0604020202020204"/>
              <a:ea typeface="微软雅黑 Light" panose="020B0502040204020203" pitchFamily="34" charset="-122"/>
            </a:endParaRPr>
          </a:p>
        </p:txBody>
      </p:sp>
      <p:sp>
        <p:nvSpPr>
          <p:cNvPr id="24" name="îSḻîḋê"/>
          <p:cNvSpPr/>
          <p:nvPr/>
        </p:nvSpPr>
        <p:spPr>
          <a:xfrm>
            <a:off x="4267180" y="4592324"/>
            <a:ext cx="833646" cy="833647"/>
          </a:xfrm>
          <a:prstGeom prst="ellipse">
            <a:avLst/>
          </a:prstGeom>
          <a:solidFill>
            <a:srgbClr val="961318"/>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r>
              <a:rPr lang="en-US" altLang="zh-CN" sz="2000" b="1" kern="0" dirty="0">
                <a:solidFill>
                  <a:prstClr val="white"/>
                </a:solidFill>
                <a:latin typeface="Arial" panose="020B0604020202020204"/>
                <a:ea typeface="微软雅黑 Light" panose="020B0502040204020203" pitchFamily="34" charset="-122"/>
              </a:rPr>
              <a:t>05</a:t>
            </a:r>
            <a:endParaRPr lang="zh-CN" altLang="en-US" sz="2000" b="1" kern="0" dirty="0">
              <a:solidFill>
                <a:prstClr val="white"/>
              </a:solidFill>
              <a:latin typeface="Arial" panose="020B0604020202020204"/>
              <a:ea typeface="微软雅黑 Light" panose="020B0502040204020203" pitchFamily="34" charset="-122"/>
            </a:endParaRPr>
          </a:p>
        </p:txBody>
      </p:sp>
      <p:sp>
        <p:nvSpPr>
          <p:cNvPr id="26" name="íşļïdé"/>
          <p:cNvSpPr/>
          <p:nvPr/>
        </p:nvSpPr>
        <p:spPr>
          <a:xfrm rot="10800000">
            <a:off x="5263667" y="4659323"/>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endParaRPr sz="2000" kern="0" dirty="0">
              <a:solidFill>
                <a:prstClr val="white"/>
              </a:solidFill>
              <a:latin typeface="Arial" panose="020B0604020202020204"/>
              <a:ea typeface="微软雅黑 Light" panose="020B0502040204020203" pitchFamily="34" charset="-122"/>
            </a:endParaRPr>
          </a:p>
        </p:txBody>
      </p:sp>
      <p:sp>
        <p:nvSpPr>
          <p:cNvPr id="28" name="iṡḻïdê"/>
          <p:cNvSpPr/>
          <p:nvPr/>
        </p:nvSpPr>
        <p:spPr>
          <a:xfrm>
            <a:off x="7078476" y="4784308"/>
            <a:ext cx="833646" cy="833647"/>
          </a:xfrm>
          <a:prstGeom prst="ellipse">
            <a:avLst/>
          </a:prstGeom>
          <a:solidFill>
            <a:srgbClr val="961318"/>
          </a:solidFill>
          <a:ln w="3175" cap="flat"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4400">
              <a:defRPr/>
            </a:pPr>
            <a:r>
              <a:rPr lang="en-US" altLang="zh-CN" sz="2000" b="1" kern="0" dirty="0">
                <a:solidFill>
                  <a:prstClr val="white"/>
                </a:solidFill>
                <a:latin typeface="Arial" panose="020B0604020202020204"/>
                <a:ea typeface="微软雅黑 Light" panose="020B0502040204020203" pitchFamily="34" charset="-122"/>
              </a:rPr>
              <a:t>06</a:t>
            </a:r>
            <a:endParaRPr lang="zh-CN" altLang="en-US" sz="2000" b="1" kern="0" dirty="0">
              <a:solidFill>
                <a:prstClr val="white"/>
              </a:solidFill>
              <a:latin typeface="Arial" panose="020B0604020202020204"/>
              <a:ea typeface="微软雅黑 Light" panose="020B0502040204020203" pitchFamily="34" charset="-122"/>
            </a:endParaRPr>
          </a:p>
        </p:txBody>
      </p:sp>
      <p:sp>
        <p:nvSpPr>
          <p:cNvPr id="30" name="î$ḻïďé"/>
          <p:cNvSpPr txBox="1"/>
          <p:nvPr/>
        </p:nvSpPr>
        <p:spPr>
          <a:xfrm>
            <a:off x="5751990" y="1614487"/>
            <a:ext cx="1092083" cy="371368"/>
          </a:xfrm>
          <a:prstGeom prst="rect">
            <a:avLst/>
          </a:prstGeom>
          <a:noFill/>
        </p:spPr>
        <p:txBody>
          <a:bodyPr wrap="square" lIns="91440" tIns="45720" rIns="91440" bIns="45720" anchor="ctr" anchorCtr="0">
            <a:normAutofit fontScale="6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panose="020B0503020204020204" charset="-122"/>
                <a:ea typeface="微软雅黑" panose="020B0503020204020204" charset="-122"/>
              </a:rPr>
              <a:t>次品率</a:t>
            </a:r>
            <a:r>
              <a:rPr lang="zh-CN" altLang="en-US" sz="1600" dirty="0">
                <a:solidFill>
                  <a:prstClr val="black">
                    <a:lumMod val="100000"/>
                  </a:prstClr>
                </a:solidFill>
                <a:latin typeface="微软雅黑" panose="020B0503020204020204" charset="-122"/>
                <a:ea typeface="微软雅黑" panose="020B0503020204020204" charset="-122"/>
              </a:rPr>
              <a:t>分布假设</a:t>
            </a:r>
            <a:endParaRPr lang="zh-CN" altLang="en-US" sz="1600" dirty="0">
              <a:solidFill>
                <a:prstClr val="black">
                  <a:lumMod val="100000"/>
                </a:prstClr>
              </a:solidFill>
              <a:latin typeface="微软雅黑" panose="020B0503020204020204" charset="-122"/>
              <a:ea typeface="微软雅黑" panose="020B0503020204020204" charset="-122"/>
            </a:endParaRPr>
          </a:p>
        </p:txBody>
      </p:sp>
      <p:sp>
        <p:nvSpPr>
          <p:cNvPr id="32" name="îŝlïḓê"/>
          <p:cNvSpPr txBox="1"/>
          <p:nvPr/>
        </p:nvSpPr>
        <p:spPr>
          <a:xfrm>
            <a:off x="5327015" y="2332355"/>
            <a:ext cx="1212850" cy="371475"/>
          </a:xfrm>
          <a:prstGeom prst="rect">
            <a:avLst/>
          </a:prstGeom>
          <a:noFill/>
        </p:spPr>
        <p:txBody>
          <a:bodyPr wrap="square" lIns="91440" tIns="45720" rIns="91440" bIns="45720" anchor="ctr" anchorCtr="0">
            <a:normAutofit fontScale="6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panose="020B0503020204020204" charset="-122"/>
                <a:ea typeface="微软雅黑" panose="020B0503020204020204" charset="-122"/>
              </a:rPr>
              <a:t>成本价格参数</a:t>
            </a:r>
            <a:r>
              <a:rPr lang="zh-CN" altLang="en-US" sz="1600" dirty="0">
                <a:solidFill>
                  <a:prstClr val="black">
                    <a:lumMod val="100000"/>
                  </a:prstClr>
                </a:solidFill>
                <a:latin typeface="微软雅黑" panose="020B0503020204020204" charset="-122"/>
                <a:ea typeface="微软雅黑" panose="020B0503020204020204" charset="-122"/>
              </a:rPr>
              <a:t>假设</a:t>
            </a:r>
            <a:endParaRPr lang="zh-CN" altLang="en-US" sz="1600" dirty="0">
              <a:solidFill>
                <a:prstClr val="black">
                  <a:lumMod val="100000"/>
                </a:prstClr>
              </a:solidFill>
              <a:latin typeface="微软雅黑" panose="020B0503020204020204" charset="-122"/>
              <a:ea typeface="微软雅黑" panose="020B0503020204020204" charset="-122"/>
            </a:endParaRPr>
          </a:p>
        </p:txBody>
      </p:sp>
      <p:sp>
        <p:nvSpPr>
          <p:cNvPr id="34" name="işlîḓé"/>
          <p:cNvSpPr txBox="1"/>
          <p:nvPr/>
        </p:nvSpPr>
        <p:spPr>
          <a:xfrm>
            <a:off x="5751990" y="3087426"/>
            <a:ext cx="1092083" cy="371368"/>
          </a:xfrm>
          <a:prstGeom prst="rect">
            <a:avLst/>
          </a:prstGeom>
          <a:noFill/>
        </p:spPr>
        <p:txBody>
          <a:bodyPr wrap="square" lIns="91440" tIns="45720" rIns="91440" bIns="45720" anchor="ctr" anchorCtr="0">
            <a:normAutofit fontScale="7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panose="020B0503020204020204" charset="-122"/>
                <a:ea typeface="微软雅黑" panose="020B0503020204020204" charset="-122"/>
              </a:rPr>
              <a:t>检测</a:t>
            </a:r>
            <a:r>
              <a:rPr lang="zh-CN" altLang="en-US" sz="1600" dirty="0">
                <a:solidFill>
                  <a:prstClr val="black">
                    <a:lumMod val="100000"/>
                  </a:prstClr>
                </a:solidFill>
                <a:latin typeface="微软雅黑" panose="020B0503020204020204" charset="-122"/>
                <a:ea typeface="微软雅黑" panose="020B0503020204020204" charset="-122"/>
              </a:rPr>
              <a:t>操作假设</a:t>
            </a:r>
            <a:endParaRPr lang="zh-CN" altLang="en-US" sz="1600" dirty="0">
              <a:solidFill>
                <a:prstClr val="black">
                  <a:lumMod val="100000"/>
                </a:prstClr>
              </a:solidFill>
              <a:latin typeface="微软雅黑" panose="020B0503020204020204" charset="-122"/>
              <a:ea typeface="微软雅黑" panose="020B0503020204020204" charset="-122"/>
            </a:endParaRPr>
          </a:p>
        </p:txBody>
      </p:sp>
      <p:sp>
        <p:nvSpPr>
          <p:cNvPr id="36" name="ïṡľiďé"/>
          <p:cNvSpPr txBox="1"/>
          <p:nvPr/>
        </p:nvSpPr>
        <p:spPr>
          <a:xfrm>
            <a:off x="5327274" y="3805605"/>
            <a:ext cx="1092083" cy="371368"/>
          </a:xfrm>
          <a:prstGeom prst="rect">
            <a:avLst/>
          </a:prstGeom>
          <a:noFill/>
        </p:spPr>
        <p:txBody>
          <a:bodyPr wrap="square" lIns="91440" tIns="45720" rIns="91440" bIns="45720" anchor="ctr" anchorCtr="0">
            <a:normAutofit fontScale="7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panose="020B0503020204020204" charset="-122"/>
                <a:ea typeface="微软雅黑" panose="020B0503020204020204" charset="-122"/>
              </a:rPr>
              <a:t>拆解回收</a:t>
            </a:r>
            <a:r>
              <a:rPr lang="zh-CN" altLang="en-US" sz="1600" dirty="0">
                <a:solidFill>
                  <a:prstClr val="black">
                    <a:lumMod val="100000"/>
                  </a:prstClr>
                </a:solidFill>
                <a:latin typeface="微软雅黑" panose="020B0503020204020204" charset="-122"/>
                <a:ea typeface="微软雅黑" panose="020B0503020204020204" charset="-122"/>
              </a:rPr>
              <a:t>假设</a:t>
            </a:r>
            <a:endParaRPr lang="zh-CN" altLang="en-US" sz="1600" dirty="0">
              <a:solidFill>
                <a:prstClr val="black">
                  <a:lumMod val="100000"/>
                </a:prstClr>
              </a:solidFill>
              <a:latin typeface="微软雅黑" panose="020B0503020204020204" charset="-122"/>
              <a:ea typeface="微软雅黑" panose="020B0503020204020204" charset="-122"/>
            </a:endParaRPr>
          </a:p>
        </p:txBody>
      </p:sp>
      <p:sp>
        <p:nvSpPr>
          <p:cNvPr id="38" name="islïdé"/>
          <p:cNvSpPr txBox="1"/>
          <p:nvPr/>
        </p:nvSpPr>
        <p:spPr>
          <a:xfrm>
            <a:off x="5451475" y="4560570"/>
            <a:ext cx="1464310" cy="371475"/>
          </a:xfrm>
          <a:prstGeom prst="rect">
            <a:avLst/>
          </a:prstGeom>
          <a:noFill/>
        </p:spPr>
        <p:txBody>
          <a:bodyPr wrap="square" lIns="91440" tIns="45720" rIns="91440" bIns="45720" anchor="ctr" anchorCtr="0"/>
          <a:lstStyle>
            <a:defPPr>
              <a:defRPr lang="zh-CN"/>
            </a:defPPr>
            <a:lvl1pPr>
              <a:defRPr>
                <a:solidFill>
                  <a:schemeClr val="dk1">
                    <a:lumMod val="100000"/>
                  </a:schemeClr>
                </a:solidFill>
              </a:defRPr>
            </a:lvl1pPr>
          </a:lstStyle>
          <a:p>
            <a:pPr algn="ctr">
              <a:defRPr/>
            </a:pPr>
            <a:r>
              <a:rPr lang="zh-CN" altLang="en-US" sz="1100" dirty="0">
                <a:solidFill>
                  <a:prstClr val="black">
                    <a:lumMod val="100000"/>
                  </a:prstClr>
                </a:solidFill>
                <a:latin typeface="微软雅黑" panose="020B0503020204020204" charset="-122"/>
                <a:ea typeface="微软雅黑" panose="020B0503020204020204" charset="-122"/>
              </a:rPr>
              <a:t>库存假设</a:t>
            </a:r>
            <a:endParaRPr lang="zh-CN" altLang="en-US" sz="1100" dirty="0">
              <a:solidFill>
                <a:prstClr val="black">
                  <a:lumMod val="100000"/>
                </a:prstClr>
              </a:solidFill>
              <a:latin typeface="微软雅黑" panose="020B0503020204020204" charset="-122"/>
              <a:ea typeface="微软雅黑" panose="020B0503020204020204" charset="-122"/>
            </a:endParaRPr>
          </a:p>
        </p:txBody>
      </p:sp>
      <p:sp>
        <p:nvSpPr>
          <p:cNvPr id="40" name="i$ľïďé"/>
          <p:cNvSpPr txBox="1"/>
          <p:nvPr/>
        </p:nvSpPr>
        <p:spPr>
          <a:xfrm>
            <a:off x="5327274" y="5278545"/>
            <a:ext cx="1092083" cy="371368"/>
          </a:xfrm>
          <a:prstGeom prst="rect">
            <a:avLst/>
          </a:prstGeom>
          <a:noFill/>
        </p:spPr>
        <p:txBody>
          <a:bodyPr wrap="square" lIns="91440" tIns="45720" rIns="91440" bIns="45720" anchor="ctr" anchorCtr="0">
            <a:normAutofit fontScale="7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panose="020B0503020204020204" charset="-122"/>
                <a:ea typeface="微软雅黑" panose="020B0503020204020204" charset="-122"/>
              </a:rPr>
              <a:t>生产规模假设</a:t>
            </a:r>
            <a:endParaRPr lang="zh-CN" altLang="en-US" sz="1600" dirty="0">
              <a:solidFill>
                <a:prstClr val="black">
                  <a:lumMod val="100000"/>
                </a:prstClr>
              </a:solidFill>
              <a:latin typeface="微软雅黑" panose="020B0503020204020204" charset="-122"/>
              <a:ea typeface="微软雅黑" panose="020B0503020204020204" charset="-122"/>
            </a:endParaRPr>
          </a:p>
        </p:txBody>
      </p:sp>
      <p:sp>
        <p:nvSpPr>
          <p:cNvPr id="42" name="íŝ1idé"/>
          <p:cNvSpPr txBox="1"/>
          <p:nvPr/>
        </p:nvSpPr>
        <p:spPr>
          <a:xfrm>
            <a:off x="8190230" y="1734185"/>
            <a:ext cx="3369310" cy="882015"/>
          </a:xfrm>
          <a:prstGeom prst="rect">
            <a:avLst/>
          </a:prstGeom>
          <a:noFill/>
        </p:spPr>
        <p:txBody>
          <a:bodyPr wrap="square" lIns="91440" tIns="45720" rIns="91440" bIns="4572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defRPr/>
            </a:pPr>
            <a:r>
              <a:rPr lang="zh-CN" altLang="en-US" sz="1000" dirty="0">
                <a:solidFill>
                  <a:prstClr val="black">
                    <a:lumMod val="100000"/>
                  </a:prstClr>
                </a:solidFill>
                <a:latin typeface="Arial" panose="020B0604020202020204"/>
                <a:ea typeface="微软雅黑 Light" panose="020B0502040204020203" pitchFamily="34" charset="-122"/>
              </a:rPr>
              <a:t>采购单价、检测成本、装配成本、拆解费用、调换损失以及市场售价均为已知常数，并在整个生产过程中保持不变</a:t>
            </a:r>
            <a:endParaRPr lang="zh-CN" altLang="en-US" sz="1000" dirty="0">
              <a:solidFill>
                <a:prstClr val="black">
                  <a:lumMod val="100000"/>
                </a:prstClr>
              </a:solidFill>
              <a:latin typeface="Arial" panose="020B0604020202020204"/>
              <a:ea typeface="微软雅黑 Light" panose="020B0502040204020203" pitchFamily="34" charset="-122"/>
            </a:endParaRPr>
          </a:p>
        </p:txBody>
      </p:sp>
      <p:sp>
        <p:nvSpPr>
          <p:cNvPr id="54" name="ïṩlïḓe"/>
          <p:cNvSpPr txBox="1"/>
          <p:nvPr/>
        </p:nvSpPr>
        <p:spPr>
          <a:xfrm>
            <a:off x="8190186" y="3292748"/>
            <a:ext cx="3184950" cy="882028"/>
          </a:xfrm>
          <a:prstGeom prst="rect">
            <a:avLst/>
          </a:prstGeom>
          <a:noFill/>
        </p:spPr>
        <p:txBody>
          <a:bodyPr wrap="square" lIns="91440" tIns="45720" rIns="91440" bIns="4572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defRPr/>
            </a:pPr>
            <a:r>
              <a:rPr lang="zh-CN" altLang="en-US" sz="1000" dirty="0">
                <a:solidFill>
                  <a:prstClr val="black">
                    <a:lumMod val="100000"/>
                  </a:prstClr>
                </a:solidFill>
                <a:latin typeface="Arial" panose="020B0604020202020204"/>
                <a:ea typeface="微软雅黑 Light" panose="020B0502040204020203" pitchFamily="34" charset="-122"/>
              </a:rPr>
              <a:t>拆解操作后，零配件的回收率与是否进行二次检测有关，</a:t>
            </a:r>
            <a:endParaRPr lang="zh-CN" altLang="en-US" sz="1000" dirty="0">
              <a:solidFill>
                <a:prstClr val="black">
                  <a:lumMod val="100000"/>
                </a:prstClr>
              </a:solidFill>
              <a:latin typeface="Arial" panose="020B0604020202020204"/>
              <a:ea typeface="微软雅黑 Light" panose="020B0502040204020203" pitchFamily="34" charset="-122"/>
            </a:endParaRPr>
          </a:p>
          <a:p>
            <a:pPr marL="171450" indent="-171450">
              <a:lnSpc>
                <a:spcPct val="150000"/>
              </a:lnSpc>
              <a:buFont typeface="Arial" panose="020B0604020202020204" pitchFamily="34" charset="0"/>
              <a:buChar char="•"/>
              <a:defRPr/>
            </a:pPr>
            <a:r>
              <a:rPr lang="zh-CN" altLang="en-US" sz="1000" dirty="0">
                <a:solidFill>
                  <a:prstClr val="black">
                    <a:lumMod val="100000"/>
                  </a:prstClr>
                </a:solidFill>
                <a:latin typeface="Arial" panose="020B0604020202020204"/>
                <a:ea typeface="微软雅黑 Light" panose="020B0502040204020203" pitchFamily="34" charset="-122"/>
              </a:rPr>
              <a:t>分别记为 Rfull 和 Rhalf；拆解过程中零配件不受损，回收后的零配件可用于补充库存</a:t>
            </a:r>
            <a:endParaRPr lang="zh-CN" altLang="en-US" sz="1000" dirty="0">
              <a:solidFill>
                <a:prstClr val="black">
                  <a:lumMod val="100000"/>
                </a:prstClr>
              </a:solidFill>
              <a:latin typeface="Arial" panose="020B0604020202020204"/>
              <a:ea typeface="微软雅黑 Light" panose="020B0502040204020203" pitchFamily="34" charset="-122"/>
            </a:endParaRPr>
          </a:p>
        </p:txBody>
      </p:sp>
      <p:sp>
        <p:nvSpPr>
          <p:cNvPr id="56" name="íṥļiďê"/>
          <p:cNvSpPr txBox="1"/>
          <p:nvPr/>
        </p:nvSpPr>
        <p:spPr>
          <a:xfrm>
            <a:off x="8190186" y="4851170"/>
            <a:ext cx="31849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defRPr/>
            </a:pPr>
            <a:r>
              <a:rPr lang="zh-CN" altLang="en-US" sz="1100" dirty="0">
                <a:solidFill>
                  <a:prstClr val="black">
                    <a:lumMod val="100000"/>
                  </a:prstClr>
                </a:solidFill>
                <a:latin typeface="Arial" panose="020B0604020202020204"/>
                <a:ea typeface="微软雅黑 Light" panose="020B0502040204020203" pitchFamily="34" charset="-122"/>
              </a:rPr>
              <a:t>假设每轮生产的规模（成品数量）由库存决定，并且生产过程中会根据库存的变化进行调整</a:t>
            </a:r>
            <a:endParaRPr lang="zh-CN" altLang="en-US" sz="1100" dirty="0">
              <a:solidFill>
                <a:prstClr val="black">
                  <a:lumMod val="100000"/>
                </a:prstClr>
              </a:solidFill>
              <a:latin typeface="Arial" panose="020B0604020202020204"/>
              <a:ea typeface="微软雅黑 Light" panose="020B0502040204020203" pitchFamily="34" charset="-122"/>
            </a:endParaRPr>
          </a:p>
        </p:txBody>
      </p:sp>
      <p:sp>
        <p:nvSpPr>
          <p:cNvPr id="58" name="îṩlíḓê"/>
          <p:cNvSpPr txBox="1"/>
          <p:nvPr/>
        </p:nvSpPr>
        <p:spPr>
          <a:xfrm>
            <a:off x="816864" y="1734326"/>
            <a:ext cx="31722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panose="020B0604020202020204"/>
                <a:ea typeface="微软雅黑 Light" panose="020B0502040204020203" pitchFamily="34" charset="-122"/>
              </a:rPr>
              <a:t>假设零配件和成品的次品率</a:t>
            </a:r>
            <a:endParaRPr lang="zh-CN" altLang="en-US" sz="1100" dirty="0">
              <a:solidFill>
                <a:prstClr val="black">
                  <a:lumMod val="100000"/>
                </a:prstClr>
              </a:solidFill>
              <a:latin typeface="Arial" panose="020B0604020202020204"/>
              <a:ea typeface="微软雅黑 Light" panose="020B0502040204020203" pitchFamily="34" charset="-122"/>
            </a:endParaRPr>
          </a:p>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panose="020B0604020202020204"/>
                <a:ea typeface="微软雅黑 Light" panose="020B0502040204020203" pitchFamily="34" charset="-122"/>
              </a:rPr>
              <a:t>（即不合格品的比例）服从正态分布</a:t>
            </a:r>
            <a:endParaRPr lang="zh-CN" altLang="en-US" sz="1100" dirty="0">
              <a:solidFill>
                <a:prstClr val="black">
                  <a:lumMod val="100000"/>
                </a:prstClr>
              </a:solidFill>
              <a:latin typeface="Arial" panose="020B0604020202020204"/>
              <a:ea typeface="微软雅黑 Light" panose="020B0502040204020203" pitchFamily="34" charset="-122"/>
            </a:endParaRPr>
          </a:p>
          <a:p>
            <a:pPr marL="171450" indent="-171450" algn="r">
              <a:lnSpc>
                <a:spcPct val="150000"/>
              </a:lnSpc>
              <a:buFont typeface="Arial" panose="020B0604020202020204" pitchFamily="34" charset="0"/>
              <a:buChar char="•"/>
              <a:defRPr/>
            </a:pPr>
            <a:endParaRPr lang="en-US" altLang="zh-CN" sz="1100" dirty="0">
              <a:solidFill>
                <a:prstClr val="black">
                  <a:lumMod val="100000"/>
                </a:prstClr>
              </a:solidFill>
              <a:latin typeface="Arial" panose="020B0604020202020204"/>
              <a:ea typeface="微软雅黑 Light" panose="020B0502040204020203" pitchFamily="34" charset="-122"/>
            </a:endParaRPr>
          </a:p>
        </p:txBody>
      </p:sp>
      <p:sp>
        <p:nvSpPr>
          <p:cNvPr id="60" name="íṧļîďè"/>
          <p:cNvSpPr txBox="1"/>
          <p:nvPr/>
        </p:nvSpPr>
        <p:spPr>
          <a:xfrm>
            <a:off x="731520" y="3292748"/>
            <a:ext cx="3257594"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panose="020B0604020202020204"/>
                <a:ea typeface="微软雅黑 Light" panose="020B0502040204020203" pitchFamily="34" charset="-122"/>
              </a:rPr>
              <a:t>检测操作准确，即一经检测即可将不合格的零配件或成品准确剔除，</a:t>
            </a:r>
            <a:endParaRPr lang="zh-CN" altLang="en-US" sz="1100" dirty="0">
              <a:solidFill>
                <a:prstClr val="black">
                  <a:lumMod val="100000"/>
                </a:prstClr>
              </a:solidFill>
              <a:latin typeface="Arial" panose="020B0604020202020204"/>
              <a:ea typeface="微软雅黑 Light" panose="020B0502040204020203" pitchFamily="34" charset="-122"/>
            </a:endParaRPr>
          </a:p>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panose="020B0604020202020204"/>
                <a:ea typeface="微软雅黑 Light" panose="020B0502040204020203" pitchFamily="34" charset="-122"/>
              </a:rPr>
              <a:t>不存在漏检或误检现象</a:t>
            </a:r>
            <a:endParaRPr lang="zh-CN" altLang="en-US" sz="1100" dirty="0">
              <a:solidFill>
                <a:prstClr val="black">
                  <a:lumMod val="100000"/>
                </a:prstClr>
              </a:solidFill>
              <a:latin typeface="Arial" panose="020B0604020202020204"/>
              <a:ea typeface="微软雅黑 Light" panose="020B0502040204020203" pitchFamily="34" charset="-122"/>
            </a:endParaRPr>
          </a:p>
        </p:txBody>
      </p:sp>
      <p:sp>
        <p:nvSpPr>
          <p:cNvPr id="62" name="í$1íde"/>
          <p:cNvSpPr txBox="1"/>
          <p:nvPr/>
        </p:nvSpPr>
        <p:spPr>
          <a:xfrm>
            <a:off x="731520" y="4851170"/>
            <a:ext cx="3257594"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panose="020B0604020202020204"/>
                <a:ea typeface="微软雅黑 Light" panose="020B0502040204020203" pitchFamily="34" charset="-122"/>
              </a:rPr>
              <a:t>假设企业的零配件库存是有限的，并且每轮生产过程中会消耗一定量的零配件；</a:t>
            </a:r>
            <a:endParaRPr lang="zh-CN" altLang="en-US" sz="1100" dirty="0">
              <a:solidFill>
                <a:prstClr val="black">
                  <a:lumMod val="100000"/>
                </a:prstClr>
              </a:solidFill>
              <a:latin typeface="Arial" panose="020B0604020202020204"/>
              <a:ea typeface="微软雅黑 Light" panose="020B0502040204020203" pitchFamily="34" charset="-122"/>
            </a:endParaRPr>
          </a:p>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panose="020B0604020202020204"/>
                <a:ea typeface="微软雅黑 Light" panose="020B0502040204020203" pitchFamily="34" charset="-122"/>
              </a:rPr>
              <a:t>拆解不合格成品后回收的零配件能够补充库存</a:t>
            </a:r>
            <a:endParaRPr lang="zh-CN" altLang="en-US" sz="1100" dirty="0">
              <a:solidFill>
                <a:prstClr val="black">
                  <a:lumMod val="100000"/>
                </a:prstClr>
              </a:solidFill>
              <a:latin typeface="Arial" panose="020B0604020202020204"/>
              <a:ea typeface="微软雅黑 Light" panose="020B0502040204020203" pitchFamily="34" charset="-122"/>
            </a:endParaRPr>
          </a:p>
        </p:txBody>
      </p:sp>
      <p:sp>
        <p:nvSpPr>
          <p:cNvPr id="12" name="文本框 11"/>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b="13696"/>
          <a:stretch>
            <a:fillRect/>
          </a:stretch>
        </p:blipFill>
        <p:spPr>
          <a:xfrm>
            <a:off x="0" y="1"/>
            <a:ext cx="12204296" cy="3083074"/>
          </a:xfrm>
          <a:prstGeom prst="rect">
            <a:avLst/>
          </a:prstGeom>
        </p:spPr>
      </p:pic>
      <p:sp>
        <p:nvSpPr>
          <p:cNvPr id="5" name="矩形 4"/>
          <p:cNvSpPr/>
          <p:nvPr/>
        </p:nvSpPr>
        <p:spPr>
          <a:xfrm>
            <a:off x="0" y="0"/>
            <a:ext cx="12216765" cy="3083074"/>
          </a:xfrm>
          <a:prstGeom prst="rect">
            <a:avLst/>
          </a:prstGeom>
          <a:solidFill>
            <a:srgbClr val="961318">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charset="-122"/>
              <a:cs typeface="+mn-ea"/>
              <a:sym typeface="+mn-lt"/>
            </a:endParaRPr>
          </a:p>
        </p:txBody>
      </p:sp>
      <p:sp>
        <p:nvSpPr>
          <p:cNvPr id="6" name="文本占位符 8"/>
          <p:cNvSpPr txBox="1"/>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961318"/>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B0604020202020204"/>
              <a:ea typeface="微软雅黑" panose="020B0503020204020204" charset="-122"/>
              <a:cs typeface="+mn-ea"/>
              <a:sym typeface="+mn-lt"/>
            </a:endParaRPr>
          </a:p>
        </p:txBody>
      </p:sp>
      <p:sp>
        <p:nvSpPr>
          <p:cNvPr id="8" name="标题 4"/>
          <p:cNvSpPr txBox="1"/>
          <p:nvPr/>
        </p:nvSpPr>
        <p:spPr>
          <a:xfrm>
            <a:off x="2411730" y="4385310"/>
            <a:ext cx="7393940" cy="7467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r>
              <a:rPr lang="zh-CN" altLang="en-US" sz="5400" b="1" dirty="0">
                <a:solidFill>
                  <a:srgbClr val="961318"/>
                </a:solidFill>
                <a:latin typeface="微软雅黑" panose="020B0503020204020204" charset="-122"/>
                <a:ea typeface="微软雅黑" panose="020B0503020204020204" charset="-122"/>
              </a:rPr>
              <a:t>问题</a:t>
            </a:r>
            <a:r>
              <a:rPr lang="zh-CN" altLang="en-US" sz="5400" b="1" dirty="0">
                <a:solidFill>
                  <a:srgbClr val="961318"/>
                </a:solidFill>
                <a:latin typeface="微软雅黑" panose="020B0503020204020204" charset="-122"/>
                <a:ea typeface="微软雅黑" panose="020B0503020204020204" charset="-122"/>
              </a:rPr>
              <a:t>一模型建立和</a:t>
            </a:r>
            <a:r>
              <a:rPr lang="zh-CN" altLang="en-US" sz="5400" b="1" dirty="0">
                <a:solidFill>
                  <a:srgbClr val="961318"/>
                </a:solidFill>
                <a:latin typeface="微软雅黑" panose="020B0503020204020204" charset="-122"/>
                <a:ea typeface="微软雅黑" panose="020B0503020204020204" charset="-122"/>
              </a:rPr>
              <a:t>求解</a:t>
            </a:r>
            <a:endParaRPr lang="zh-CN" altLang="en-US" sz="5400" b="1" dirty="0">
              <a:solidFill>
                <a:srgbClr val="961318"/>
              </a:solidFill>
              <a:latin typeface="微软雅黑" panose="020B0503020204020204" charset="-122"/>
              <a:ea typeface="微软雅黑" panose="020B0503020204020204" charset="-122"/>
            </a:endParaRPr>
          </a:p>
        </p:txBody>
      </p:sp>
      <p:cxnSp>
        <p:nvCxnSpPr>
          <p:cNvPr id="9" name="直接连接符 8"/>
          <p:cNvCxnSpPr/>
          <p:nvPr/>
        </p:nvCxnSpPr>
        <p:spPr>
          <a:xfrm>
            <a:off x="3575720" y="5244190"/>
            <a:ext cx="4752528" cy="0"/>
          </a:xfrm>
          <a:prstGeom prst="line">
            <a:avLst/>
          </a:prstGeom>
          <a:noFill/>
          <a:ln w="28575" cap="flat" cmpd="sng" algn="ctr">
            <a:solidFill>
              <a:srgbClr val="961318"/>
            </a:solidFill>
            <a:prstDash val="solid"/>
            <a:headEnd type="oval" w="med" len="med"/>
            <a:tailEnd type="oval" w="med" len="med"/>
          </a:ln>
          <a:effectLst/>
        </p:spPr>
      </p:cxnSp>
      <p:sp>
        <p:nvSpPr>
          <p:cNvPr id="10" name="标题 4"/>
          <p:cNvSpPr txBox="1"/>
          <p:nvPr/>
        </p:nvSpPr>
        <p:spPr>
          <a:xfrm>
            <a:off x="2207565" y="5264024"/>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lnSpc>
                <a:spcPct val="125000"/>
              </a:lnSpc>
            </a:pPr>
            <a:endParaRPr lang="zh-CN" altLang="en-US" sz="2000" dirty="0">
              <a:solidFill>
                <a:srgbClr val="961318"/>
              </a:solidFill>
              <a:latin typeface="微软雅黑" panose="020B0503020204020204" charset="-122"/>
              <a:ea typeface="微软雅黑" panose="020B0503020204020204" charset="-122"/>
            </a:endParaRPr>
          </a:p>
        </p:txBody>
      </p:sp>
      <p:sp>
        <p:nvSpPr>
          <p:cNvPr id="11" name="文本框 10"/>
          <p:cNvSpPr txBox="1"/>
          <p:nvPr/>
        </p:nvSpPr>
        <p:spPr>
          <a:xfrm>
            <a:off x="10704512" y="6406826"/>
            <a:ext cx="1050925" cy="368300"/>
          </a:xfrm>
          <a:prstGeom prst="rect">
            <a:avLst/>
          </a:prstGeom>
          <a:noFill/>
        </p:spPr>
        <p:txBody>
          <a:bodyPr wrap="none" rtlCol="0">
            <a:spAutoFit/>
          </a:bodyPr>
          <a:lstStyle/>
          <a:p>
            <a:pPr>
              <a:defRPr/>
            </a:pPr>
            <a:r>
              <a:rPr lang="en-US" altLang="zh-CN" b="1" dirty="0">
                <a:solidFill>
                  <a:srgbClr val="961318">
                    <a:alpha val="70000"/>
                  </a:srgbClr>
                </a:solidFill>
                <a:latin typeface="Calibri" panose="020F0502020204030204"/>
                <a:ea typeface="宋体" panose="02010600030101010101" pitchFamily="2" charset="-122"/>
              </a:rPr>
              <a:t>April 10</a:t>
            </a:r>
            <a:r>
              <a:rPr lang="en-US" altLang="zh-CN" b="1" baseline="30000" dirty="0">
                <a:solidFill>
                  <a:srgbClr val="961318">
                    <a:alpha val="70000"/>
                  </a:srgbClr>
                </a:solidFill>
                <a:latin typeface="Calibri" panose="020F0502020204030204"/>
                <a:ea typeface="宋体" panose="02010600030101010101" pitchFamily="2" charset="-122"/>
              </a:rPr>
              <a:t>th</a:t>
            </a:r>
            <a:endParaRPr lang="zh-CN" altLang="en-US" b="1" baseline="30000" dirty="0">
              <a:solidFill>
                <a:srgbClr val="961318">
                  <a:alpha val="70000"/>
                </a:srgbClr>
              </a:solidFill>
              <a:latin typeface="Calibri" panose="020F0502020204030204"/>
              <a:ea typeface="宋体" panose="02010600030101010101" pitchFamily="2" charset="-122"/>
            </a:endParaRPr>
          </a:p>
        </p:txBody>
      </p:sp>
      <p:sp>
        <p:nvSpPr>
          <p:cNvPr id="12" name="文本框 11"/>
          <p:cNvSpPr txBox="1"/>
          <p:nvPr/>
        </p:nvSpPr>
        <p:spPr>
          <a:xfrm>
            <a:off x="5250253" y="2386575"/>
            <a:ext cx="1675130" cy="144526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02</a:t>
            </a:r>
            <a:endParaRPr lang="zh-CN" altLang="en-US" sz="8800" b="1" dirty="0">
              <a:solidFill>
                <a:prstClr val="white"/>
              </a:solidFill>
              <a:latin typeface="Arial Black" panose="020B0A04020102020204" pitchFamily="34" charset="0"/>
              <a:ea typeface="宋体" panose="02010600030101010101" pitchFamily="2" charset="-122"/>
            </a:endParaRPr>
          </a:p>
        </p:txBody>
      </p:sp>
    </p:spTree>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93041"/>
            <a:chOff x="335361" y="116633"/>
            <a:chExt cx="11521279" cy="693041"/>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a:t>
              </a:r>
              <a:r>
                <a:rPr kumimoji="0" lang="en-US" altLang="zh-CN"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1</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3" name="矩形 2"/>
          <p:cNvSpPr/>
          <p:nvPr/>
        </p:nvSpPr>
        <p:spPr>
          <a:xfrm>
            <a:off x="5837020" y="1717133"/>
            <a:ext cx="5875555" cy="4441390"/>
          </a:xfrm>
          <a:prstGeom prst="rect">
            <a:avLst/>
          </a:prstGeom>
          <a:solidFill>
            <a:srgbClr val="FFFFFF"/>
          </a:solidFill>
          <a:ln w="635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lIns="108000" tIns="612000" rIns="108000" bIns="0" rtlCol="0" anchor="t"/>
          <a:lstStyle/>
          <a:p>
            <a:pPr marL="285750" indent="-285750" defTabSz="457200">
              <a:lnSpc>
                <a:spcPct val="120000"/>
              </a:lnSpc>
              <a:spcAft>
                <a:spcPts val="1200"/>
              </a:spcAft>
              <a:buClr>
                <a:srgbClr val="961318"/>
              </a:buClr>
              <a:buFont typeface="Arial" panose="020B0604020202020204" pitchFamily="34" charset="0"/>
              <a:buChar char="•"/>
            </a:pPr>
            <a:r>
              <a:rPr lang="zh-CN" altLang="en-US" dirty="0"/>
              <a:t>供应商声称一批零配件（零配件</a:t>
            </a:r>
            <a:r>
              <a:rPr lang="en-US" altLang="zh-CN" dirty="0"/>
              <a:t>1</a:t>
            </a:r>
            <a:r>
              <a:rPr lang="zh-CN" altLang="en-US" dirty="0"/>
              <a:t>或零配件</a:t>
            </a:r>
            <a:r>
              <a:rPr lang="en-US" altLang="zh-CN" dirty="0"/>
              <a:t>2</a:t>
            </a:r>
            <a:r>
              <a:rPr lang="zh-CN" altLang="en-US" dirty="0"/>
              <a:t>）的次品率不会超过某个标称值。 企业准备采用抽样检测方法决定是否接收从供应商购买的这批零配件，检测费用由企业自行 承担。请为企业设计检测次数尽可能少的抽样检测方案。 如果标称值为</a:t>
            </a:r>
            <a:r>
              <a:rPr lang="en-US" altLang="zh-CN" dirty="0"/>
              <a:t>10%</a:t>
            </a:r>
            <a:r>
              <a:rPr lang="zh-CN" altLang="en-US" dirty="0"/>
              <a:t>，根据你们的抽样检测方案，针对以下两种情形，分别给出具体结果： </a:t>
            </a:r>
            <a:endParaRPr lang="en-US" altLang="zh-CN" dirty="0"/>
          </a:p>
          <a:p>
            <a:pPr marL="285750" indent="-285750" defTabSz="457200">
              <a:lnSpc>
                <a:spcPct val="120000"/>
              </a:lnSpc>
              <a:spcAft>
                <a:spcPts val="1200"/>
              </a:spcAft>
              <a:buClr>
                <a:srgbClr val="961318"/>
              </a:buClr>
              <a:buFont typeface="Arial" panose="020B0604020202020204" pitchFamily="34" charset="0"/>
              <a:buChar char="•"/>
            </a:pPr>
            <a:r>
              <a:rPr lang="en-US" altLang="zh-CN" dirty="0"/>
              <a:t>(1) </a:t>
            </a:r>
            <a:r>
              <a:rPr lang="zh-CN" altLang="en-US" dirty="0"/>
              <a:t>在</a:t>
            </a:r>
            <a:r>
              <a:rPr lang="en-US" altLang="zh-CN" dirty="0"/>
              <a:t>95%</a:t>
            </a:r>
            <a:r>
              <a:rPr lang="zh-CN" altLang="en-US" dirty="0"/>
              <a:t>的信度下认定零配件次品率超过标称值，则拒收这批零配件；</a:t>
            </a:r>
            <a:endParaRPr lang="en-US" altLang="zh-CN" dirty="0"/>
          </a:p>
          <a:p>
            <a:pPr marL="285750" indent="-285750" defTabSz="457200">
              <a:lnSpc>
                <a:spcPct val="120000"/>
              </a:lnSpc>
              <a:spcAft>
                <a:spcPts val="1200"/>
              </a:spcAft>
              <a:buClr>
                <a:srgbClr val="961318"/>
              </a:buClr>
              <a:buFont typeface="Arial" panose="020B0604020202020204" pitchFamily="34" charset="0"/>
              <a:buChar char="•"/>
            </a:pPr>
            <a:r>
              <a:rPr lang="zh-CN" altLang="en-US" dirty="0"/>
              <a:t> </a:t>
            </a:r>
            <a:r>
              <a:rPr lang="en-US" altLang="zh-CN" dirty="0"/>
              <a:t>(2) </a:t>
            </a:r>
            <a:r>
              <a:rPr lang="zh-CN" altLang="en-US" dirty="0"/>
              <a:t>在</a:t>
            </a:r>
            <a:r>
              <a:rPr lang="en-US" altLang="zh-CN" dirty="0"/>
              <a:t>90%</a:t>
            </a:r>
            <a:r>
              <a:rPr lang="zh-CN" altLang="en-US" dirty="0"/>
              <a:t>的信度下认定零配件次品率不超过标称值，则接收这批零配件。</a:t>
            </a:r>
            <a:endParaRPr lang="zh-CN" altLang="en-US" kern="0" dirty="0">
              <a:solidFill>
                <a:srgbClr val="000000">
                  <a:lumMod val="75000"/>
                  <a:lumOff val="25000"/>
                </a:srgbClr>
              </a:solidFill>
              <a:latin typeface="Arial" panose="020B0604020202020204"/>
              <a:ea typeface="宋体" panose="02010600030101010101" pitchFamily="2" charset="-122"/>
              <a:cs typeface="+mn-ea"/>
              <a:sym typeface="+mn-lt"/>
            </a:endParaRPr>
          </a:p>
        </p:txBody>
      </p:sp>
      <p:sp>
        <p:nvSpPr>
          <p:cNvPr id="4" name="矩形 3"/>
          <p:cNvSpPr/>
          <p:nvPr/>
        </p:nvSpPr>
        <p:spPr>
          <a:xfrm>
            <a:off x="5849085" y="1597257"/>
            <a:ext cx="5875555" cy="457200"/>
          </a:xfrm>
          <a:prstGeom prst="rect">
            <a:avLst/>
          </a:prstGeom>
          <a:solidFill>
            <a:srgbClr val="961318"/>
          </a:solidFill>
          <a:ln w="12700" cap="flat" cmpd="sng" algn="ctr">
            <a:noFill/>
            <a:prstDash val="solid"/>
            <a:miter lim="800000"/>
          </a:ln>
          <a:effectLst/>
        </p:spPr>
        <p:txBody>
          <a:bodyPr rtlCol="0" anchor="ctr"/>
          <a:lstStyle/>
          <a:p>
            <a:pPr algn="ctr" defTabSz="457200">
              <a:defRPr/>
            </a:pPr>
            <a:r>
              <a:rPr lang="zh-CN" altLang="en-US" sz="2000" b="1" kern="0" dirty="0">
                <a:solidFill>
                  <a:srgbClr val="FFFFFF"/>
                </a:solidFill>
                <a:latin typeface="Arial" panose="020B0604020202020204"/>
                <a:ea typeface="宋体" panose="02010600030101010101" pitchFamily="2" charset="-122"/>
                <a:cs typeface="+mn-ea"/>
                <a:sym typeface="+mn-lt"/>
              </a:rPr>
              <a:t>题目要求</a:t>
            </a:r>
            <a:endParaRPr lang="en-US" sz="2000" b="1" kern="0" dirty="0">
              <a:solidFill>
                <a:srgbClr val="FFFFFF"/>
              </a:solidFill>
              <a:latin typeface="Arial" panose="020B0604020202020204"/>
              <a:sym typeface="+mn-lt"/>
            </a:endParaRPr>
          </a:p>
        </p:txBody>
      </p:sp>
      <p:sp>
        <p:nvSpPr>
          <p:cNvPr id="5" name="L 形 4"/>
          <p:cNvSpPr/>
          <p:nvPr/>
        </p:nvSpPr>
        <p:spPr bwMode="auto">
          <a:xfrm rot="5400000">
            <a:off x="467360" y="1282990"/>
            <a:ext cx="628535" cy="628535"/>
          </a:xfrm>
          <a:prstGeom prst="corner">
            <a:avLst>
              <a:gd name="adj1" fmla="val 11572"/>
              <a:gd name="adj2" fmla="val 11638"/>
            </a:avLst>
          </a:prstGeom>
          <a:solidFill>
            <a:srgbClr val="961318"/>
          </a:solidFill>
          <a:ln>
            <a:solidFill>
              <a:srgbClr val="961318"/>
            </a:solidFill>
          </a:ln>
        </p:spPr>
        <p:txBody>
          <a:bodyPr rot="0" spcFirstLastPara="0" vertOverflow="overflow" horzOverflow="overflow" vert="horz" wrap="square" lIns="91440" tIns="45720" rIns="91440" bIns="45720" numCol="1" spcCol="0" rtlCol="0" fromWordArt="0" anchor="ctr" anchorCtr="0" forceAA="0" compatLnSpc="1">
            <a:noAutofit/>
          </a:bodyPr>
          <a:lstStyle/>
          <a:p>
            <a:pPr algn="ctr">
              <a:buSzPct val="25000"/>
              <a:defRPr/>
            </a:pPr>
            <a:endParaRPr lang="en-US" b="1" kern="0" dirty="0">
              <a:solidFill>
                <a:srgbClr val="FFFFFF"/>
              </a:solidFill>
              <a:latin typeface="Arial" panose="020B0604020202020204"/>
              <a:sym typeface="+mn-lt"/>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1627" y="2312928"/>
            <a:ext cx="4646332" cy="3149129"/>
          </a:xfrm>
          <a:prstGeom prst="rect">
            <a:avLst/>
          </a:prstGeom>
        </p:spPr>
      </p:pic>
      <p:sp>
        <p:nvSpPr>
          <p:cNvPr id="6" name="文本框 5"/>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bwMode="auto">
          <a:xfrm>
            <a:off x="0" y="1208044"/>
            <a:ext cx="12192000" cy="5976664"/>
          </a:xfrm>
          <a:custGeom>
            <a:avLst/>
            <a:gdLst>
              <a:gd name="connsiteX0" fmla="*/ 6100513 w 12192000"/>
              <a:gd name="connsiteY0" fmla="*/ 65 h 5266033"/>
              <a:gd name="connsiteX1" fmla="*/ 12185886 w 12192000"/>
              <a:gd name="connsiteY1" fmla="*/ 2644790 h 5266033"/>
              <a:gd name="connsiteX2" fmla="*/ 12192000 w 12192000"/>
              <a:gd name="connsiteY2" fmla="*/ 2651338 h 5266033"/>
              <a:gd name="connsiteX3" fmla="*/ 12192000 w 12192000"/>
              <a:gd name="connsiteY3" fmla="*/ 5266033 h 5266033"/>
              <a:gd name="connsiteX4" fmla="*/ 0 w 12192000"/>
              <a:gd name="connsiteY4" fmla="*/ 5266033 h 5266033"/>
              <a:gd name="connsiteX5" fmla="*/ 0 w 12192000"/>
              <a:gd name="connsiteY5" fmla="*/ 2594379 h 5266033"/>
              <a:gd name="connsiteX6" fmla="*/ 269306 w 12192000"/>
              <a:gd name="connsiteY6" fmla="*/ 2332469 h 5266033"/>
              <a:gd name="connsiteX7" fmla="*/ 6100513 w 12192000"/>
              <a:gd name="connsiteY7" fmla="*/ 65 h 526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66033">
                <a:moveTo>
                  <a:pt x="6100513" y="65"/>
                </a:moveTo>
                <a:cubicBezTo>
                  <a:pt x="8454195" y="9342"/>
                  <a:pt x="10597144" y="1011405"/>
                  <a:pt x="12185886" y="2644790"/>
                </a:cubicBezTo>
                <a:lnTo>
                  <a:pt x="12192000" y="2651338"/>
                </a:lnTo>
                <a:lnTo>
                  <a:pt x="12192000" y="5266033"/>
                </a:lnTo>
                <a:lnTo>
                  <a:pt x="0" y="5266033"/>
                </a:lnTo>
                <a:lnTo>
                  <a:pt x="0" y="2594379"/>
                </a:lnTo>
                <a:lnTo>
                  <a:pt x="269306" y="2332469"/>
                </a:lnTo>
                <a:cubicBezTo>
                  <a:pt x="1836778" y="869501"/>
                  <a:pt x="3877638" y="-8699"/>
                  <a:pt x="6100513" y="65"/>
                </a:cubicBezTo>
                <a:close/>
              </a:path>
            </a:pathLst>
          </a:custGeom>
          <a:gradFill>
            <a:gsLst>
              <a:gs pos="57000">
                <a:srgbClr val="961318">
                  <a:alpha val="0"/>
                </a:srgbClr>
              </a:gs>
              <a:gs pos="100000">
                <a:srgbClr val="961318">
                  <a:alpha val="10000"/>
                </a:srgbClr>
              </a:gs>
            </a:gsLst>
            <a:lin ang="16200000" scaled="0"/>
          </a:gradFill>
          <a:ln w="12700" cap="flat">
            <a:gradFill>
              <a:gsLst>
                <a:gs pos="25000">
                  <a:srgbClr val="961318">
                    <a:alpha val="0"/>
                  </a:srgbClr>
                </a:gs>
                <a:gs pos="0">
                  <a:srgbClr val="961318"/>
                </a:gs>
              </a:gsLst>
              <a:lin ang="5400000" scaled="0"/>
            </a:gradFill>
            <a:prstDash val="solid"/>
            <a:miter lim="800000"/>
          </a:ln>
        </p:spPr>
        <p:txBody>
          <a:bodyPr wrap="square" anchor="ctr">
            <a:noAutofit/>
          </a:bodyPr>
          <a:lstStyle/>
          <a:p>
            <a:pPr algn="ctr">
              <a:defRPr/>
            </a:pPr>
            <a:endParaRPr lang="en-US" altLang="zh-CN" kern="0" dirty="0">
              <a:solidFill>
                <a:srgbClr val="000000"/>
              </a:solidFill>
              <a:latin typeface="Arial" panose="020B0604020202020204"/>
              <a:ea typeface="微软雅黑" panose="020B0503020204020204" charset="-122"/>
              <a:cs typeface="+mn-ea"/>
              <a:sym typeface="+mn-lt"/>
            </a:endParaRPr>
          </a:p>
          <a:p>
            <a:pPr algn="ctr">
              <a:defRPr/>
            </a:pPr>
            <a:endParaRPr kern="0" dirty="0">
              <a:solidFill>
                <a:srgbClr val="000000"/>
              </a:solidFill>
              <a:latin typeface="Arial" panose="020B0604020202020204"/>
              <a:ea typeface="微软雅黑" panose="020B0503020204020204" charset="-122"/>
              <a:sym typeface="+mn-lt"/>
            </a:endParaRPr>
          </a:p>
        </p:txBody>
      </p:sp>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a:t>
              </a:r>
              <a:r>
                <a:rPr kumimoji="0" lang="en-US" altLang="zh-CN"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1</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研究流程</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任意多边形: 形状 14"/>
          <p:cNvSpPr/>
          <p:nvPr/>
        </p:nvSpPr>
        <p:spPr>
          <a:xfrm>
            <a:off x="2629956" y="3222824"/>
            <a:ext cx="7022088" cy="3227290"/>
          </a:xfrm>
          <a:custGeom>
            <a:avLst/>
            <a:gdLst>
              <a:gd name="connsiteX0" fmla="*/ 3511044 w 7022088"/>
              <a:gd name="connsiteY0" fmla="*/ 0 h 3227290"/>
              <a:gd name="connsiteX1" fmla="*/ 4522718 w 7022088"/>
              <a:gd name="connsiteY1" fmla="*/ 549829 h 3227290"/>
              <a:gd name="connsiteX2" fmla="*/ 5680998 w 7022088"/>
              <a:gd name="connsiteY2" fmla="*/ 670538 h 3227290"/>
              <a:gd name="connsiteX3" fmla="*/ 6159626 w 7022088"/>
              <a:gd name="connsiteY3" fmla="*/ 1680902 h 3227290"/>
              <a:gd name="connsiteX4" fmla="*/ 7022088 w 7022088"/>
              <a:gd name="connsiteY4" fmla="*/ 2426058 h 3227290"/>
              <a:gd name="connsiteX5" fmla="*/ 6846900 w 7022088"/>
              <a:gd name="connsiteY5" fmla="*/ 3227290 h 3227290"/>
              <a:gd name="connsiteX6" fmla="*/ 175188 w 7022088"/>
              <a:gd name="connsiteY6" fmla="*/ 3227290 h 3227290"/>
              <a:gd name="connsiteX7" fmla="*/ 0 w 7022088"/>
              <a:gd name="connsiteY7" fmla="*/ 2426058 h 3227290"/>
              <a:gd name="connsiteX8" fmla="*/ 862462 w 7022088"/>
              <a:gd name="connsiteY8" fmla="*/ 1680902 h 3227290"/>
              <a:gd name="connsiteX9" fmla="*/ 1341090 w 7022088"/>
              <a:gd name="connsiteY9" fmla="*/ 670538 h 3227290"/>
              <a:gd name="connsiteX10" fmla="*/ 2499371 w 7022088"/>
              <a:gd name="connsiteY10" fmla="*/ 549829 h 322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22088" h="3227290">
                <a:moveTo>
                  <a:pt x="3511044" y="0"/>
                </a:moveTo>
                <a:lnTo>
                  <a:pt x="4522718" y="549829"/>
                </a:lnTo>
                <a:lnTo>
                  <a:pt x="5680998" y="670538"/>
                </a:lnTo>
                <a:lnTo>
                  <a:pt x="6159626" y="1680902"/>
                </a:lnTo>
                <a:lnTo>
                  <a:pt x="7022088" y="2426058"/>
                </a:lnTo>
                <a:lnTo>
                  <a:pt x="6846900" y="3227290"/>
                </a:lnTo>
                <a:lnTo>
                  <a:pt x="175188" y="3227290"/>
                </a:lnTo>
                <a:lnTo>
                  <a:pt x="0" y="2426058"/>
                </a:lnTo>
                <a:lnTo>
                  <a:pt x="862462" y="1680902"/>
                </a:lnTo>
                <a:lnTo>
                  <a:pt x="1341090" y="670538"/>
                </a:lnTo>
                <a:lnTo>
                  <a:pt x="2499371" y="549829"/>
                </a:lnTo>
                <a:close/>
              </a:path>
            </a:pathLst>
          </a:custGeom>
          <a:gradFill>
            <a:gsLst>
              <a:gs pos="56000">
                <a:srgbClr val="961318">
                  <a:alpha val="0"/>
                </a:srgbClr>
              </a:gs>
              <a:gs pos="97279">
                <a:srgbClr val="961318">
                  <a:alpha val="10000"/>
                </a:srgbClr>
              </a:gs>
            </a:gsLst>
            <a:lin ang="16200000" scaled="0"/>
          </a:gradFill>
          <a:ln w="12700" cap="flat">
            <a:gradFill>
              <a:gsLst>
                <a:gs pos="25000">
                  <a:srgbClr val="961318">
                    <a:alpha val="0"/>
                  </a:srgbClr>
                </a:gs>
                <a:gs pos="0">
                  <a:srgbClr val="961318"/>
                </a:gs>
              </a:gsLst>
              <a:lin ang="5400000" scaled="0"/>
            </a:gradFill>
            <a:prstDash val="solid"/>
            <a:miter lim="800000"/>
          </a:ln>
        </p:spPr>
        <p:txBody>
          <a:bodyPr wrap="square" anchor="ctr">
            <a:noAutofit/>
          </a:bodyPr>
          <a:lstStyle/>
          <a:p>
            <a:pPr algn="ctr">
              <a:defRPr/>
            </a:pPr>
            <a:endParaRPr lang="zh-CN" altLang="en-US" kern="0" dirty="0">
              <a:solidFill>
                <a:srgbClr val="000000"/>
              </a:solidFill>
              <a:latin typeface="Arial" panose="020B0604020202020204"/>
              <a:ea typeface="微软雅黑" panose="020B0503020204020204" charset="-122"/>
              <a:cs typeface="+mn-ea"/>
            </a:endParaRPr>
          </a:p>
        </p:txBody>
      </p:sp>
      <p:pic>
        <p:nvPicPr>
          <p:cNvPr id="17" name="图片占位符 15" descr="D:\360MoveData\Users\xiaoxiao\Desktop\005tu2Ryly1hdw28gp2kjj30u0190n0s.jpg005tu2Ryly1hdw28gp2kjj30u0190n0s"/>
          <p:cNvPicPr>
            <a:picLocks noChangeAspect="1"/>
          </p:cNvPicPr>
          <p:nvPr/>
        </p:nvPicPr>
        <p:blipFill>
          <a:blip r:embed="rId1"/>
          <a:srcRect/>
          <a:stretch>
            <a:fillRect/>
          </a:stretch>
        </p:blipFill>
        <p:spPr>
          <a:xfrm>
            <a:off x="5377815" y="4303395"/>
            <a:ext cx="1700530" cy="2550160"/>
          </a:xfrm>
          <a:custGeom>
            <a:avLst/>
            <a:gdLst>
              <a:gd name="connsiteX0" fmla="*/ 2387147 w 4774294"/>
              <a:gd name="connsiteY0" fmla="*/ 0 h 2306075"/>
              <a:gd name="connsiteX1" fmla="*/ 4766259 w 4774294"/>
              <a:gd name="connsiteY1" fmla="*/ 2146945 h 2306075"/>
              <a:gd name="connsiteX2" fmla="*/ 4774294 w 4774294"/>
              <a:gd name="connsiteY2" fmla="*/ 2306075 h 2306075"/>
              <a:gd name="connsiteX3" fmla="*/ 0 w 4774294"/>
              <a:gd name="connsiteY3" fmla="*/ 2306075 h 2306075"/>
              <a:gd name="connsiteX4" fmla="*/ 8035 w 4774294"/>
              <a:gd name="connsiteY4" fmla="*/ 2146945 h 2306075"/>
              <a:gd name="connsiteX5" fmla="*/ 2387147 w 4774294"/>
              <a:gd name="connsiteY5" fmla="*/ 0 h 230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294" h="2306075">
                <a:moveTo>
                  <a:pt x="2387147" y="0"/>
                </a:moveTo>
                <a:cubicBezTo>
                  <a:pt x="3625365" y="0"/>
                  <a:pt x="4643793" y="941038"/>
                  <a:pt x="4766259" y="2146945"/>
                </a:cubicBezTo>
                <a:lnTo>
                  <a:pt x="4774294" y="2306075"/>
                </a:lnTo>
                <a:lnTo>
                  <a:pt x="0" y="2306075"/>
                </a:lnTo>
                <a:lnTo>
                  <a:pt x="8035" y="2146945"/>
                </a:lnTo>
                <a:cubicBezTo>
                  <a:pt x="130502" y="941038"/>
                  <a:pt x="1148928" y="0"/>
                  <a:pt x="2387147" y="0"/>
                </a:cubicBezTo>
                <a:close/>
              </a:path>
            </a:pathLst>
          </a:custGeom>
        </p:spPr>
      </p:pic>
      <p:sp>
        <p:nvSpPr>
          <p:cNvPr id="18" name="î$1iďè"/>
          <p:cNvSpPr/>
          <p:nvPr/>
        </p:nvSpPr>
        <p:spPr bwMode="auto">
          <a:xfrm>
            <a:off x="1979910" y="5015881"/>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19" name="íṥ1ïḍè"/>
          <p:cNvSpPr/>
          <p:nvPr/>
        </p:nvSpPr>
        <p:spPr>
          <a:xfrm>
            <a:off x="2101286" y="516307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sp>
        <p:nvSpPr>
          <p:cNvPr id="20" name="íṡļíḋé"/>
          <p:cNvSpPr/>
          <p:nvPr/>
        </p:nvSpPr>
        <p:spPr bwMode="auto">
          <a:xfrm>
            <a:off x="3367021" y="3202020"/>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1" name="íṡ1îḍé"/>
          <p:cNvSpPr/>
          <p:nvPr/>
        </p:nvSpPr>
        <p:spPr>
          <a:xfrm>
            <a:off x="3488397" y="3349214"/>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sp>
        <p:nvSpPr>
          <p:cNvPr id="22" name="ïṡ1îḋè"/>
          <p:cNvSpPr/>
          <p:nvPr/>
        </p:nvSpPr>
        <p:spPr bwMode="auto">
          <a:xfrm>
            <a:off x="5763630" y="2451397"/>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3" name="îṧľíḑê"/>
          <p:cNvSpPr/>
          <p:nvPr/>
        </p:nvSpPr>
        <p:spPr>
          <a:xfrm>
            <a:off x="5885006" y="2598591"/>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grpSp>
        <p:nvGrpSpPr>
          <p:cNvPr id="24" name="íṧľîḍé"/>
          <p:cNvGrpSpPr/>
          <p:nvPr/>
        </p:nvGrpSpPr>
        <p:grpSpPr>
          <a:xfrm>
            <a:off x="8291484" y="3202466"/>
            <a:ext cx="664739" cy="664739"/>
            <a:chOff x="1927743" y="4305183"/>
            <a:chExt cx="719999" cy="719999"/>
          </a:xfrm>
        </p:grpSpPr>
        <p:sp>
          <p:nvSpPr>
            <p:cNvPr id="25" name="îś1ïḋè"/>
            <p:cNvSpPr/>
            <p:nvPr/>
          </p:nvSpPr>
          <p:spPr bwMode="auto">
            <a:xfrm>
              <a:off x="1927743" y="4305183"/>
              <a:ext cx="719999" cy="71999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6" name="ïşḷíḋé"/>
            <p:cNvSpPr/>
            <p:nvPr/>
          </p:nvSpPr>
          <p:spPr>
            <a:xfrm>
              <a:off x="2059209" y="4464613"/>
              <a:ext cx="457067" cy="401138"/>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grpSp>
      <p:sp>
        <p:nvSpPr>
          <p:cNvPr id="27" name="îšḷïḓé"/>
          <p:cNvSpPr/>
          <p:nvPr/>
        </p:nvSpPr>
        <p:spPr bwMode="auto">
          <a:xfrm>
            <a:off x="9734743" y="5015881"/>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8" name="ísḻíḍè"/>
          <p:cNvSpPr/>
          <p:nvPr/>
        </p:nvSpPr>
        <p:spPr>
          <a:xfrm>
            <a:off x="9856119" y="516307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sp>
        <p:nvSpPr>
          <p:cNvPr id="29" name="文本框 28"/>
          <p:cNvSpPr txBox="1"/>
          <p:nvPr/>
        </p:nvSpPr>
        <p:spPr>
          <a:xfrm>
            <a:off x="9471081" y="3930311"/>
            <a:ext cx="1631004" cy="369332"/>
          </a:xfrm>
          <a:prstGeom prst="rect">
            <a:avLst/>
          </a:prstGeom>
          <a:noFill/>
        </p:spPr>
        <p:txBody>
          <a:bodyPr wrap="square" rtlCol="0">
            <a:spAutoFit/>
          </a:bodyPr>
          <a:lstStyle/>
          <a:p>
            <a:r>
              <a:rPr lang="zh-CN" altLang="en-US" dirty="0">
                <a:solidFill>
                  <a:srgbClr val="961318"/>
                </a:solidFill>
                <a:latin typeface="Arial" panose="020B0604020202020204"/>
                <a:ea typeface="微软雅黑" panose="020B0503020204020204" charset="-122"/>
                <a:cs typeface="+mn-ea"/>
                <a:sym typeface="+mn-lt"/>
              </a:rPr>
              <a:t>分析后续问题</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30" name="文本框 29"/>
          <p:cNvSpPr txBox="1"/>
          <p:nvPr/>
        </p:nvSpPr>
        <p:spPr>
          <a:xfrm>
            <a:off x="9080365" y="4299643"/>
            <a:ext cx="2361068" cy="738664"/>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效度函数的定义，以及</a:t>
            </a:r>
            <a:r>
              <a:rPr lang="en-US" altLang="zh-CN" sz="1400" dirty="0">
                <a:solidFill>
                  <a:srgbClr val="768394"/>
                </a:solidFill>
                <a:latin typeface="Arial" panose="020B0604020202020204"/>
                <a:ea typeface="微软雅黑" panose="020B0503020204020204" charset="-122"/>
                <a:cs typeface="+mn-ea"/>
                <a:sym typeface="+mn-lt"/>
              </a:rPr>
              <a:t>K(n,p0)</a:t>
            </a:r>
            <a:r>
              <a:rPr lang="zh-CN" altLang="en-US" sz="1400" dirty="0">
                <a:solidFill>
                  <a:srgbClr val="768394"/>
                </a:solidFill>
                <a:latin typeface="Arial" panose="020B0604020202020204"/>
                <a:ea typeface="微软雅黑" panose="020B0503020204020204" charset="-122"/>
                <a:cs typeface="+mn-ea"/>
                <a:sym typeface="+mn-lt"/>
              </a:rPr>
              <a:t>在后续问题中能决定什么</a:t>
            </a:r>
            <a:endParaRPr lang="zh-CN" altLang="en-US" sz="1400" dirty="0">
              <a:solidFill>
                <a:srgbClr val="768394"/>
              </a:solidFill>
              <a:latin typeface="Arial" panose="020B0604020202020204"/>
              <a:ea typeface="微软雅黑" panose="020B0503020204020204" charset="-122"/>
              <a:cs typeface="+mn-ea"/>
              <a:sym typeface="+mn-lt"/>
            </a:endParaRPr>
          </a:p>
        </p:txBody>
      </p:sp>
      <p:sp>
        <p:nvSpPr>
          <p:cNvPr id="31" name="文本框 30"/>
          <p:cNvSpPr txBox="1"/>
          <p:nvPr/>
        </p:nvSpPr>
        <p:spPr>
          <a:xfrm>
            <a:off x="7887446" y="2116896"/>
            <a:ext cx="1631004" cy="369332"/>
          </a:xfrm>
          <a:prstGeom prst="rect">
            <a:avLst/>
          </a:prstGeom>
          <a:noFill/>
        </p:spPr>
        <p:txBody>
          <a:bodyPr wrap="square" rtlCol="0">
            <a:spAutoFit/>
          </a:bodyPr>
          <a:lstStyle/>
          <a:p>
            <a:r>
              <a:rPr lang="zh-CN" altLang="en-US" dirty="0">
                <a:solidFill>
                  <a:srgbClr val="961318"/>
                </a:solidFill>
                <a:latin typeface="Arial" panose="020B0604020202020204"/>
                <a:ea typeface="微软雅黑" panose="020B0503020204020204" charset="-122"/>
                <a:cs typeface="+mn-ea"/>
                <a:sym typeface="+mn-lt"/>
              </a:rPr>
              <a:t>选取样本量</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32" name="文本框 31"/>
          <p:cNvSpPr txBox="1"/>
          <p:nvPr/>
        </p:nvSpPr>
        <p:spPr>
          <a:xfrm>
            <a:off x="7496730" y="2486228"/>
            <a:ext cx="2361068" cy="523220"/>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定义评价指标，平衡成本与检测效果</a:t>
            </a:r>
            <a:endParaRPr lang="zh-CN" altLang="en-US" sz="1400" dirty="0">
              <a:solidFill>
                <a:srgbClr val="768394"/>
              </a:solidFill>
              <a:latin typeface="Arial" panose="020B0604020202020204"/>
              <a:ea typeface="微软雅黑" panose="020B0503020204020204" charset="-122"/>
              <a:cs typeface="+mn-ea"/>
              <a:sym typeface="+mn-lt"/>
            </a:endParaRPr>
          </a:p>
        </p:txBody>
      </p:sp>
      <p:sp>
        <p:nvSpPr>
          <p:cNvPr id="38" name="文本框 37"/>
          <p:cNvSpPr txBox="1"/>
          <p:nvPr/>
        </p:nvSpPr>
        <p:spPr>
          <a:xfrm>
            <a:off x="5280498" y="1349014"/>
            <a:ext cx="1631004" cy="369332"/>
          </a:xfrm>
          <a:prstGeom prst="rect">
            <a:avLst/>
          </a:prstGeom>
          <a:noFill/>
        </p:spPr>
        <p:txBody>
          <a:bodyPr wrap="square" rtlCol="0">
            <a:spAutoFit/>
          </a:bodyPr>
          <a:lstStyle/>
          <a:p>
            <a:r>
              <a:rPr lang="zh-CN" altLang="en-US" dirty="0">
                <a:solidFill>
                  <a:srgbClr val="961318"/>
                </a:solidFill>
                <a:latin typeface="Arial" panose="020B0604020202020204"/>
                <a:ea typeface="微软雅黑" panose="020B0503020204020204" charset="-122"/>
                <a:cs typeface="+mn-ea"/>
                <a:sym typeface="+mn-lt"/>
              </a:rPr>
              <a:t>优化检测方案</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39" name="文本框 38"/>
          <p:cNvSpPr txBox="1"/>
          <p:nvPr/>
        </p:nvSpPr>
        <p:spPr>
          <a:xfrm>
            <a:off x="4889782" y="1718346"/>
            <a:ext cx="2361068" cy="738664"/>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定义检测流程的标准形态，分析单次抽样、双重抽样方案的优劣</a:t>
            </a:r>
            <a:endParaRPr lang="zh-CN" altLang="en-US" sz="1400" dirty="0">
              <a:solidFill>
                <a:srgbClr val="768394"/>
              </a:solidFill>
              <a:latin typeface="Arial" panose="020B0604020202020204"/>
              <a:ea typeface="微软雅黑" panose="020B0503020204020204" charset="-122"/>
              <a:cs typeface="+mn-ea"/>
              <a:sym typeface="+mn-lt"/>
            </a:endParaRPr>
          </a:p>
        </p:txBody>
      </p:sp>
      <p:sp>
        <p:nvSpPr>
          <p:cNvPr id="40" name="文本框 39"/>
          <p:cNvSpPr txBox="1"/>
          <p:nvPr/>
        </p:nvSpPr>
        <p:spPr>
          <a:xfrm>
            <a:off x="2822140" y="2115862"/>
            <a:ext cx="1631004" cy="369332"/>
          </a:xfrm>
          <a:prstGeom prst="rect">
            <a:avLst/>
          </a:prstGeom>
          <a:noFill/>
        </p:spPr>
        <p:txBody>
          <a:bodyPr wrap="square" rtlCol="0">
            <a:spAutoFit/>
          </a:bodyPr>
          <a:lstStyle/>
          <a:p>
            <a:r>
              <a:rPr lang="zh-CN" altLang="en-US" dirty="0">
                <a:solidFill>
                  <a:srgbClr val="961318"/>
                </a:solidFill>
                <a:latin typeface="Arial" panose="020B0604020202020204"/>
                <a:ea typeface="微软雅黑" panose="020B0503020204020204" charset="-122"/>
                <a:cs typeface="+mn-ea"/>
                <a:sym typeface="+mn-lt"/>
              </a:rPr>
              <a:t>评估检测能力</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41" name="文本框 40"/>
          <p:cNvSpPr txBox="1"/>
          <p:nvPr/>
        </p:nvSpPr>
        <p:spPr>
          <a:xfrm>
            <a:off x="2431424" y="2485194"/>
            <a:ext cx="2361068" cy="523220"/>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定义效度函数、平均效度函数</a:t>
            </a:r>
            <a:endParaRPr lang="zh-CN" altLang="en-US" sz="1400" dirty="0">
              <a:solidFill>
                <a:srgbClr val="768394"/>
              </a:solidFill>
              <a:latin typeface="Arial" panose="020B0604020202020204"/>
              <a:ea typeface="微软雅黑" panose="020B0503020204020204" charset="-122"/>
              <a:cs typeface="+mn-ea"/>
              <a:sym typeface="+mn-lt"/>
            </a:endParaRPr>
          </a:p>
        </p:txBody>
      </p:sp>
      <p:sp>
        <p:nvSpPr>
          <p:cNvPr id="42" name="文本框 41"/>
          <p:cNvSpPr txBox="1"/>
          <p:nvPr/>
        </p:nvSpPr>
        <p:spPr>
          <a:xfrm>
            <a:off x="1089914" y="3931923"/>
            <a:ext cx="2021721" cy="369332"/>
          </a:xfrm>
          <a:prstGeom prst="rect">
            <a:avLst/>
          </a:prstGeom>
          <a:noFill/>
        </p:spPr>
        <p:txBody>
          <a:bodyPr wrap="square" rtlCol="0">
            <a:spAutoFit/>
          </a:bodyPr>
          <a:lstStyle/>
          <a:p>
            <a:r>
              <a:rPr lang="zh-CN" altLang="en-US" dirty="0">
                <a:solidFill>
                  <a:srgbClr val="961318"/>
                </a:solidFill>
                <a:latin typeface="Arial" panose="020B0604020202020204"/>
                <a:ea typeface="微软雅黑" panose="020B0503020204020204" charset="-122"/>
                <a:cs typeface="+mn-ea"/>
                <a:sym typeface="+mn-lt"/>
              </a:rPr>
              <a:t>假设检验基本模型</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43" name="文本框 42"/>
          <p:cNvSpPr txBox="1"/>
          <p:nvPr/>
        </p:nvSpPr>
        <p:spPr>
          <a:xfrm>
            <a:off x="699199" y="4301255"/>
            <a:ext cx="2361068" cy="523220"/>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基本的假设，限制检测方案的信度符合要求</a:t>
            </a:r>
            <a:endParaRPr lang="zh-CN" altLang="en-US" sz="1400" dirty="0">
              <a:solidFill>
                <a:srgbClr val="768394"/>
              </a:solidFill>
              <a:latin typeface="Arial" panose="020B0604020202020204"/>
              <a:ea typeface="微软雅黑" panose="020B0503020204020204" charset="-122"/>
              <a:cs typeface="+mn-ea"/>
              <a:sym typeface="+mn-lt"/>
            </a:endParaRPr>
          </a:p>
        </p:txBody>
      </p:sp>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3200" b="1" dirty="0">
                  <a:solidFill>
                    <a:srgbClr val="961318"/>
                  </a:solidFill>
                  <a:latin typeface="微软雅黑" panose="020B0503020204020204" charset="-122"/>
                  <a:ea typeface="微软雅黑" panose="020B0503020204020204" charset="-122"/>
                </a:rPr>
                <a:t>假设检验基本模型</a:t>
              </a:r>
              <a:endParaRPr lang="zh-CN" altLang="en-US" sz="3200" b="1" dirty="0">
                <a:solidFill>
                  <a:srgbClr val="961318"/>
                </a:solidFill>
                <a:latin typeface="微软雅黑" panose="020B0503020204020204" charset="-122"/>
                <a:ea typeface="微软雅黑" panose="020B0503020204020204" charset="-122"/>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7" name="îš1iḑê"/>
          <p:cNvSpPr/>
          <p:nvPr/>
        </p:nvSpPr>
        <p:spPr>
          <a:xfrm>
            <a:off x="669925" y="1276349"/>
            <a:ext cx="104775" cy="3060000"/>
          </a:xfrm>
          <a:prstGeom prst="rect">
            <a:avLst/>
          </a:prstGeom>
          <a:solidFill>
            <a:srgbClr val="961318"/>
          </a:solidFill>
          <a:ln w="12700" cap="flat" cmpd="sng" algn="ctr">
            <a:solidFill>
              <a:srgbClr val="961318"/>
            </a:solidFill>
            <a:prstDash val="solid"/>
            <a:miter lim="800000"/>
          </a:ln>
          <a:effectLst/>
        </p:spPr>
        <p:txBody>
          <a:bodyPr wrap="square" lIns="91440" tIns="45720" rIns="91440" bIns="45720" rtlCol="0" anchor="ctr">
            <a:normAutofit/>
          </a:bodyPr>
          <a:lstStyle/>
          <a:p>
            <a:pPr algn="ctr">
              <a:defRPr/>
            </a:pPr>
            <a:endParaRPr lang="zh-CN" altLang="en-US" kern="0">
              <a:solidFill>
                <a:prstClr val="white"/>
              </a:solidFill>
              <a:latin typeface="Arial" panose="020B0604020202020204"/>
              <a:ea typeface="微软雅黑 Light" panose="020B0502040204020203" pitchFamily="34" charset="-122"/>
            </a:endParaRPr>
          </a:p>
        </p:txBody>
      </p:sp>
      <p:grpSp>
        <p:nvGrpSpPr>
          <p:cNvPr id="19" name="îŝľiḓè"/>
          <p:cNvGrpSpPr/>
          <p:nvPr/>
        </p:nvGrpSpPr>
        <p:grpSpPr>
          <a:xfrm>
            <a:off x="1441450" y="4451781"/>
            <a:ext cx="3330625" cy="1086937"/>
            <a:chOff x="1441450" y="4543425"/>
            <a:chExt cx="3330625" cy="1086937"/>
          </a:xfrm>
        </p:grpSpPr>
        <p:sp>
          <p:nvSpPr>
            <p:cNvPr id="21" name="íş1íḓé"/>
            <p:cNvSpPr txBox="1"/>
            <p:nvPr/>
          </p:nvSpPr>
          <p:spPr bwMode="auto">
            <a:xfrm>
              <a:off x="1441450" y="4543425"/>
              <a:ext cx="3330625"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defRPr/>
              </a:pPr>
              <a:r>
                <a:rPr lang="zh-CN" altLang="en-US" sz="2000" b="1" dirty="0">
                  <a:solidFill>
                    <a:prstClr val="black"/>
                  </a:solidFill>
                  <a:latin typeface="微软雅黑" panose="020B0503020204020204" charset="-122"/>
                  <a:ea typeface="微软雅黑" panose="020B0503020204020204" charset="-122"/>
                </a:rPr>
                <a:t>基本假设</a:t>
              </a:r>
              <a:endParaRPr lang="en-US" altLang="zh-CN" sz="2000" b="1" dirty="0">
                <a:solidFill>
                  <a:prstClr val="black"/>
                </a:solidFill>
                <a:latin typeface="微软雅黑" panose="020B0503020204020204" charset="-122"/>
                <a:ea typeface="微软雅黑" panose="020B0503020204020204" charset="-122"/>
              </a:endParaRPr>
            </a:p>
          </p:txBody>
        </p:sp>
        <p:sp>
          <p:nvSpPr>
            <p:cNvPr id="22" name="îṡ1iḋê"/>
            <p:cNvSpPr/>
            <p:nvPr/>
          </p:nvSpPr>
          <p:spPr bwMode="auto">
            <a:xfrm>
              <a:off x="1441450" y="4998606"/>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solidFill>
                  <a:latin typeface="微软雅黑 Light" panose="020B0502040204020203" pitchFamily="34" charset="-122"/>
                  <a:ea typeface="微软雅黑 Light" panose="020B0502040204020203" pitchFamily="34" charset="-122"/>
                </a:rPr>
                <a:t>抽样结果近似符合指定次品率下的正态分布</a:t>
              </a:r>
              <a:endParaRPr lang="en-US" altLang="zh-CN" sz="1100" dirty="0">
                <a:solidFill>
                  <a:prstClr val="black"/>
                </a:solidFill>
                <a:latin typeface="Arial" panose="020B0604020202020204"/>
                <a:ea typeface="微软雅黑 Light" panose="020B0502040204020203" pitchFamily="34" charset="-122"/>
              </a:endParaRPr>
            </a:p>
          </p:txBody>
        </p:sp>
      </p:grpSp>
      <p:sp>
        <p:nvSpPr>
          <p:cNvPr id="23" name="i$1ïḋe"/>
          <p:cNvSpPr/>
          <p:nvPr/>
        </p:nvSpPr>
        <p:spPr>
          <a:xfrm>
            <a:off x="6537325" y="4547031"/>
            <a:ext cx="581025" cy="581025"/>
          </a:xfrm>
          <a:prstGeom prst="ellipse">
            <a:avLst/>
          </a:prstGeom>
          <a:solidFill>
            <a:srgbClr val="FFC000"/>
          </a:solidFill>
          <a:ln w="12700" cap="flat" cmpd="sng" algn="ctr">
            <a:noFill/>
            <a:prstDash val="solid"/>
            <a:miter lim="800000"/>
          </a:ln>
          <a:effectLst/>
        </p:spPr>
        <p:txBody>
          <a:bodyPr wrap="square" lIns="91440" tIns="45720" rIns="91440" bIns="45720" rtlCol="0" anchor="t" anchorCtr="0">
            <a:normAutofit/>
          </a:bodyPr>
          <a:lstStyle/>
          <a:p>
            <a:pPr algn="ctr">
              <a:defRPr/>
            </a:pPr>
            <a:r>
              <a:rPr lang="en-US" altLang="zh-CN" sz="1600" b="1" kern="0" dirty="0">
                <a:solidFill>
                  <a:prstClr val="white"/>
                </a:solidFill>
                <a:latin typeface="Arial" panose="020B0604020202020204"/>
                <a:ea typeface="微软雅黑 Light" panose="020B0502040204020203" pitchFamily="34" charset="-122"/>
              </a:rPr>
              <a:t>02</a:t>
            </a:r>
            <a:endParaRPr lang="zh-CN" altLang="en-US" sz="1600" b="1" kern="0" dirty="0">
              <a:solidFill>
                <a:prstClr val="white"/>
              </a:solidFill>
              <a:latin typeface="Arial" panose="020B0604020202020204"/>
              <a:ea typeface="微软雅黑 Light" panose="020B0502040204020203" pitchFamily="34" charset="-122"/>
            </a:endParaRPr>
          </a:p>
        </p:txBody>
      </p:sp>
      <p:cxnSp>
        <p:nvCxnSpPr>
          <p:cNvPr id="24" name="直接连接符 23"/>
          <p:cNvCxnSpPr>
            <a:stCxn id="23" idx="0"/>
          </p:cNvCxnSpPr>
          <p:nvPr/>
        </p:nvCxnSpPr>
        <p:spPr>
          <a:xfrm flipV="1">
            <a:off x="6827838" y="3823131"/>
            <a:ext cx="0" cy="723900"/>
          </a:xfrm>
          <a:prstGeom prst="line">
            <a:avLst/>
          </a:prstGeom>
          <a:noFill/>
          <a:ln w="3175" cap="rnd" cmpd="sng" algn="ctr">
            <a:solidFill>
              <a:srgbClr val="FFC000"/>
            </a:solidFill>
            <a:prstDash val="solid"/>
            <a:round/>
            <a:tailEnd type="oval"/>
          </a:ln>
          <a:effectLst/>
        </p:spPr>
      </p:cxnSp>
      <p:grpSp>
        <p:nvGrpSpPr>
          <p:cNvPr id="25" name="iṡlíďé"/>
          <p:cNvGrpSpPr/>
          <p:nvPr/>
        </p:nvGrpSpPr>
        <p:grpSpPr>
          <a:xfrm>
            <a:off x="7204075" y="4451781"/>
            <a:ext cx="3330625" cy="1695019"/>
            <a:chOff x="1441450" y="4543425"/>
            <a:chExt cx="3330625" cy="1695019"/>
          </a:xfrm>
        </p:grpSpPr>
        <p:grpSp>
          <p:nvGrpSpPr>
            <p:cNvPr id="26" name="îṡļiḍe"/>
            <p:cNvGrpSpPr/>
            <p:nvPr/>
          </p:nvGrpSpPr>
          <p:grpSpPr>
            <a:xfrm>
              <a:off x="1441450" y="4543425"/>
              <a:ext cx="3330625" cy="1086937"/>
              <a:chOff x="1441450" y="4543425"/>
              <a:chExt cx="3330625" cy="1086937"/>
            </a:xfrm>
          </p:grpSpPr>
          <p:sp>
            <p:nvSpPr>
              <p:cNvPr id="28" name="iŝḷïďe"/>
              <p:cNvSpPr txBox="1"/>
              <p:nvPr/>
            </p:nvSpPr>
            <p:spPr bwMode="auto">
              <a:xfrm>
                <a:off x="1441450" y="4543425"/>
                <a:ext cx="3330625"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defRPr/>
                </a:pPr>
                <a:r>
                  <a:rPr lang="zh-CN" altLang="en-US" sz="2000" b="1" dirty="0">
                    <a:solidFill>
                      <a:prstClr val="black"/>
                    </a:solidFill>
                    <a:latin typeface="微软雅黑" panose="020B0503020204020204" charset="-122"/>
                    <a:ea typeface="微软雅黑" panose="020B0503020204020204" charset="-122"/>
                  </a:rPr>
                  <a:t>得到的拒绝域</a:t>
                </a:r>
                <a:endParaRPr lang="en-US" altLang="zh-CN" sz="2000" b="1" dirty="0">
                  <a:solidFill>
                    <a:prstClr val="black"/>
                  </a:solidFill>
                  <a:latin typeface="微软雅黑" panose="020B0503020204020204" charset="-122"/>
                  <a:ea typeface="微软雅黑" panose="020B0503020204020204" charset="-122"/>
                </a:endParaRPr>
              </a:p>
            </p:txBody>
          </p:sp>
          <p:sp>
            <p:nvSpPr>
              <p:cNvPr id="29" name="îṡļiḍê"/>
              <p:cNvSpPr/>
              <p:nvPr/>
            </p:nvSpPr>
            <p:spPr bwMode="auto">
              <a:xfrm>
                <a:off x="1441450" y="4998606"/>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endParaRPr lang="en-US" altLang="zh-CN" sz="1100" dirty="0">
                  <a:solidFill>
                    <a:prstClr val="black"/>
                  </a:solidFill>
                  <a:latin typeface="微软雅黑 Light" panose="020B0502040204020203" pitchFamily="34" charset="-122"/>
                  <a:ea typeface="微软雅黑 Light" panose="020B0502040204020203" pitchFamily="34" charset="-122"/>
                </a:endParaRPr>
              </a:p>
            </p:txBody>
          </p:sp>
        </p:grpSp>
        <p:sp>
          <p:nvSpPr>
            <p:cNvPr id="27" name="ïṣlîḓe"/>
            <p:cNvSpPr/>
            <p:nvPr/>
          </p:nvSpPr>
          <p:spPr bwMode="auto">
            <a:xfrm>
              <a:off x="1441450" y="5606688"/>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endParaRPr lang="en-US" altLang="zh-CN" sz="1100" dirty="0">
                <a:solidFill>
                  <a:prstClr val="black"/>
                </a:solidFill>
                <a:latin typeface="微软雅黑 Light" panose="020B0502040204020203" pitchFamily="34" charset="-122"/>
                <a:ea typeface="微软雅黑 Light" panose="020B0502040204020203" pitchFamily="34" charset="-122"/>
              </a:endParaRPr>
            </a:p>
          </p:txBody>
        </p:sp>
      </p:grpSp>
      <p:sp>
        <p:nvSpPr>
          <p:cNvPr id="30" name="îşḷíḓè"/>
          <p:cNvSpPr/>
          <p:nvPr/>
        </p:nvSpPr>
        <p:spPr>
          <a:xfrm>
            <a:off x="6432550" y="1276349"/>
            <a:ext cx="104775" cy="3060000"/>
          </a:xfrm>
          <a:prstGeom prst="rect">
            <a:avLst/>
          </a:prstGeom>
          <a:solidFill>
            <a:srgbClr val="FFC000"/>
          </a:solidFill>
          <a:ln w="12700" cap="flat" cmpd="sng" algn="ctr">
            <a:noFill/>
            <a:prstDash val="solid"/>
            <a:miter lim="800000"/>
          </a:ln>
          <a:effectLst/>
        </p:spPr>
        <p:txBody>
          <a:bodyPr wrap="square" lIns="91440" tIns="45720" rIns="91440" bIns="45720" rtlCol="0" anchor="ctr">
            <a:normAutofit/>
          </a:bodyPr>
          <a:lstStyle/>
          <a:p>
            <a:pPr algn="ctr">
              <a:defRPr/>
            </a:pPr>
            <a:endParaRPr lang="zh-CN" altLang="en-US" kern="0">
              <a:solidFill>
                <a:prstClr val="white"/>
              </a:solidFill>
              <a:latin typeface="Arial" panose="020B0604020202020204"/>
              <a:ea typeface="微软雅黑 Light" panose="020B0502040204020203" pitchFamily="34" charset="-122"/>
            </a:endParaRPr>
          </a:p>
        </p:txBody>
      </p:sp>
      <p:grpSp>
        <p:nvGrpSpPr>
          <p:cNvPr id="31" name="ïşḻïďê"/>
          <p:cNvGrpSpPr/>
          <p:nvPr/>
        </p:nvGrpSpPr>
        <p:grpSpPr>
          <a:xfrm>
            <a:off x="774700" y="3823131"/>
            <a:ext cx="581025" cy="1304925"/>
            <a:chOff x="774700" y="3823131"/>
            <a:chExt cx="581025" cy="1304925"/>
          </a:xfrm>
          <a:solidFill>
            <a:srgbClr val="004593"/>
          </a:solidFill>
        </p:grpSpPr>
        <p:sp>
          <p:nvSpPr>
            <p:cNvPr id="32" name="î$ļïḋè"/>
            <p:cNvSpPr/>
            <p:nvPr/>
          </p:nvSpPr>
          <p:spPr>
            <a:xfrm>
              <a:off x="774700" y="4547031"/>
              <a:ext cx="581025" cy="581025"/>
            </a:xfrm>
            <a:prstGeom prst="ellipse">
              <a:avLst/>
            </a:prstGeom>
            <a:solidFill>
              <a:srgbClr val="961318"/>
            </a:solidFill>
            <a:ln w="12700" cap="flat" cmpd="sng" algn="ctr">
              <a:noFill/>
              <a:prstDash val="solid"/>
              <a:miter lim="800000"/>
            </a:ln>
            <a:effectLst/>
          </p:spPr>
          <p:txBody>
            <a:bodyPr wrap="square" lIns="91440" tIns="45720" rIns="91440" bIns="45720" rtlCol="0" anchor="t" anchorCtr="0">
              <a:normAutofit/>
            </a:bodyPr>
            <a:lstStyle/>
            <a:p>
              <a:pPr algn="ctr">
                <a:defRPr/>
              </a:pPr>
              <a:r>
                <a:rPr lang="en-US" altLang="zh-CN" sz="1600" b="1" kern="0" dirty="0">
                  <a:solidFill>
                    <a:prstClr val="white"/>
                  </a:solidFill>
                  <a:latin typeface="Arial" panose="020B0604020202020204"/>
                  <a:ea typeface="微软雅黑 Light" panose="020B0502040204020203" pitchFamily="34" charset="-122"/>
                </a:rPr>
                <a:t>01</a:t>
              </a:r>
              <a:endParaRPr lang="zh-CN" altLang="en-US" sz="1600" b="1" kern="0" dirty="0">
                <a:solidFill>
                  <a:prstClr val="white"/>
                </a:solidFill>
                <a:latin typeface="Arial" panose="020B0604020202020204"/>
                <a:ea typeface="微软雅黑 Light" panose="020B0502040204020203" pitchFamily="34" charset="-122"/>
              </a:endParaRPr>
            </a:p>
          </p:txBody>
        </p:sp>
        <p:cxnSp>
          <p:nvCxnSpPr>
            <p:cNvPr id="33" name="直接连接符 32"/>
            <p:cNvCxnSpPr>
              <a:stCxn id="32" idx="0"/>
            </p:cNvCxnSpPr>
            <p:nvPr/>
          </p:nvCxnSpPr>
          <p:spPr>
            <a:xfrm flipV="1">
              <a:off x="1065213" y="3823131"/>
              <a:ext cx="0" cy="723900"/>
            </a:xfrm>
            <a:prstGeom prst="line">
              <a:avLst/>
            </a:prstGeom>
            <a:grpFill/>
            <a:ln w="3175" cap="rnd" cmpd="sng" algn="ctr">
              <a:solidFill>
                <a:srgbClr val="961318"/>
              </a:solidFill>
              <a:prstDash val="solid"/>
              <a:round/>
              <a:tailEnd type="oval"/>
            </a:ln>
            <a:effectLst/>
          </p:spPr>
        </p:cxnSp>
      </p:grpSp>
      <p:pic>
        <p:nvPicPr>
          <p:cNvPr id="5" name="图片 4"/>
          <p:cNvPicPr>
            <a:picLocks noChangeAspect="1"/>
          </p:cNvPicPr>
          <p:nvPr/>
        </p:nvPicPr>
        <p:blipFill>
          <a:blip r:embed="rId1"/>
          <a:stretch>
            <a:fillRect/>
          </a:stretch>
        </p:blipFill>
        <p:spPr>
          <a:xfrm>
            <a:off x="1957722" y="2181350"/>
            <a:ext cx="1415923" cy="1040270"/>
          </a:xfrm>
          <a:prstGeom prst="rect">
            <a:avLst/>
          </a:prstGeom>
        </p:spPr>
      </p:pic>
      <p:pic>
        <p:nvPicPr>
          <p:cNvPr id="3" name="图片 2"/>
          <p:cNvPicPr>
            <a:picLocks noChangeAspect="1"/>
          </p:cNvPicPr>
          <p:nvPr/>
        </p:nvPicPr>
        <p:blipFill>
          <a:blip r:embed="rId2"/>
          <a:stretch>
            <a:fillRect/>
          </a:stretch>
        </p:blipFill>
        <p:spPr>
          <a:xfrm>
            <a:off x="6996651" y="2285889"/>
            <a:ext cx="3345470" cy="784928"/>
          </a:xfrm>
          <a:prstGeom prst="rect">
            <a:avLst/>
          </a:prstGeom>
        </p:spPr>
      </p:pic>
      <p:sp>
        <p:nvSpPr>
          <p:cNvPr id="6" name="文本框 5"/>
          <p:cNvSpPr txBox="1"/>
          <p:nvPr/>
        </p:nvSpPr>
        <p:spPr>
          <a:xfrm>
            <a:off x="1127448" y="838330"/>
            <a:ext cx="6119446" cy="369332"/>
          </a:xfrm>
          <a:prstGeom prst="rect">
            <a:avLst/>
          </a:prstGeom>
          <a:noFill/>
        </p:spPr>
        <p:txBody>
          <a:bodyPr wrap="square">
            <a:spAutoFit/>
          </a:bodyPr>
          <a:lstStyle/>
          <a:p>
            <a:r>
              <a:rPr lang="zh-CN" altLang="en-US" sz="1800" dirty="0">
                <a:solidFill>
                  <a:srgbClr val="768394"/>
                </a:solidFill>
                <a:latin typeface="Arial" panose="020B0604020202020204"/>
                <a:ea typeface="微软雅黑" panose="020B0503020204020204" charset="-122"/>
                <a:cs typeface="+mn-ea"/>
                <a:sym typeface="+mn-lt"/>
              </a:rPr>
              <a:t>基本的假设，限制检测方案的信度符合要求</a:t>
            </a:r>
            <a:endParaRPr lang="zh-CN" altLang="en-US" sz="1800" dirty="0">
              <a:solidFill>
                <a:srgbClr val="768394"/>
              </a:solidFill>
              <a:latin typeface="Arial" panose="020B0604020202020204"/>
              <a:ea typeface="微软雅黑" panose="020B0503020204020204" charset="-122"/>
              <a:cs typeface="+mn-ea"/>
              <a:sym typeface="+mn-lt"/>
            </a:endParaRPr>
          </a:p>
        </p:txBody>
      </p:sp>
      <p:sp>
        <p:nvSpPr>
          <p:cNvPr id="12" name="îṡ1iḋê"/>
          <p:cNvSpPr/>
          <p:nvPr/>
        </p:nvSpPr>
        <p:spPr bwMode="auto">
          <a:xfrm>
            <a:off x="7246894" y="4906962"/>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solidFill>
                <a:latin typeface="Arial" panose="020B0604020202020204"/>
                <a:ea typeface="微软雅黑 Light" panose="020B0502040204020203" pitchFamily="34" charset="-122"/>
              </a:rPr>
              <a:t>拒绝域的选取保证符合信度要求</a:t>
            </a:r>
            <a:endParaRPr lang="en-US" altLang="zh-CN" sz="1100" dirty="0">
              <a:solidFill>
                <a:prstClr val="black"/>
              </a:solidFill>
              <a:latin typeface="Arial" panose="020B0604020202020204"/>
              <a:ea typeface="微软雅黑 Light" panose="020B0502040204020203" pitchFamily="34" charset="-122"/>
            </a:endParaRPr>
          </a:p>
        </p:txBody>
      </p:sp>
      <p:sp>
        <p:nvSpPr>
          <p:cNvPr id="2" name="文本框 1"/>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2"/>
          <p:cNvSpPr/>
          <p:nvPr/>
        </p:nvSpPr>
        <p:spPr>
          <a:xfrm>
            <a:off x="2703589" y="3845311"/>
            <a:ext cx="8135099" cy="2186187"/>
          </a:xfrm>
          <a:prstGeom prst="roundRect">
            <a:avLst/>
          </a:prstGeom>
          <a:noFill/>
          <a:ln w="127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rgbClr val="961318"/>
                  </a:solidFill>
                  <a:latin typeface="Arial" panose="020B0604020202020204"/>
                  <a:ea typeface="微软雅黑" panose="020B0503020204020204" charset="-122"/>
                  <a:cs typeface="+mn-ea"/>
                  <a:sym typeface="+mn-lt"/>
                </a:rPr>
                <a:t>评估检测能力</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圆角矩形 2"/>
          <p:cNvSpPr/>
          <p:nvPr/>
        </p:nvSpPr>
        <p:spPr>
          <a:xfrm>
            <a:off x="2703590" y="1239510"/>
            <a:ext cx="8135099" cy="2186187"/>
          </a:xfrm>
          <a:prstGeom prst="roundRect">
            <a:avLst/>
          </a:prstGeom>
          <a:noFill/>
          <a:ln w="127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16" name="组合 15"/>
          <p:cNvGrpSpPr/>
          <p:nvPr/>
        </p:nvGrpSpPr>
        <p:grpSpPr>
          <a:xfrm>
            <a:off x="1477779" y="1341673"/>
            <a:ext cx="1929923" cy="1929923"/>
            <a:chOff x="304800" y="673100"/>
            <a:chExt cx="4000500" cy="4000500"/>
          </a:xfrm>
          <a:solidFill>
            <a:srgbClr val="961318"/>
          </a:solidFill>
          <a:effectLst/>
        </p:grpSpPr>
        <p:sp>
          <p:nvSpPr>
            <p:cNvPr id="17" name="同心圆 4"/>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18" name="椭圆 17"/>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19" name="椭圆 18"/>
          <p:cNvSpPr/>
          <p:nvPr/>
        </p:nvSpPr>
        <p:spPr>
          <a:xfrm>
            <a:off x="2949895"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1</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 name="矩形 19"/>
          <p:cNvSpPr/>
          <p:nvPr/>
        </p:nvSpPr>
        <p:spPr>
          <a:xfrm>
            <a:off x="1721440" y="2102226"/>
            <a:ext cx="1415772" cy="461665"/>
          </a:xfrm>
          <a:prstGeom prst="rect">
            <a:avLst/>
          </a:prstGeom>
        </p:spPr>
        <p:txBody>
          <a:bodyPr wrap="none">
            <a:spAutoFit/>
          </a:bodyPr>
          <a:lstStyle/>
          <a:p>
            <a:pPr defTabSz="1219200"/>
            <a:r>
              <a:rPr lang="zh-CN" altLang="en-US" sz="2400" b="1" dirty="0">
                <a:solidFill>
                  <a:prstClr val="white"/>
                </a:solidFill>
                <a:latin typeface="微软雅黑" panose="020B0503020204020204" charset="-122"/>
                <a:ea typeface="微软雅黑" panose="020B0503020204020204" charset="-122"/>
              </a:rPr>
              <a:t>效度函数</a:t>
            </a:r>
            <a:endParaRPr lang="zh-CN" altLang="en-US" sz="2400" b="1" dirty="0">
              <a:solidFill>
                <a:prstClr val="white"/>
              </a:solidFill>
              <a:latin typeface="微软雅黑" panose="020B0503020204020204" charset="-122"/>
              <a:ea typeface="微软雅黑" panose="020B0503020204020204" charset="-122"/>
            </a:endParaRPr>
          </a:p>
        </p:txBody>
      </p:sp>
      <p:grpSp>
        <p:nvGrpSpPr>
          <p:cNvPr id="5" name="组合 4"/>
          <p:cNvGrpSpPr/>
          <p:nvPr/>
        </p:nvGrpSpPr>
        <p:grpSpPr>
          <a:xfrm>
            <a:off x="1477779" y="3960635"/>
            <a:ext cx="2040740" cy="1929923"/>
            <a:chOff x="5129071" y="1400218"/>
            <a:chExt cx="2040740" cy="1929923"/>
          </a:xfrm>
        </p:grpSpPr>
        <p:grpSp>
          <p:nvGrpSpPr>
            <p:cNvPr id="23" name="组合 22"/>
            <p:cNvGrpSpPr/>
            <p:nvPr/>
          </p:nvGrpSpPr>
          <p:grpSpPr>
            <a:xfrm>
              <a:off x="5129071" y="1400218"/>
              <a:ext cx="1929923" cy="1929923"/>
              <a:chOff x="304800" y="673100"/>
              <a:chExt cx="4000500" cy="4000500"/>
            </a:xfrm>
            <a:solidFill>
              <a:srgbClr val="961318"/>
            </a:solidFill>
            <a:effectLst/>
          </p:grpSpPr>
          <p:sp>
            <p:nvSpPr>
              <p:cNvPr id="24" name="同心圆 12"/>
              <p:cNvSpPr/>
              <p:nvPr/>
            </p:nvSpPr>
            <p:spPr>
              <a:xfrm>
                <a:off x="304800" y="673100"/>
                <a:ext cx="4000500" cy="4000500"/>
              </a:xfrm>
              <a:prstGeom prst="donut">
                <a:avLst>
                  <a:gd name="adj" fmla="val 4879"/>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25" name="椭圆 24"/>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29" name="椭圆 28"/>
            <p:cNvSpPr/>
            <p:nvPr/>
          </p:nvSpPr>
          <p:spPr>
            <a:xfrm>
              <a:off x="6672064"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2</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1" name="矩形 30"/>
            <p:cNvSpPr/>
            <p:nvPr/>
          </p:nvSpPr>
          <p:spPr>
            <a:xfrm>
              <a:off x="5129071" y="2140723"/>
              <a:ext cx="2031325" cy="461665"/>
            </a:xfrm>
            <a:prstGeom prst="rect">
              <a:avLst/>
            </a:prstGeom>
          </p:spPr>
          <p:txBody>
            <a:bodyPr wrap="none">
              <a:spAutoFit/>
            </a:bodyPr>
            <a:lstStyle/>
            <a:p>
              <a:pPr defTabSz="1219200"/>
              <a:r>
                <a:rPr lang="zh-CN" altLang="en-US" sz="2400" b="1" dirty="0">
                  <a:solidFill>
                    <a:prstClr val="white"/>
                  </a:solidFill>
                  <a:latin typeface="微软雅黑" panose="020B0503020204020204" charset="-122"/>
                  <a:ea typeface="微软雅黑" panose="020B0503020204020204" charset="-122"/>
                </a:rPr>
                <a:t>平均效度函数</a:t>
              </a:r>
              <a:endParaRPr lang="zh-CN" altLang="en-US" sz="2400" b="1" dirty="0">
                <a:solidFill>
                  <a:prstClr val="white"/>
                </a:solidFill>
                <a:latin typeface="微软雅黑" panose="020B0503020204020204" charset="-122"/>
                <a:ea typeface="微软雅黑" panose="020B0503020204020204" charset="-122"/>
              </a:endParaRPr>
            </a:p>
          </p:txBody>
        </p:sp>
      </p:grpSp>
      <p:sp>
        <p:nvSpPr>
          <p:cNvPr id="2" name="文本框 1"/>
          <p:cNvSpPr txBox="1"/>
          <p:nvPr/>
        </p:nvSpPr>
        <p:spPr>
          <a:xfrm>
            <a:off x="1248792" y="860574"/>
            <a:ext cx="3729608" cy="307777"/>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定义效度函数、平均效度函数</a:t>
            </a:r>
            <a:endParaRPr lang="zh-CN" altLang="en-US" sz="1400" dirty="0">
              <a:solidFill>
                <a:srgbClr val="768394"/>
              </a:solidFill>
              <a:latin typeface="Arial" panose="020B0604020202020204"/>
              <a:ea typeface="微软雅黑" panose="020B0503020204020204" charset="-122"/>
              <a:cs typeface="+mn-ea"/>
              <a:sym typeface="+mn-lt"/>
            </a:endParaRPr>
          </a:p>
        </p:txBody>
      </p:sp>
      <p:pic>
        <p:nvPicPr>
          <p:cNvPr id="4" name="图片 3"/>
          <p:cNvPicPr>
            <a:picLocks noChangeAspect="1"/>
          </p:cNvPicPr>
          <p:nvPr/>
        </p:nvPicPr>
        <p:blipFill>
          <a:blip r:embed="rId1"/>
          <a:stretch>
            <a:fillRect/>
          </a:stretch>
        </p:blipFill>
        <p:spPr>
          <a:xfrm>
            <a:off x="4114862" y="1659124"/>
            <a:ext cx="5913632" cy="1501270"/>
          </a:xfrm>
          <a:prstGeom prst="rect">
            <a:avLst/>
          </a:prstGeom>
        </p:spPr>
      </p:pic>
      <p:pic>
        <p:nvPicPr>
          <p:cNvPr id="36" name="图片 35"/>
          <p:cNvPicPr>
            <a:picLocks noChangeAspect="1"/>
          </p:cNvPicPr>
          <p:nvPr/>
        </p:nvPicPr>
        <p:blipFill>
          <a:blip r:embed="rId2"/>
          <a:stretch>
            <a:fillRect/>
          </a:stretch>
        </p:blipFill>
        <p:spPr>
          <a:xfrm>
            <a:off x="4846167" y="3999412"/>
            <a:ext cx="3836731" cy="1016121"/>
          </a:xfrm>
          <a:prstGeom prst="rect">
            <a:avLst/>
          </a:prstGeom>
        </p:spPr>
      </p:pic>
      <p:sp>
        <p:nvSpPr>
          <p:cNvPr id="37" name="文本框 36"/>
          <p:cNvSpPr txBox="1"/>
          <p:nvPr/>
        </p:nvSpPr>
        <p:spPr>
          <a:xfrm>
            <a:off x="3767015" y="5411265"/>
            <a:ext cx="3759362" cy="369332"/>
          </a:xfrm>
          <a:prstGeom prst="rect">
            <a:avLst/>
          </a:prstGeom>
          <a:noFill/>
        </p:spPr>
        <p:txBody>
          <a:bodyPr wrap="none" rtlCol="0">
            <a:spAutoFit/>
          </a:bodyPr>
          <a:lstStyle/>
          <a:p>
            <a:r>
              <a:rPr lang="zh-CN" altLang="en-US" dirty="0"/>
              <a:t>认为</a:t>
            </a:r>
            <a:r>
              <a:rPr lang="en-US" altLang="zh-CN" dirty="0"/>
              <a:t>p</a:t>
            </a:r>
            <a:r>
              <a:rPr lang="en-US" altLang="zh-CN" baseline="-25000" dirty="0"/>
              <a:t>0</a:t>
            </a:r>
            <a:r>
              <a:rPr lang="zh-CN" altLang="en-US" dirty="0"/>
              <a:t>符合在</a:t>
            </a:r>
            <a:r>
              <a:rPr lang="en-US" altLang="zh-CN" dirty="0"/>
              <a:t>0-1</a:t>
            </a:r>
            <a:r>
              <a:rPr lang="zh-CN" altLang="en-US" dirty="0"/>
              <a:t>上的均匀分布，有</a:t>
            </a:r>
            <a:endParaRPr lang="zh-CN" altLang="en-US" dirty="0"/>
          </a:p>
        </p:txBody>
      </p:sp>
      <p:sp>
        <p:nvSpPr>
          <p:cNvPr id="38" name="文本框 37"/>
          <p:cNvSpPr txBox="1"/>
          <p:nvPr/>
        </p:nvSpPr>
        <p:spPr>
          <a:xfrm>
            <a:off x="3269645" y="1383624"/>
            <a:ext cx="1184940" cy="369332"/>
          </a:xfrm>
          <a:prstGeom prst="rect">
            <a:avLst/>
          </a:prstGeom>
          <a:noFill/>
        </p:spPr>
        <p:txBody>
          <a:bodyPr wrap="none" rtlCol="0">
            <a:spAutoFit/>
          </a:bodyPr>
          <a:lstStyle/>
          <a:p>
            <a:r>
              <a:rPr lang="en-US" altLang="zh-CN" dirty="0"/>
              <a:t>p &gt; 0.1 </a:t>
            </a:r>
            <a:r>
              <a:rPr lang="zh-CN" altLang="en-US" dirty="0"/>
              <a:t>时</a:t>
            </a:r>
            <a:endParaRPr lang="zh-CN" altLang="en-US" dirty="0"/>
          </a:p>
        </p:txBody>
      </p:sp>
      <p:pic>
        <p:nvPicPr>
          <p:cNvPr id="40" name="图片 39"/>
          <p:cNvPicPr>
            <a:picLocks noChangeAspect="1"/>
          </p:cNvPicPr>
          <p:nvPr/>
        </p:nvPicPr>
        <p:blipFill>
          <a:blip r:embed="rId3"/>
          <a:stretch>
            <a:fillRect/>
          </a:stretch>
        </p:blipFill>
        <p:spPr>
          <a:xfrm>
            <a:off x="7526377" y="5410162"/>
            <a:ext cx="1303133" cy="358171"/>
          </a:xfrm>
          <a:prstGeom prst="rect">
            <a:avLst/>
          </a:prstGeom>
        </p:spPr>
      </p:pic>
      <p:sp>
        <p:nvSpPr>
          <p:cNvPr id="3" name="文本框 2"/>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矩形 14"/>
          <p:cNvSpPr/>
          <p:nvPr/>
        </p:nvSpPr>
        <p:spPr>
          <a:xfrm>
            <a:off x="5871845" y="1708150"/>
            <a:ext cx="3957320" cy="3411220"/>
          </a:xfrm>
          <a:prstGeom prst="rect">
            <a:avLst/>
          </a:prstGeom>
          <a:solidFill>
            <a:srgbClr val="961318"/>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algn="ctr">
              <a:defRPr/>
            </a:pPr>
            <a:endParaRPr lang="zh-CN" altLang="en-US" kern="0">
              <a:solidFill>
                <a:prstClr val="white"/>
              </a:solidFill>
              <a:latin typeface="Arial" panose="020B0604020202020204"/>
              <a:ea typeface="微软雅黑 Light" panose="020B0502040204020203" pitchFamily="34" charset="-122"/>
            </a:endParaRPr>
          </a:p>
        </p:txBody>
      </p:sp>
      <p:sp>
        <p:nvSpPr>
          <p:cNvPr id="2"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rgbClr val="961318"/>
                </a:solidFill>
                <a:latin typeface="Arial" panose="020B0604020202020204"/>
                <a:ea typeface="微软雅黑" panose="020B0503020204020204" charset="-122"/>
                <a:cs typeface="+mn-ea"/>
                <a:sym typeface="+mn-lt"/>
              </a:rPr>
              <a:t>评估检测能力</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4" name="文本框 3"/>
          <p:cNvSpPr txBox="1"/>
          <p:nvPr/>
        </p:nvSpPr>
        <p:spPr>
          <a:xfrm>
            <a:off x="1248792" y="860574"/>
            <a:ext cx="3729608" cy="307777"/>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定义效度函数、平均效度函数</a:t>
            </a:r>
            <a:endParaRPr lang="zh-CN" altLang="en-US" sz="1400" dirty="0">
              <a:solidFill>
                <a:srgbClr val="768394"/>
              </a:solidFill>
              <a:latin typeface="Arial" panose="020B0604020202020204"/>
              <a:ea typeface="微软雅黑" panose="020B0503020204020204" charset="-122"/>
              <a:cs typeface="+mn-ea"/>
              <a:sym typeface="+mn-lt"/>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621873" y="1565136"/>
            <a:ext cx="5620128" cy="4102191"/>
          </a:xfrm>
          <a:prstGeom prst="rect">
            <a:avLst/>
          </a:prstGeom>
        </p:spPr>
      </p:pic>
      <p:pic>
        <p:nvPicPr>
          <p:cNvPr id="5" name="图片 4"/>
          <p:cNvPicPr>
            <a:picLocks noChangeAspect="1"/>
          </p:cNvPicPr>
          <p:nvPr/>
        </p:nvPicPr>
        <p:blipFill>
          <a:blip r:embed="rId2"/>
          <a:stretch>
            <a:fillRect/>
          </a:stretch>
        </p:blipFill>
        <p:spPr>
          <a:xfrm>
            <a:off x="6200800" y="1565135"/>
            <a:ext cx="5369327" cy="4102191"/>
          </a:xfrm>
          <a:prstGeom prst="rect">
            <a:avLst/>
          </a:prstGeom>
        </p:spPr>
      </p:pic>
      <p:sp>
        <p:nvSpPr>
          <p:cNvPr id="3" name="文本框 2"/>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9770" y="2142148"/>
            <a:ext cx="4098214" cy="3072307"/>
          </a:xfrm>
          <a:prstGeom prst="rect">
            <a:avLst/>
          </a:prstGeom>
        </p:spPr>
      </p:pic>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961318"/>
                  </a:solidFill>
                  <a:latin typeface="Arial" panose="020B0604020202020204"/>
                  <a:ea typeface="微软雅黑" panose="020B0503020204020204" charset="-122"/>
                  <a:cs typeface="+mn-ea"/>
                  <a:sym typeface="+mn-lt"/>
                </a:rPr>
                <a:t>优化检测方案</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2" name="文本框 1"/>
          <p:cNvSpPr txBox="1"/>
          <p:nvPr/>
        </p:nvSpPr>
        <p:spPr>
          <a:xfrm>
            <a:off x="6466901" y="1772816"/>
            <a:ext cx="2147198" cy="369332"/>
          </a:xfrm>
          <a:prstGeom prst="rect">
            <a:avLst/>
          </a:prstGeom>
          <a:noFill/>
        </p:spPr>
        <p:txBody>
          <a:bodyPr wrap="square" rtlCol="0">
            <a:spAutoFit/>
          </a:bodyPr>
          <a:lstStyle/>
          <a:p>
            <a:r>
              <a:rPr lang="zh-CN" altLang="en-US" dirty="0">
                <a:solidFill>
                  <a:srgbClr val="961318"/>
                </a:solidFill>
                <a:latin typeface="Arial" panose="020B0604020202020204"/>
                <a:ea typeface="微软雅黑" panose="020B0503020204020204" charset="-122"/>
                <a:cs typeface="+mn-ea"/>
                <a:sym typeface="+mn-lt"/>
              </a:rPr>
              <a:t>基本流程</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3" name="文本框 2"/>
          <p:cNvSpPr txBox="1"/>
          <p:nvPr/>
        </p:nvSpPr>
        <p:spPr>
          <a:xfrm>
            <a:off x="6710742" y="2152754"/>
            <a:ext cx="4265558" cy="2308324"/>
          </a:xfrm>
          <a:prstGeom prst="rect">
            <a:avLst/>
          </a:prstGeom>
          <a:noFill/>
        </p:spPr>
        <p:txBody>
          <a:bodyPr wrap="square" rtlCol="0">
            <a:spAutoFit/>
          </a:bodyPr>
          <a:lstStyle/>
          <a:p>
            <a:pPr algn="just"/>
            <a:r>
              <a:rPr lang="zh-CN" altLang="en-US" dirty="0"/>
              <a:t>先进行一轮抽样，样本量为</a:t>
            </a:r>
            <a:r>
              <a:rPr lang="en-US" altLang="zh-CN" dirty="0"/>
              <a:t>n1</a:t>
            </a:r>
            <a:r>
              <a:rPr lang="zh-CN" altLang="en-US" dirty="0"/>
              <a:t>，判断测得的次品率是否超过</a:t>
            </a:r>
            <a:r>
              <a:rPr lang="en-US" altLang="zh-CN" dirty="0"/>
              <a:t>r1</a:t>
            </a:r>
            <a:r>
              <a:rPr lang="zh-CN" altLang="en-US" dirty="0"/>
              <a:t>，如果超过</a:t>
            </a:r>
            <a:r>
              <a:rPr lang="en-US" altLang="zh-CN" dirty="0"/>
              <a:t>r1</a:t>
            </a:r>
            <a:r>
              <a:rPr lang="zh-CN" altLang="en-US" dirty="0"/>
              <a:t>，则 拒收</a:t>
            </a:r>
            <a:r>
              <a:rPr lang="en-US" altLang="zh-CN" dirty="0"/>
              <a:t>;</a:t>
            </a:r>
            <a:r>
              <a:rPr lang="zh-CN" altLang="en-US" dirty="0"/>
              <a:t>判断测得的次品率是否小于</a:t>
            </a:r>
            <a:r>
              <a:rPr lang="en-US" altLang="zh-CN" dirty="0"/>
              <a:t>c1</a:t>
            </a:r>
            <a:r>
              <a:rPr lang="zh-CN" altLang="en-US" dirty="0"/>
              <a:t>，如果小于</a:t>
            </a:r>
            <a:r>
              <a:rPr lang="en-US" altLang="zh-CN" dirty="0"/>
              <a:t>c1</a:t>
            </a:r>
            <a:r>
              <a:rPr lang="zh-CN" altLang="en-US" dirty="0"/>
              <a:t>，则接收。 </a:t>
            </a:r>
            <a:endParaRPr lang="en-US" altLang="zh-CN" dirty="0"/>
          </a:p>
          <a:p>
            <a:pPr algn="just"/>
            <a:r>
              <a:rPr lang="zh-CN" altLang="en-US" dirty="0"/>
              <a:t>如果测得的次品率在</a:t>
            </a:r>
            <a:r>
              <a:rPr lang="en-US" altLang="zh-CN" dirty="0"/>
              <a:t>c1</a:t>
            </a:r>
            <a:r>
              <a:rPr lang="zh-CN" altLang="en-US" dirty="0"/>
              <a:t>和</a:t>
            </a:r>
            <a:r>
              <a:rPr lang="en-US" altLang="zh-CN" dirty="0"/>
              <a:t>r1</a:t>
            </a:r>
            <a:r>
              <a:rPr lang="zh-CN" altLang="en-US" dirty="0"/>
              <a:t>之间，则进行第二轮抽样，样本量为</a:t>
            </a:r>
            <a:r>
              <a:rPr lang="en-US" altLang="zh-CN" dirty="0"/>
              <a:t>n2</a:t>
            </a:r>
            <a:r>
              <a:rPr lang="zh-CN" altLang="en-US" dirty="0"/>
              <a:t>，判断测得的 次品率是否超过</a:t>
            </a:r>
            <a:r>
              <a:rPr lang="en-US" altLang="zh-CN" dirty="0"/>
              <a:t>r2</a:t>
            </a:r>
            <a:r>
              <a:rPr lang="zh-CN" altLang="en-US" dirty="0"/>
              <a:t>，如果超过</a:t>
            </a:r>
            <a:r>
              <a:rPr lang="en-US" altLang="zh-CN" dirty="0"/>
              <a:t>r2</a:t>
            </a:r>
            <a:r>
              <a:rPr lang="zh-CN" altLang="en-US" dirty="0"/>
              <a:t>，则拒收；否则接收。</a:t>
            </a:r>
            <a:endParaRPr lang="zh-CN" altLang="en-US" dirty="0">
              <a:solidFill>
                <a:srgbClr val="768394"/>
              </a:solidFill>
              <a:latin typeface="Arial" panose="020B0604020202020204"/>
              <a:ea typeface="微软雅黑" panose="020B0503020204020204" charset="-122"/>
              <a:cs typeface="+mn-ea"/>
              <a:sym typeface="+mn-lt"/>
            </a:endParaRPr>
          </a:p>
        </p:txBody>
      </p:sp>
      <p:sp>
        <p:nvSpPr>
          <p:cNvPr id="4" name="椭圆 3"/>
          <p:cNvSpPr/>
          <p:nvPr/>
        </p:nvSpPr>
        <p:spPr>
          <a:xfrm>
            <a:off x="6671196" y="4502819"/>
            <a:ext cx="832023" cy="832023"/>
          </a:xfrm>
          <a:prstGeom prst="ellipse">
            <a:avLst/>
          </a:prstGeom>
          <a:noFill/>
          <a:ln w="38100" cap="flat" cmpd="sng" algn="ctr">
            <a:solidFill>
              <a:srgbClr val="961318"/>
            </a:soli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 name="椭圆 4"/>
          <p:cNvSpPr/>
          <p:nvPr/>
        </p:nvSpPr>
        <p:spPr>
          <a:xfrm>
            <a:off x="6791583" y="4623206"/>
            <a:ext cx="591249" cy="591249"/>
          </a:xfrm>
          <a:prstGeom prst="ellipse">
            <a:avLst/>
          </a:prstGeom>
          <a:solidFill>
            <a:srgbClr val="961318"/>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6" name="文本框 5"/>
          <p:cNvSpPr txBox="1"/>
          <p:nvPr/>
        </p:nvSpPr>
        <p:spPr>
          <a:xfrm>
            <a:off x="6186219" y="5480991"/>
            <a:ext cx="1828799" cy="646331"/>
          </a:xfrm>
          <a:prstGeom prst="rect">
            <a:avLst/>
          </a:prstGeom>
          <a:noFill/>
        </p:spPr>
        <p:txBody>
          <a:bodyPr wrap="square" rtlCol="0">
            <a:spAutoFit/>
          </a:bodyPr>
          <a:lstStyle/>
          <a:p>
            <a:pPr algn="ctr"/>
            <a:r>
              <a:rPr lang="zh-CN" altLang="en-US" dirty="0">
                <a:solidFill>
                  <a:srgbClr val="768394"/>
                </a:solidFill>
                <a:latin typeface="Arial" panose="020B0604020202020204"/>
                <a:ea typeface="微软雅黑" panose="020B0503020204020204" charset="-122"/>
                <a:cs typeface="+mn-ea"/>
              </a:rPr>
              <a:t>参数</a:t>
            </a:r>
            <a:r>
              <a:rPr lang="en-US" altLang="zh-CN" dirty="0"/>
              <a:t>(r1,c1,r2,n1,n2)</a:t>
            </a:r>
            <a:endParaRPr lang="zh-CN" altLang="en-US" dirty="0">
              <a:solidFill>
                <a:srgbClr val="768394"/>
              </a:solidFill>
              <a:latin typeface="Arial" panose="020B0604020202020204"/>
              <a:ea typeface="微软雅黑" panose="020B0503020204020204" charset="-122"/>
              <a:cs typeface="+mn-ea"/>
              <a:sym typeface="+mn-lt"/>
            </a:endParaRPr>
          </a:p>
        </p:txBody>
      </p:sp>
      <p:sp>
        <p:nvSpPr>
          <p:cNvPr id="39" name="椭圆 38"/>
          <p:cNvSpPr/>
          <p:nvPr/>
        </p:nvSpPr>
        <p:spPr>
          <a:xfrm>
            <a:off x="8526818" y="4502819"/>
            <a:ext cx="832023" cy="832023"/>
          </a:xfrm>
          <a:prstGeom prst="ellipse">
            <a:avLst/>
          </a:prstGeom>
          <a:noFill/>
          <a:ln w="38100" cap="flat" cmpd="sng" algn="ctr">
            <a:solidFill>
              <a:srgbClr val="961318"/>
            </a:soli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41" name="椭圆 40"/>
          <p:cNvSpPr/>
          <p:nvPr/>
        </p:nvSpPr>
        <p:spPr>
          <a:xfrm>
            <a:off x="8647205" y="4623206"/>
            <a:ext cx="591249" cy="591249"/>
          </a:xfrm>
          <a:prstGeom prst="ellipse">
            <a:avLst/>
          </a:prstGeom>
          <a:solidFill>
            <a:srgbClr val="961318"/>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3" name="文本框 52"/>
          <p:cNvSpPr txBox="1"/>
          <p:nvPr/>
        </p:nvSpPr>
        <p:spPr>
          <a:xfrm flipH="1">
            <a:off x="8143629" y="5499533"/>
            <a:ext cx="1727011" cy="923330"/>
          </a:xfrm>
          <a:prstGeom prst="rect">
            <a:avLst/>
          </a:prstGeom>
          <a:noFill/>
        </p:spPr>
        <p:txBody>
          <a:bodyPr wrap="square" rtlCol="0">
            <a:spAutoFit/>
          </a:bodyPr>
          <a:lstStyle/>
          <a:p>
            <a:pPr algn="ctr"/>
            <a:r>
              <a:rPr lang="zh-CN" altLang="en-US" dirty="0">
                <a:solidFill>
                  <a:srgbClr val="768394"/>
                </a:solidFill>
                <a:latin typeface="Arial" panose="020B0604020202020204"/>
                <a:ea typeface="微软雅黑" panose="020B0503020204020204" charset="-122"/>
                <a:cs typeface="+mn-ea"/>
                <a:sym typeface="+mn-lt"/>
              </a:rPr>
              <a:t>优化</a:t>
            </a:r>
            <a:endParaRPr lang="en-US" altLang="zh-CN" dirty="0">
              <a:solidFill>
                <a:srgbClr val="768394"/>
              </a:solidFill>
              <a:latin typeface="Arial" panose="020B0604020202020204"/>
              <a:ea typeface="微软雅黑" panose="020B0503020204020204" charset="-122"/>
              <a:cs typeface="+mn-ea"/>
              <a:sym typeface="+mn-lt"/>
            </a:endParaRPr>
          </a:p>
          <a:p>
            <a:pPr algn="ctr"/>
            <a:r>
              <a:rPr lang="zh-CN" altLang="en-US" dirty="0">
                <a:sym typeface="+mn-lt"/>
              </a:rPr>
              <a:t>求解最优的</a:t>
            </a:r>
            <a:r>
              <a:rPr lang="en-US" altLang="zh-CN" dirty="0">
                <a:sym typeface="+mn-lt"/>
              </a:rPr>
              <a:t>E(n)</a:t>
            </a:r>
            <a:r>
              <a:rPr lang="zh-CN" altLang="en-US" dirty="0">
                <a:sym typeface="+mn-lt"/>
              </a:rPr>
              <a:t>与</a:t>
            </a:r>
            <a:r>
              <a:rPr lang="en-US" altLang="zh-CN" dirty="0">
                <a:sym typeface="+mn-lt"/>
              </a:rPr>
              <a:t>K</a:t>
            </a:r>
            <a:r>
              <a:rPr lang="zh-CN" altLang="en-US" dirty="0">
                <a:sym typeface="+mn-lt"/>
              </a:rPr>
              <a:t>的关系</a:t>
            </a:r>
            <a:endParaRPr lang="zh-CN" altLang="en-US" dirty="0">
              <a:sym typeface="+mn-lt"/>
            </a:endParaRPr>
          </a:p>
        </p:txBody>
      </p:sp>
      <p:sp>
        <p:nvSpPr>
          <p:cNvPr id="55" name="椭圆 54"/>
          <p:cNvSpPr/>
          <p:nvPr/>
        </p:nvSpPr>
        <p:spPr>
          <a:xfrm>
            <a:off x="10382440" y="4502819"/>
            <a:ext cx="832023" cy="832023"/>
          </a:xfrm>
          <a:prstGeom prst="ellipse">
            <a:avLst/>
          </a:prstGeom>
          <a:noFill/>
          <a:ln w="38100" cap="flat" cmpd="sng" algn="ctr">
            <a:solidFill>
              <a:srgbClr val="961318"/>
            </a:soli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7" name="椭圆 56"/>
          <p:cNvSpPr/>
          <p:nvPr/>
        </p:nvSpPr>
        <p:spPr>
          <a:xfrm>
            <a:off x="10502828" y="4623206"/>
            <a:ext cx="591249" cy="591249"/>
          </a:xfrm>
          <a:prstGeom prst="ellipse">
            <a:avLst/>
          </a:prstGeom>
          <a:solidFill>
            <a:srgbClr val="961318"/>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9" name="文本框 58"/>
          <p:cNvSpPr txBox="1"/>
          <p:nvPr/>
        </p:nvSpPr>
        <p:spPr>
          <a:xfrm>
            <a:off x="9870641" y="5499533"/>
            <a:ext cx="1922774" cy="923330"/>
          </a:xfrm>
          <a:prstGeom prst="rect">
            <a:avLst/>
          </a:prstGeom>
          <a:noFill/>
        </p:spPr>
        <p:txBody>
          <a:bodyPr wrap="square" rtlCol="0">
            <a:spAutoFit/>
          </a:bodyPr>
          <a:lstStyle/>
          <a:p>
            <a:pPr algn="ctr"/>
            <a:r>
              <a:rPr lang="zh-CN" altLang="en-US" dirty="0">
                <a:solidFill>
                  <a:srgbClr val="768394"/>
                </a:solidFill>
                <a:latin typeface="Arial" panose="020B0604020202020204"/>
                <a:ea typeface="微软雅黑" panose="020B0503020204020204" charset="-122"/>
                <a:cs typeface="+mn-ea"/>
                <a:sym typeface="+mn-lt"/>
              </a:rPr>
              <a:t>比较</a:t>
            </a:r>
            <a:endParaRPr lang="en-US" altLang="zh-CN" dirty="0">
              <a:solidFill>
                <a:srgbClr val="768394"/>
              </a:solidFill>
              <a:latin typeface="Arial" panose="020B0604020202020204"/>
              <a:ea typeface="微软雅黑" panose="020B0503020204020204" charset="-122"/>
              <a:cs typeface="+mn-ea"/>
              <a:sym typeface="+mn-lt"/>
            </a:endParaRPr>
          </a:p>
          <a:p>
            <a:pPr algn="ctr"/>
            <a:r>
              <a:rPr lang="zh-CN" altLang="en-US" dirty="0">
                <a:sym typeface="+mn-lt"/>
              </a:rPr>
              <a:t>绘制</a:t>
            </a:r>
            <a:r>
              <a:rPr lang="en-US" altLang="zh-CN" dirty="0">
                <a:sym typeface="+mn-lt"/>
              </a:rPr>
              <a:t>K(n)-E(n)</a:t>
            </a:r>
            <a:r>
              <a:rPr lang="zh-CN" altLang="en-US" dirty="0">
                <a:sym typeface="+mn-lt"/>
              </a:rPr>
              <a:t>与</a:t>
            </a:r>
            <a:r>
              <a:rPr lang="en-US" altLang="zh-CN" dirty="0">
                <a:sym typeface="+mn-lt"/>
              </a:rPr>
              <a:t>K(</a:t>
            </a:r>
            <a:r>
              <a:rPr lang="en-US" altLang="zh-CN" dirty="0" err="1">
                <a:sym typeface="+mn-lt"/>
              </a:rPr>
              <a:t>n,p</a:t>
            </a:r>
            <a:r>
              <a:rPr lang="en-US" altLang="zh-CN" dirty="0">
                <a:sym typeface="+mn-lt"/>
              </a:rPr>
              <a:t>)-p</a:t>
            </a:r>
            <a:r>
              <a:rPr lang="zh-CN" altLang="en-US" dirty="0">
                <a:sym typeface="+mn-lt"/>
              </a:rPr>
              <a:t>图像</a:t>
            </a:r>
            <a:endParaRPr lang="zh-CN" altLang="en-US" dirty="0">
              <a:sym typeface="+mn-lt"/>
            </a:endParaRPr>
          </a:p>
        </p:txBody>
      </p:sp>
      <p:sp>
        <p:nvSpPr>
          <p:cNvPr id="65" name="iconfont-1187-868319"/>
          <p:cNvSpPr>
            <a:spLocks noChangeAspect="1"/>
          </p:cNvSpPr>
          <p:nvPr/>
        </p:nvSpPr>
        <p:spPr bwMode="auto">
          <a:xfrm>
            <a:off x="10620604" y="4741129"/>
            <a:ext cx="355696" cy="355402"/>
          </a:xfrm>
          <a:custGeom>
            <a:avLst/>
            <a:gdLst>
              <a:gd name="T0" fmla="*/ 11212 w 12607"/>
              <a:gd name="T1" fmla="*/ 4855 h 12594"/>
              <a:gd name="T2" fmla="*/ 11019 w 12607"/>
              <a:gd name="T3" fmla="*/ 4855 h 12594"/>
              <a:gd name="T4" fmla="*/ 10644 w 12607"/>
              <a:gd name="T5" fmla="*/ 3981 h 12594"/>
              <a:gd name="T6" fmla="*/ 10796 w 12607"/>
              <a:gd name="T7" fmla="*/ 3830 h 12594"/>
              <a:gd name="T8" fmla="*/ 10796 w 12607"/>
              <a:gd name="T9" fmla="*/ 1864 h 12594"/>
              <a:gd name="T10" fmla="*/ 10755 w 12607"/>
              <a:gd name="T11" fmla="*/ 1823 h 12594"/>
              <a:gd name="T12" fmla="*/ 8781 w 12607"/>
              <a:gd name="T13" fmla="*/ 1823 h 12594"/>
              <a:gd name="T14" fmla="*/ 8611 w 12607"/>
              <a:gd name="T15" fmla="*/ 1992 h 12594"/>
              <a:gd name="T16" fmla="*/ 7729 w 12607"/>
              <a:gd name="T17" fmla="*/ 1634 h 12594"/>
              <a:gd name="T18" fmla="*/ 7729 w 12607"/>
              <a:gd name="T19" fmla="*/ 1390 h 12594"/>
              <a:gd name="T20" fmla="*/ 6333 w 12607"/>
              <a:gd name="T21" fmla="*/ 0 h 12594"/>
              <a:gd name="T22" fmla="*/ 6274 w 12607"/>
              <a:gd name="T23" fmla="*/ 0 h 12594"/>
              <a:gd name="T24" fmla="*/ 4878 w 12607"/>
              <a:gd name="T25" fmla="*/ 1390 h 12594"/>
              <a:gd name="T26" fmla="*/ 4878 w 12607"/>
              <a:gd name="T27" fmla="*/ 1652 h 12594"/>
              <a:gd name="T28" fmla="*/ 4033 w 12607"/>
              <a:gd name="T29" fmla="*/ 2003 h 12594"/>
              <a:gd name="T30" fmla="*/ 3852 w 12607"/>
              <a:gd name="T31" fmla="*/ 1823 h 12594"/>
              <a:gd name="T32" fmla="*/ 1878 w 12607"/>
              <a:gd name="T33" fmla="*/ 1823 h 12594"/>
              <a:gd name="T34" fmla="*/ 1837 w 12607"/>
              <a:gd name="T35" fmla="*/ 1864 h 12594"/>
              <a:gd name="T36" fmla="*/ 1837 w 12607"/>
              <a:gd name="T37" fmla="*/ 3830 h 12594"/>
              <a:gd name="T38" fmla="*/ 2012 w 12607"/>
              <a:gd name="T39" fmla="*/ 4004 h 12594"/>
              <a:gd name="T40" fmla="*/ 1650 w 12607"/>
              <a:gd name="T41" fmla="*/ 4855 h 12594"/>
              <a:gd name="T42" fmla="*/ 1396 w 12607"/>
              <a:gd name="T43" fmla="*/ 4855 h 12594"/>
              <a:gd name="T44" fmla="*/ 0 w 12607"/>
              <a:gd name="T45" fmla="*/ 6245 h 12594"/>
              <a:gd name="T46" fmla="*/ 0 w 12607"/>
              <a:gd name="T47" fmla="*/ 6304 h 12594"/>
              <a:gd name="T48" fmla="*/ 1396 w 12607"/>
              <a:gd name="T49" fmla="*/ 7694 h 12594"/>
              <a:gd name="T50" fmla="*/ 1618 w 12607"/>
              <a:gd name="T51" fmla="*/ 7694 h 12594"/>
              <a:gd name="T52" fmla="*/ 1983 w 12607"/>
              <a:gd name="T53" fmla="*/ 8593 h 12594"/>
              <a:gd name="T54" fmla="*/ 1814 w 12607"/>
              <a:gd name="T55" fmla="*/ 8761 h 12594"/>
              <a:gd name="T56" fmla="*/ 1814 w 12607"/>
              <a:gd name="T57" fmla="*/ 10728 h 12594"/>
              <a:gd name="T58" fmla="*/ 1855 w 12607"/>
              <a:gd name="T59" fmla="*/ 10769 h 12594"/>
              <a:gd name="T60" fmla="*/ 3829 w 12607"/>
              <a:gd name="T61" fmla="*/ 10769 h 12594"/>
              <a:gd name="T62" fmla="*/ 3981 w 12607"/>
              <a:gd name="T63" fmla="*/ 10618 h 12594"/>
              <a:gd name="T64" fmla="*/ 4878 w 12607"/>
              <a:gd name="T65" fmla="*/ 10999 h 12594"/>
              <a:gd name="T66" fmla="*/ 4878 w 12607"/>
              <a:gd name="T67" fmla="*/ 11204 h 12594"/>
              <a:gd name="T68" fmla="*/ 6274 w 12607"/>
              <a:gd name="T69" fmla="*/ 12594 h 12594"/>
              <a:gd name="T70" fmla="*/ 6333 w 12607"/>
              <a:gd name="T71" fmla="*/ 12594 h 12594"/>
              <a:gd name="T72" fmla="*/ 7729 w 12607"/>
              <a:gd name="T73" fmla="*/ 11204 h 12594"/>
              <a:gd name="T74" fmla="*/ 7729 w 12607"/>
              <a:gd name="T75" fmla="*/ 11016 h 12594"/>
              <a:gd name="T76" fmla="*/ 8664 w 12607"/>
              <a:gd name="T77" fmla="*/ 10630 h 12594"/>
              <a:gd name="T78" fmla="*/ 8803 w 12607"/>
              <a:gd name="T79" fmla="*/ 10769 h 12594"/>
              <a:gd name="T80" fmla="*/ 10777 w 12607"/>
              <a:gd name="T81" fmla="*/ 10769 h 12594"/>
              <a:gd name="T82" fmla="*/ 10819 w 12607"/>
              <a:gd name="T83" fmla="*/ 10728 h 12594"/>
              <a:gd name="T84" fmla="*/ 10819 w 12607"/>
              <a:gd name="T85" fmla="*/ 8761 h 12594"/>
              <a:gd name="T86" fmla="*/ 10673 w 12607"/>
              <a:gd name="T87" fmla="*/ 8616 h 12594"/>
              <a:gd name="T88" fmla="*/ 11051 w 12607"/>
              <a:gd name="T89" fmla="*/ 7694 h 12594"/>
              <a:gd name="T90" fmla="*/ 11211 w 12607"/>
              <a:gd name="T91" fmla="*/ 7694 h 12594"/>
              <a:gd name="T92" fmla="*/ 12607 w 12607"/>
              <a:gd name="T93" fmla="*/ 6304 h 12594"/>
              <a:gd name="T94" fmla="*/ 12607 w 12607"/>
              <a:gd name="T95" fmla="*/ 6245 h 12594"/>
              <a:gd name="T96" fmla="*/ 11212 w 12607"/>
              <a:gd name="T97" fmla="*/ 4855 h 12594"/>
              <a:gd name="T98" fmla="*/ 6337 w 12607"/>
              <a:gd name="T99" fmla="*/ 8498 h 12594"/>
              <a:gd name="T100" fmla="*/ 4152 w 12607"/>
              <a:gd name="T101" fmla="*/ 6323 h 12594"/>
              <a:gd name="T102" fmla="*/ 6337 w 12607"/>
              <a:gd name="T103" fmla="*/ 4146 h 12594"/>
              <a:gd name="T104" fmla="*/ 8521 w 12607"/>
              <a:gd name="T105" fmla="*/ 6323 h 12594"/>
              <a:gd name="T106" fmla="*/ 6337 w 12607"/>
              <a:gd name="T107" fmla="*/ 8498 h 12594"/>
              <a:gd name="T108" fmla="*/ 6337 w 12607"/>
              <a:gd name="T109" fmla="*/ 8498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07" h="12594">
                <a:moveTo>
                  <a:pt x="11212" y="4855"/>
                </a:moveTo>
                <a:lnTo>
                  <a:pt x="11019" y="4855"/>
                </a:lnTo>
                <a:cubicBezTo>
                  <a:pt x="10923" y="4550"/>
                  <a:pt x="10796" y="4258"/>
                  <a:pt x="10644" y="3981"/>
                </a:cubicBezTo>
                <a:lnTo>
                  <a:pt x="10796" y="3830"/>
                </a:lnTo>
                <a:cubicBezTo>
                  <a:pt x="11341" y="3287"/>
                  <a:pt x="11341" y="2407"/>
                  <a:pt x="10796" y="1864"/>
                </a:cubicBezTo>
                <a:lnTo>
                  <a:pt x="10755" y="1823"/>
                </a:lnTo>
                <a:cubicBezTo>
                  <a:pt x="10209" y="1279"/>
                  <a:pt x="9326" y="1279"/>
                  <a:pt x="8781" y="1823"/>
                </a:cubicBezTo>
                <a:lnTo>
                  <a:pt x="8611" y="1992"/>
                </a:lnTo>
                <a:cubicBezTo>
                  <a:pt x="8332" y="1846"/>
                  <a:pt x="8037" y="1725"/>
                  <a:pt x="7729" y="1634"/>
                </a:cubicBezTo>
                <a:lnTo>
                  <a:pt x="7729" y="1390"/>
                </a:lnTo>
                <a:cubicBezTo>
                  <a:pt x="7729" y="622"/>
                  <a:pt x="7104" y="0"/>
                  <a:pt x="6333" y="0"/>
                </a:cubicBezTo>
                <a:lnTo>
                  <a:pt x="6274" y="0"/>
                </a:lnTo>
                <a:cubicBezTo>
                  <a:pt x="5503" y="0"/>
                  <a:pt x="4878" y="622"/>
                  <a:pt x="4878" y="1390"/>
                </a:cubicBezTo>
                <a:lnTo>
                  <a:pt x="4878" y="1652"/>
                </a:lnTo>
                <a:cubicBezTo>
                  <a:pt x="4584" y="1742"/>
                  <a:pt x="4301" y="1861"/>
                  <a:pt x="4033" y="2003"/>
                </a:cubicBezTo>
                <a:lnTo>
                  <a:pt x="3852" y="1823"/>
                </a:lnTo>
                <a:cubicBezTo>
                  <a:pt x="3307" y="1280"/>
                  <a:pt x="2423" y="1280"/>
                  <a:pt x="1878" y="1823"/>
                </a:cubicBezTo>
                <a:lnTo>
                  <a:pt x="1837" y="1864"/>
                </a:lnTo>
                <a:cubicBezTo>
                  <a:pt x="1292" y="2407"/>
                  <a:pt x="1292" y="3287"/>
                  <a:pt x="1837" y="3830"/>
                </a:cubicBezTo>
                <a:lnTo>
                  <a:pt x="2012" y="4004"/>
                </a:lnTo>
                <a:cubicBezTo>
                  <a:pt x="1865" y="4274"/>
                  <a:pt x="1743" y="4558"/>
                  <a:pt x="1650" y="4855"/>
                </a:cubicBezTo>
                <a:lnTo>
                  <a:pt x="1396" y="4855"/>
                </a:lnTo>
                <a:cubicBezTo>
                  <a:pt x="625" y="4855"/>
                  <a:pt x="0" y="5478"/>
                  <a:pt x="0" y="6245"/>
                </a:cubicBezTo>
                <a:lnTo>
                  <a:pt x="0" y="6304"/>
                </a:lnTo>
                <a:cubicBezTo>
                  <a:pt x="0" y="7072"/>
                  <a:pt x="625" y="7694"/>
                  <a:pt x="1396" y="7694"/>
                </a:cubicBezTo>
                <a:lnTo>
                  <a:pt x="1618" y="7694"/>
                </a:lnTo>
                <a:cubicBezTo>
                  <a:pt x="1710" y="8008"/>
                  <a:pt x="1833" y="8308"/>
                  <a:pt x="1983" y="8593"/>
                </a:cubicBezTo>
                <a:lnTo>
                  <a:pt x="1814" y="8761"/>
                </a:lnTo>
                <a:cubicBezTo>
                  <a:pt x="1269" y="9304"/>
                  <a:pt x="1269" y="10185"/>
                  <a:pt x="1814" y="10728"/>
                </a:cubicBezTo>
                <a:lnTo>
                  <a:pt x="1855" y="10769"/>
                </a:lnTo>
                <a:cubicBezTo>
                  <a:pt x="2400" y="11312"/>
                  <a:pt x="3284" y="11312"/>
                  <a:pt x="3829" y="10769"/>
                </a:cubicBezTo>
                <a:lnTo>
                  <a:pt x="3981" y="10618"/>
                </a:lnTo>
                <a:cubicBezTo>
                  <a:pt x="4264" y="10773"/>
                  <a:pt x="4564" y="10902"/>
                  <a:pt x="4878" y="10999"/>
                </a:cubicBezTo>
                <a:lnTo>
                  <a:pt x="4878" y="11204"/>
                </a:lnTo>
                <a:cubicBezTo>
                  <a:pt x="4878" y="11972"/>
                  <a:pt x="5503" y="12594"/>
                  <a:pt x="6274" y="12594"/>
                </a:cubicBezTo>
                <a:lnTo>
                  <a:pt x="6333" y="12594"/>
                </a:lnTo>
                <a:cubicBezTo>
                  <a:pt x="7104" y="12594"/>
                  <a:pt x="7729" y="11972"/>
                  <a:pt x="7729" y="11204"/>
                </a:cubicBezTo>
                <a:lnTo>
                  <a:pt x="7729" y="11016"/>
                </a:lnTo>
                <a:cubicBezTo>
                  <a:pt x="8056" y="10920"/>
                  <a:pt x="8368" y="10788"/>
                  <a:pt x="8664" y="10630"/>
                </a:cubicBezTo>
                <a:lnTo>
                  <a:pt x="8803" y="10769"/>
                </a:lnTo>
                <a:cubicBezTo>
                  <a:pt x="9348" y="11312"/>
                  <a:pt x="10233" y="11312"/>
                  <a:pt x="10777" y="10769"/>
                </a:cubicBezTo>
                <a:lnTo>
                  <a:pt x="10819" y="10728"/>
                </a:lnTo>
                <a:cubicBezTo>
                  <a:pt x="11364" y="10185"/>
                  <a:pt x="11364" y="9304"/>
                  <a:pt x="10819" y="8761"/>
                </a:cubicBezTo>
                <a:lnTo>
                  <a:pt x="10673" y="8616"/>
                </a:lnTo>
                <a:cubicBezTo>
                  <a:pt x="10828" y="8324"/>
                  <a:pt x="10956" y="8017"/>
                  <a:pt x="11051" y="7694"/>
                </a:cubicBezTo>
                <a:lnTo>
                  <a:pt x="11211" y="7694"/>
                </a:lnTo>
                <a:cubicBezTo>
                  <a:pt x="11982" y="7694"/>
                  <a:pt x="12607" y="7071"/>
                  <a:pt x="12607" y="6304"/>
                </a:cubicBezTo>
                <a:lnTo>
                  <a:pt x="12607" y="6245"/>
                </a:lnTo>
                <a:cubicBezTo>
                  <a:pt x="12607" y="5477"/>
                  <a:pt x="11982" y="4855"/>
                  <a:pt x="11212" y="4855"/>
                </a:cubicBezTo>
                <a:close/>
                <a:moveTo>
                  <a:pt x="6337" y="8498"/>
                </a:moveTo>
                <a:cubicBezTo>
                  <a:pt x="5130" y="8498"/>
                  <a:pt x="4152" y="7524"/>
                  <a:pt x="4152" y="6323"/>
                </a:cubicBezTo>
                <a:cubicBezTo>
                  <a:pt x="4152" y="5120"/>
                  <a:pt x="5130" y="4146"/>
                  <a:pt x="6337" y="4146"/>
                </a:cubicBezTo>
                <a:cubicBezTo>
                  <a:pt x="7544" y="4146"/>
                  <a:pt x="8521" y="5120"/>
                  <a:pt x="8521" y="6323"/>
                </a:cubicBezTo>
                <a:cubicBezTo>
                  <a:pt x="8521" y="7524"/>
                  <a:pt x="7544" y="8498"/>
                  <a:pt x="6337" y="8498"/>
                </a:cubicBezTo>
                <a:close/>
                <a:moveTo>
                  <a:pt x="6337" y="8498"/>
                </a:moveTo>
                <a:close/>
              </a:path>
            </a:pathLst>
          </a:custGeom>
          <a:solidFill>
            <a:srgbClr val="FFFFFF"/>
          </a:solidFill>
          <a:ln>
            <a:noFill/>
          </a:ln>
        </p:spPr>
        <p:txBody>
          <a:bodyPr/>
          <a:lstStyle/>
          <a:p>
            <a:endParaRPr lang="zh-CN" altLang="en-US"/>
          </a:p>
        </p:txBody>
      </p:sp>
      <p:sp>
        <p:nvSpPr>
          <p:cNvPr id="67" name="iconfont-11899-5650873"/>
          <p:cNvSpPr>
            <a:spLocks noChangeAspect="1"/>
          </p:cNvSpPr>
          <p:nvPr/>
        </p:nvSpPr>
        <p:spPr bwMode="auto">
          <a:xfrm>
            <a:off x="6931608" y="4740983"/>
            <a:ext cx="311198" cy="355694"/>
          </a:xfrm>
          <a:custGeom>
            <a:avLst/>
            <a:gdLst>
              <a:gd name="T0" fmla="*/ 8582 w 9077"/>
              <a:gd name="T1" fmla="*/ 4538 h 10373"/>
              <a:gd name="T2" fmla="*/ 9077 w 9077"/>
              <a:gd name="T3" fmla="*/ 4538 h 10373"/>
              <a:gd name="T4" fmla="*/ 9077 w 9077"/>
              <a:gd name="T5" fmla="*/ 9151 h 10373"/>
              <a:gd name="T6" fmla="*/ 7855 w 9077"/>
              <a:gd name="T7" fmla="*/ 10373 h 10373"/>
              <a:gd name="T8" fmla="*/ 4789 w 9077"/>
              <a:gd name="T9" fmla="*/ 10373 h 10373"/>
              <a:gd name="T10" fmla="*/ 4539 w 9077"/>
              <a:gd name="T11" fmla="*/ 10123 h 10373"/>
              <a:gd name="T12" fmla="*/ 4539 w 9077"/>
              <a:gd name="T13" fmla="*/ 9562 h 10373"/>
              <a:gd name="T14" fmla="*/ 4789 w 9077"/>
              <a:gd name="T15" fmla="*/ 9312 h 10373"/>
              <a:gd name="T16" fmla="*/ 7532 w 9077"/>
              <a:gd name="T17" fmla="*/ 9312 h 10373"/>
              <a:gd name="T18" fmla="*/ 8106 w 9077"/>
              <a:gd name="T19" fmla="*/ 8738 h 10373"/>
              <a:gd name="T20" fmla="*/ 8106 w 9077"/>
              <a:gd name="T21" fmla="*/ 7780 h 10373"/>
              <a:gd name="T22" fmla="*/ 6734 w 9077"/>
              <a:gd name="T23" fmla="*/ 7780 h 10373"/>
              <a:gd name="T24" fmla="*/ 6484 w 9077"/>
              <a:gd name="T25" fmla="*/ 7530 h 10373"/>
              <a:gd name="T26" fmla="*/ 6484 w 9077"/>
              <a:gd name="T27" fmla="*/ 4788 h 10373"/>
              <a:gd name="T28" fmla="*/ 6734 w 9077"/>
              <a:gd name="T29" fmla="*/ 4538 h 10373"/>
              <a:gd name="T30" fmla="*/ 8582 w 9077"/>
              <a:gd name="T31" fmla="*/ 4538 h 10373"/>
              <a:gd name="T32" fmla="*/ 8087 w 9077"/>
              <a:gd name="T33" fmla="*/ 4538 h 10373"/>
              <a:gd name="T34" fmla="*/ 8087 w 9077"/>
              <a:gd name="T35" fmla="*/ 4520 h 10373"/>
              <a:gd name="T36" fmla="*/ 4521 w 9077"/>
              <a:gd name="T37" fmla="*/ 972 h 10373"/>
              <a:gd name="T38" fmla="*/ 955 w 9077"/>
              <a:gd name="T39" fmla="*/ 4520 h 10373"/>
              <a:gd name="T40" fmla="*/ 955 w 9077"/>
              <a:gd name="T41" fmla="*/ 4538 h 10373"/>
              <a:gd name="T42" fmla="*/ 0 w 9077"/>
              <a:gd name="T43" fmla="*/ 4538 h 10373"/>
              <a:gd name="T44" fmla="*/ 0 w 9077"/>
              <a:gd name="T45" fmla="*/ 6558 h 10373"/>
              <a:gd name="T46" fmla="*/ 1222 w 9077"/>
              <a:gd name="T47" fmla="*/ 7781 h 10373"/>
              <a:gd name="T48" fmla="*/ 2343 w 9077"/>
              <a:gd name="T49" fmla="*/ 7781 h 10373"/>
              <a:gd name="T50" fmla="*/ 2593 w 9077"/>
              <a:gd name="T51" fmla="*/ 7531 h 10373"/>
              <a:gd name="T52" fmla="*/ 2593 w 9077"/>
              <a:gd name="T53" fmla="*/ 4788 h 10373"/>
              <a:gd name="T54" fmla="*/ 2343 w 9077"/>
              <a:gd name="T55" fmla="*/ 4538 h 10373"/>
              <a:gd name="T56" fmla="*/ 0 w 9077"/>
              <a:gd name="T57" fmla="*/ 4538 h 10373"/>
              <a:gd name="T58" fmla="*/ 0 w 9077"/>
              <a:gd name="T59" fmla="*/ 4516 h 10373"/>
              <a:gd name="T60" fmla="*/ 4539 w 9077"/>
              <a:gd name="T61" fmla="*/ 0 h 10373"/>
              <a:gd name="T62" fmla="*/ 9077 w 9077"/>
              <a:gd name="T63" fmla="*/ 4516 h 10373"/>
              <a:gd name="T64" fmla="*/ 9077 w 9077"/>
              <a:gd name="T65" fmla="*/ 4538 h 10373"/>
              <a:gd name="T66" fmla="*/ 8582 w 9077"/>
              <a:gd name="T67" fmla="*/ 4538 h 10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77" h="10373">
                <a:moveTo>
                  <a:pt x="8582" y="4538"/>
                </a:moveTo>
                <a:lnTo>
                  <a:pt x="9077" y="4538"/>
                </a:lnTo>
                <a:lnTo>
                  <a:pt x="9077" y="9151"/>
                </a:lnTo>
                <a:cubicBezTo>
                  <a:pt x="9077" y="9826"/>
                  <a:pt x="8530" y="10373"/>
                  <a:pt x="7855" y="10373"/>
                </a:cubicBezTo>
                <a:lnTo>
                  <a:pt x="4789" y="10373"/>
                </a:lnTo>
                <a:cubicBezTo>
                  <a:pt x="4651" y="10373"/>
                  <a:pt x="4539" y="10261"/>
                  <a:pt x="4539" y="10123"/>
                </a:cubicBezTo>
                <a:lnTo>
                  <a:pt x="4539" y="9562"/>
                </a:lnTo>
                <a:cubicBezTo>
                  <a:pt x="4539" y="9425"/>
                  <a:pt x="4651" y="9312"/>
                  <a:pt x="4789" y="9312"/>
                </a:cubicBezTo>
                <a:lnTo>
                  <a:pt x="7532" y="9312"/>
                </a:lnTo>
                <a:cubicBezTo>
                  <a:pt x="7850" y="9312"/>
                  <a:pt x="8106" y="9055"/>
                  <a:pt x="8106" y="8738"/>
                </a:cubicBezTo>
                <a:lnTo>
                  <a:pt x="8106" y="7780"/>
                </a:lnTo>
                <a:lnTo>
                  <a:pt x="6734" y="7780"/>
                </a:lnTo>
                <a:cubicBezTo>
                  <a:pt x="6596" y="7780"/>
                  <a:pt x="6484" y="7667"/>
                  <a:pt x="6484" y="7530"/>
                </a:cubicBezTo>
                <a:lnTo>
                  <a:pt x="6484" y="4788"/>
                </a:lnTo>
                <a:cubicBezTo>
                  <a:pt x="6484" y="4651"/>
                  <a:pt x="6596" y="4538"/>
                  <a:pt x="6734" y="4538"/>
                </a:cubicBezTo>
                <a:lnTo>
                  <a:pt x="8582" y="4538"/>
                </a:lnTo>
                <a:lnTo>
                  <a:pt x="8087" y="4538"/>
                </a:lnTo>
                <a:lnTo>
                  <a:pt x="8087" y="4520"/>
                </a:lnTo>
                <a:cubicBezTo>
                  <a:pt x="8087" y="2560"/>
                  <a:pt x="6491" y="972"/>
                  <a:pt x="4521" y="972"/>
                </a:cubicBezTo>
                <a:cubicBezTo>
                  <a:pt x="2552" y="972"/>
                  <a:pt x="955" y="2561"/>
                  <a:pt x="955" y="4520"/>
                </a:cubicBezTo>
                <a:lnTo>
                  <a:pt x="955" y="4538"/>
                </a:lnTo>
                <a:lnTo>
                  <a:pt x="0" y="4538"/>
                </a:lnTo>
                <a:lnTo>
                  <a:pt x="0" y="6558"/>
                </a:lnTo>
                <a:cubicBezTo>
                  <a:pt x="0" y="7233"/>
                  <a:pt x="547" y="7781"/>
                  <a:pt x="1222" y="7781"/>
                </a:cubicBezTo>
                <a:lnTo>
                  <a:pt x="2343" y="7781"/>
                </a:lnTo>
                <a:cubicBezTo>
                  <a:pt x="2481" y="7781"/>
                  <a:pt x="2593" y="7668"/>
                  <a:pt x="2593" y="7531"/>
                </a:cubicBezTo>
                <a:lnTo>
                  <a:pt x="2593" y="4788"/>
                </a:lnTo>
                <a:cubicBezTo>
                  <a:pt x="2593" y="4651"/>
                  <a:pt x="2481" y="4538"/>
                  <a:pt x="2343" y="4538"/>
                </a:cubicBezTo>
                <a:lnTo>
                  <a:pt x="0" y="4538"/>
                </a:lnTo>
                <a:lnTo>
                  <a:pt x="0" y="4516"/>
                </a:lnTo>
                <a:cubicBezTo>
                  <a:pt x="0" y="2022"/>
                  <a:pt x="2032" y="0"/>
                  <a:pt x="4539" y="0"/>
                </a:cubicBezTo>
                <a:cubicBezTo>
                  <a:pt x="7045" y="0"/>
                  <a:pt x="9077" y="2021"/>
                  <a:pt x="9077" y="4516"/>
                </a:cubicBezTo>
                <a:lnTo>
                  <a:pt x="9077" y="4538"/>
                </a:lnTo>
                <a:lnTo>
                  <a:pt x="8582" y="4538"/>
                </a:lnTo>
                <a:close/>
              </a:path>
            </a:pathLst>
          </a:custGeom>
          <a:solidFill>
            <a:srgbClr val="FFFFFF"/>
          </a:solidFill>
          <a:ln>
            <a:noFill/>
          </a:ln>
        </p:spPr>
        <p:txBody>
          <a:bodyPr/>
          <a:lstStyle/>
          <a:p>
            <a:endParaRPr lang="zh-CN" altLang="en-US"/>
          </a:p>
        </p:txBody>
      </p:sp>
      <p:sp>
        <p:nvSpPr>
          <p:cNvPr id="69" name="iconfont-1191-801506"/>
          <p:cNvSpPr>
            <a:spLocks noChangeAspect="1"/>
          </p:cNvSpPr>
          <p:nvPr/>
        </p:nvSpPr>
        <p:spPr bwMode="auto">
          <a:xfrm>
            <a:off x="8778510" y="4740983"/>
            <a:ext cx="328638" cy="355694"/>
          </a:xfrm>
          <a:custGeom>
            <a:avLst/>
            <a:gdLst>
              <a:gd name="T0" fmla="*/ 5844 w 7439"/>
              <a:gd name="T1" fmla="*/ 8051 h 8051"/>
              <a:gd name="T2" fmla="*/ 5844 w 7439"/>
              <a:gd name="T3" fmla="*/ 8051 h 8051"/>
              <a:gd name="T4" fmla="*/ 5803 w 7439"/>
              <a:gd name="T5" fmla="*/ 8050 h 8051"/>
              <a:gd name="T6" fmla="*/ 2311 w 7439"/>
              <a:gd name="T7" fmla="*/ 5617 h 8051"/>
              <a:gd name="T8" fmla="*/ 1860 w 7439"/>
              <a:gd name="T9" fmla="*/ 5072 h 8051"/>
              <a:gd name="T10" fmla="*/ 150 w 7439"/>
              <a:gd name="T11" fmla="*/ 1220 h 8051"/>
              <a:gd name="T12" fmla="*/ 1801 w 7439"/>
              <a:gd name="T13" fmla="*/ 0 h 8051"/>
              <a:gd name="T14" fmla="*/ 2213 w 7439"/>
              <a:gd name="T15" fmla="*/ 220 h 8051"/>
              <a:gd name="T16" fmla="*/ 2927 w 7439"/>
              <a:gd name="T17" fmla="*/ 2121 h 8051"/>
              <a:gd name="T18" fmla="*/ 2927 w 7439"/>
              <a:gd name="T19" fmla="*/ 2146 h 8051"/>
              <a:gd name="T20" fmla="*/ 2918 w 7439"/>
              <a:gd name="T21" fmla="*/ 2170 h 8051"/>
              <a:gd name="T22" fmla="*/ 2552 w 7439"/>
              <a:gd name="T23" fmla="*/ 2522 h 8051"/>
              <a:gd name="T24" fmla="*/ 2253 w 7439"/>
              <a:gd name="T25" fmla="*/ 2888 h 8051"/>
              <a:gd name="T26" fmla="*/ 3106 w 7439"/>
              <a:gd name="T27" fmla="*/ 4209 h 8051"/>
              <a:gd name="T28" fmla="*/ 3450 w 7439"/>
              <a:gd name="T29" fmla="*/ 4624 h 8051"/>
              <a:gd name="T30" fmla="*/ 4571 w 7439"/>
              <a:gd name="T31" fmla="*/ 5688 h 8051"/>
              <a:gd name="T32" fmla="*/ 4997 w 7439"/>
              <a:gd name="T33" fmla="*/ 5476 h 8051"/>
              <a:gd name="T34" fmla="*/ 5424 w 7439"/>
              <a:gd name="T35" fmla="*/ 5198 h 8051"/>
              <a:gd name="T36" fmla="*/ 5449 w 7439"/>
              <a:gd name="T37" fmla="*/ 5194 h 8051"/>
              <a:gd name="T38" fmla="*/ 5474 w 7439"/>
              <a:gd name="T39" fmla="*/ 5199 h 8051"/>
              <a:gd name="T40" fmla="*/ 7236 w 7439"/>
              <a:gd name="T41" fmla="*/ 6284 h 8051"/>
              <a:gd name="T42" fmla="*/ 7337 w 7439"/>
              <a:gd name="T43" fmla="*/ 6799 h 8051"/>
              <a:gd name="T44" fmla="*/ 5844 w 7439"/>
              <a:gd name="T45" fmla="*/ 8051 h 8051"/>
              <a:gd name="T46" fmla="*/ 5844 w 7439"/>
              <a:gd name="T47" fmla="*/ 8051 h 8051"/>
              <a:gd name="T48" fmla="*/ 5844 w 7439"/>
              <a:gd name="T49" fmla="*/ 8051 h 8051"/>
              <a:gd name="T50" fmla="*/ 5844 w 7439"/>
              <a:gd name="T51" fmla="*/ 8051 h 8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439" h="8051">
                <a:moveTo>
                  <a:pt x="5844" y="8051"/>
                </a:moveTo>
                <a:lnTo>
                  <a:pt x="5844" y="8051"/>
                </a:lnTo>
                <a:lnTo>
                  <a:pt x="5803" y="8050"/>
                </a:lnTo>
                <a:cubicBezTo>
                  <a:pt x="4836" y="8001"/>
                  <a:pt x="3531" y="7091"/>
                  <a:pt x="2311" y="5617"/>
                </a:cubicBezTo>
                <a:lnTo>
                  <a:pt x="1860" y="5072"/>
                </a:lnTo>
                <a:cubicBezTo>
                  <a:pt x="640" y="3598"/>
                  <a:pt x="0" y="2157"/>
                  <a:pt x="150" y="1220"/>
                </a:cubicBezTo>
                <a:cubicBezTo>
                  <a:pt x="255" y="558"/>
                  <a:pt x="1239" y="0"/>
                  <a:pt x="1801" y="0"/>
                </a:cubicBezTo>
                <a:cubicBezTo>
                  <a:pt x="2078" y="0"/>
                  <a:pt x="2178" y="137"/>
                  <a:pt x="2213" y="220"/>
                </a:cubicBezTo>
                <a:cubicBezTo>
                  <a:pt x="2531" y="785"/>
                  <a:pt x="2925" y="1768"/>
                  <a:pt x="2927" y="2121"/>
                </a:cubicBezTo>
                <a:lnTo>
                  <a:pt x="2927" y="2146"/>
                </a:lnTo>
                <a:lnTo>
                  <a:pt x="2918" y="2170"/>
                </a:lnTo>
                <a:cubicBezTo>
                  <a:pt x="2848" y="2355"/>
                  <a:pt x="2691" y="2444"/>
                  <a:pt x="2552" y="2522"/>
                </a:cubicBezTo>
                <a:cubicBezTo>
                  <a:pt x="2370" y="2625"/>
                  <a:pt x="2266" y="2693"/>
                  <a:pt x="2253" y="2888"/>
                </a:cubicBezTo>
                <a:cubicBezTo>
                  <a:pt x="2250" y="2947"/>
                  <a:pt x="2301" y="3216"/>
                  <a:pt x="3106" y="4209"/>
                </a:cubicBezTo>
                <a:lnTo>
                  <a:pt x="3450" y="4624"/>
                </a:lnTo>
                <a:cubicBezTo>
                  <a:pt x="4257" y="5577"/>
                  <a:pt x="4511" y="5680"/>
                  <a:pt x="4571" y="5688"/>
                </a:cubicBezTo>
                <a:cubicBezTo>
                  <a:pt x="4765" y="5715"/>
                  <a:pt x="4857" y="5630"/>
                  <a:pt x="4997" y="5476"/>
                </a:cubicBezTo>
                <a:cubicBezTo>
                  <a:pt x="5104" y="5359"/>
                  <a:pt x="5224" y="5227"/>
                  <a:pt x="5424" y="5198"/>
                </a:cubicBezTo>
                <a:lnTo>
                  <a:pt x="5449" y="5194"/>
                </a:lnTo>
                <a:lnTo>
                  <a:pt x="5474" y="5199"/>
                </a:lnTo>
                <a:cubicBezTo>
                  <a:pt x="5826" y="5273"/>
                  <a:pt x="6725" y="5853"/>
                  <a:pt x="7236" y="6284"/>
                </a:cubicBezTo>
                <a:cubicBezTo>
                  <a:pt x="7310" y="6333"/>
                  <a:pt x="7439" y="6478"/>
                  <a:pt x="7337" y="6799"/>
                </a:cubicBezTo>
                <a:cubicBezTo>
                  <a:pt x="7177" y="7303"/>
                  <a:pt x="6480" y="8051"/>
                  <a:pt x="5844" y="8051"/>
                </a:cubicBezTo>
                <a:lnTo>
                  <a:pt x="5844" y="8051"/>
                </a:lnTo>
                <a:lnTo>
                  <a:pt x="5844" y="8051"/>
                </a:lnTo>
                <a:close/>
                <a:moveTo>
                  <a:pt x="5844" y="8051"/>
                </a:moveTo>
                <a:close/>
              </a:path>
            </a:pathLst>
          </a:custGeom>
          <a:solidFill>
            <a:srgbClr val="FFFFFF"/>
          </a:solidFill>
          <a:ln>
            <a:noFill/>
          </a:ln>
        </p:spPr>
        <p:txBody>
          <a:bodyPr/>
          <a:lstStyle/>
          <a:p>
            <a:endParaRPr lang="zh-CN" altLang="en-US"/>
          </a:p>
        </p:txBody>
      </p:sp>
      <p:sp>
        <p:nvSpPr>
          <p:cNvPr id="71" name="直角三角形 70"/>
          <p:cNvSpPr/>
          <p:nvPr/>
        </p:nvSpPr>
        <p:spPr>
          <a:xfrm>
            <a:off x="829945" y="3826941"/>
            <a:ext cx="2183681" cy="2183681"/>
          </a:xfrm>
          <a:prstGeom prst="rtTriangle">
            <a:avLst/>
          </a:prstGeom>
          <a:solidFill>
            <a:srgbClr val="961318"/>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indent="504190" algn="just">
              <a:lnSpc>
                <a:spcPct val="120000"/>
              </a:lnSpc>
              <a:defRPr/>
            </a:pPr>
            <a:endParaRPr lang="zh-CN" altLang="en-US" sz="2000" kern="0" dirty="0">
              <a:solidFill>
                <a:srgbClr val="768394"/>
              </a:solidFill>
              <a:latin typeface="Arial" panose="020B0604020202020204"/>
              <a:ea typeface="微软雅黑" panose="020B0503020204020204" charset="-122"/>
            </a:endParaRPr>
          </a:p>
        </p:txBody>
      </p:sp>
      <p:sp>
        <p:nvSpPr>
          <p:cNvPr id="15" name="文本框 14"/>
          <p:cNvSpPr txBox="1"/>
          <p:nvPr/>
        </p:nvSpPr>
        <p:spPr>
          <a:xfrm>
            <a:off x="1200921" y="790905"/>
            <a:ext cx="3175694" cy="523220"/>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定义检测流程的标准形态，分析单次抽样、双重抽样方案的优劣</a:t>
            </a:r>
            <a:endParaRPr lang="zh-CN" altLang="en-US" sz="1400" dirty="0">
              <a:solidFill>
                <a:srgbClr val="768394"/>
              </a:solidFill>
              <a:latin typeface="Arial" panose="020B0604020202020204"/>
              <a:ea typeface="微软雅黑" panose="020B0503020204020204" charset="-122"/>
              <a:cs typeface="+mn-ea"/>
              <a:sym typeface="+mn-lt"/>
            </a:endParaRPr>
          </a:p>
        </p:txBody>
      </p:sp>
      <p:sp>
        <p:nvSpPr>
          <p:cNvPr id="16" name="文本框 15"/>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9770" y="2142148"/>
            <a:ext cx="4098214" cy="3072307"/>
          </a:xfrm>
          <a:prstGeom prst="rect">
            <a:avLst/>
          </a:prstGeom>
        </p:spPr>
      </p:pic>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961318"/>
                  </a:solidFill>
                  <a:latin typeface="Arial" panose="020B0604020202020204"/>
                  <a:ea typeface="微软雅黑" panose="020B0503020204020204" charset="-122"/>
                  <a:cs typeface="+mn-ea"/>
                  <a:sym typeface="+mn-lt"/>
                </a:rPr>
                <a:t>优化检测方案</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71" name="直角三角形 70"/>
          <p:cNvSpPr/>
          <p:nvPr/>
        </p:nvSpPr>
        <p:spPr>
          <a:xfrm>
            <a:off x="829945" y="3826941"/>
            <a:ext cx="2183681" cy="2183681"/>
          </a:xfrm>
          <a:prstGeom prst="rtTriangle">
            <a:avLst/>
          </a:prstGeom>
          <a:solidFill>
            <a:srgbClr val="961318"/>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indent="504190" algn="just">
              <a:lnSpc>
                <a:spcPct val="120000"/>
              </a:lnSpc>
              <a:defRPr/>
            </a:pPr>
            <a:endParaRPr lang="zh-CN" altLang="en-US" sz="2000" kern="0" dirty="0">
              <a:solidFill>
                <a:srgbClr val="768394"/>
              </a:solidFill>
              <a:latin typeface="Arial" panose="020B0604020202020204"/>
              <a:ea typeface="微软雅黑" panose="020B0503020204020204" charset="-122"/>
            </a:endParaRPr>
          </a:p>
        </p:txBody>
      </p:sp>
      <p:sp>
        <p:nvSpPr>
          <p:cNvPr id="15" name="文本框 14"/>
          <p:cNvSpPr txBox="1"/>
          <p:nvPr/>
        </p:nvSpPr>
        <p:spPr>
          <a:xfrm>
            <a:off x="1200921" y="790905"/>
            <a:ext cx="3175694" cy="523220"/>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定义检测流程的标准形态，分析单次抽样、双重抽样方案的优劣</a:t>
            </a:r>
            <a:endParaRPr lang="zh-CN" altLang="en-US" sz="1400" dirty="0">
              <a:solidFill>
                <a:srgbClr val="768394"/>
              </a:solidFill>
              <a:latin typeface="Arial" panose="020B0604020202020204"/>
              <a:ea typeface="微软雅黑" panose="020B0503020204020204" charset="-122"/>
              <a:cs typeface="+mn-ea"/>
              <a:sym typeface="+mn-lt"/>
            </a:endParaRPr>
          </a:p>
        </p:txBody>
      </p:sp>
      <p:pic>
        <p:nvPicPr>
          <p:cNvPr id="17" name="图片 16"/>
          <p:cNvPicPr>
            <a:picLocks noChangeAspect="1"/>
          </p:cNvPicPr>
          <p:nvPr/>
        </p:nvPicPr>
        <p:blipFill>
          <a:blip r:embed="rId2"/>
          <a:stretch>
            <a:fillRect/>
          </a:stretch>
        </p:blipFill>
        <p:spPr>
          <a:xfrm>
            <a:off x="433387" y="1449444"/>
            <a:ext cx="11325225" cy="4610100"/>
          </a:xfrm>
          <a:prstGeom prst="rect">
            <a:avLst/>
          </a:prstGeom>
        </p:spPr>
      </p:pic>
      <p:sp>
        <p:nvSpPr>
          <p:cNvPr id="2" name="文本框 1"/>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961318"/>
                  </a:solidFill>
                  <a:latin typeface="Arial" panose="020B0604020202020204"/>
                  <a:ea typeface="微软雅黑" panose="020B0503020204020204" charset="-122"/>
                  <a:cs typeface="+mn-ea"/>
                  <a:sym typeface="+mn-lt"/>
                </a:rPr>
                <a:t>选取样本量</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grpSp>
        <p:nvGrpSpPr>
          <p:cNvPr id="15" name="iṡḷîḑé"/>
          <p:cNvGrpSpPr/>
          <p:nvPr/>
        </p:nvGrpSpPr>
        <p:grpSpPr>
          <a:xfrm>
            <a:off x="4403461" y="1301175"/>
            <a:ext cx="3442852" cy="3442846"/>
            <a:chOff x="4189997" y="1706491"/>
            <a:chExt cx="3864123" cy="3864118"/>
          </a:xfrm>
        </p:grpSpPr>
        <p:sp>
          <p:nvSpPr>
            <p:cNvPr id="16" name="iṥḷîḍê"/>
            <p:cNvSpPr/>
            <p:nvPr/>
          </p:nvSpPr>
          <p:spPr bwMode="auto">
            <a:xfrm>
              <a:off x="4189997" y="1706491"/>
              <a:ext cx="3864123" cy="3387623"/>
            </a:xfrm>
            <a:custGeom>
              <a:avLst/>
              <a:gdLst>
                <a:gd name="T0" fmla="*/ 72 w 73"/>
                <a:gd name="T1" fmla="*/ 62 h 64"/>
                <a:gd name="T2" fmla="*/ 58 w 73"/>
                <a:gd name="T3" fmla="*/ 49 h 64"/>
                <a:gd name="T4" fmla="*/ 46 w 73"/>
                <a:gd name="T5" fmla="*/ 43 h 64"/>
                <a:gd name="T6" fmla="*/ 44 w 73"/>
                <a:gd name="T7" fmla="*/ 42 h 64"/>
                <a:gd name="T8" fmla="*/ 44 w 73"/>
                <a:gd name="T9" fmla="*/ 42 h 64"/>
                <a:gd name="T10" fmla="*/ 44 w 73"/>
                <a:gd name="T11" fmla="*/ 42 h 64"/>
                <a:gd name="T12" fmla="*/ 42 w 73"/>
                <a:gd name="T13" fmla="*/ 41 h 64"/>
                <a:gd name="T14" fmla="*/ 42 w 73"/>
                <a:gd name="T15" fmla="*/ 41 h 64"/>
                <a:gd name="T16" fmla="*/ 42 w 73"/>
                <a:gd name="T17" fmla="*/ 41 h 64"/>
                <a:gd name="T18" fmla="*/ 39 w 73"/>
                <a:gd name="T19" fmla="*/ 36 h 64"/>
                <a:gd name="T20" fmla="*/ 39 w 73"/>
                <a:gd name="T21" fmla="*/ 36 h 64"/>
                <a:gd name="T22" fmla="*/ 40 w 73"/>
                <a:gd name="T23" fmla="*/ 35 h 64"/>
                <a:gd name="T24" fmla="*/ 40 w 73"/>
                <a:gd name="T25" fmla="*/ 35 h 64"/>
                <a:gd name="T26" fmla="*/ 40 w 73"/>
                <a:gd name="T27" fmla="*/ 35 h 64"/>
                <a:gd name="T28" fmla="*/ 40 w 73"/>
                <a:gd name="T29" fmla="*/ 33 h 64"/>
                <a:gd name="T30" fmla="*/ 41 w 73"/>
                <a:gd name="T31" fmla="*/ 19 h 64"/>
                <a:gd name="T32" fmla="*/ 37 w 73"/>
                <a:gd name="T33" fmla="*/ 0 h 64"/>
                <a:gd name="T34" fmla="*/ 33 w 73"/>
                <a:gd name="T35" fmla="*/ 19 h 64"/>
                <a:gd name="T36" fmla="*/ 34 w 73"/>
                <a:gd name="T37" fmla="*/ 33 h 64"/>
                <a:gd name="T38" fmla="*/ 34 w 73"/>
                <a:gd name="T39" fmla="*/ 35 h 64"/>
                <a:gd name="T40" fmla="*/ 34 w 73"/>
                <a:gd name="T41" fmla="*/ 35 h 64"/>
                <a:gd name="T42" fmla="*/ 34 w 73"/>
                <a:gd name="T43" fmla="*/ 35 h 64"/>
                <a:gd name="T44" fmla="*/ 34 w 73"/>
                <a:gd name="T45" fmla="*/ 36 h 64"/>
                <a:gd name="T46" fmla="*/ 31 w 73"/>
                <a:gd name="T47" fmla="*/ 41 h 64"/>
                <a:gd name="T48" fmla="*/ 31 w 73"/>
                <a:gd name="T49" fmla="*/ 41 h 64"/>
                <a:gd name="T50" fmla="*/ 31 w 73"/>
                <a:gd name="T51" fmla="*/ 41 h 64"/>
                <a:gd name="T52" fmla="*/ 30 w 73"/>
                <a:gd name="T53" fmla="*/ 42 h 64"/>
                <a:gd name="T54" fmla="*/ 30 w 73"/>
                <a:gd name="T55" fmla="*/ 42 h 64"/>
                <a:gd name="T56" fmla="*/ 30 w 73"/>
                <a:gd name="T57" fmla="*/ 42 h 64"/>
                <a:gd name="T58" fmla="*/ 28 w 73"/>
                <a:gd name="T59" fmla="*/ 43 h 64"/>
                <a:gd name="T60" fmla="*/ 16 w 73"/>
                <a:gd name="T61" fmla="*/ 49 h 64"/>
                <a:gd name="T62" fmla="*/ 2 w 73"/>
                <a:gd name="T63" fmla="*/ 62 h 64"/>
                <a:gd name="T64" fmla="*/ 20 w 73"/>
                <a:gd name="T65" fmla="*/ 56 h 64"/>
                <a:gd name="T66" fmla="*/ 31 w 73"/>
                <a:gd name="T67" fmla="*/ 48 h 64"/>
                <a:gd name="T68" fmla="*/ 33 w 73"/>
                <a:gd name="T69" fmla="*/ 47 h 64"/>
                <a:gd name="T70" fmla="*/ 33 w 73"/>
                <a:gd name="T71" fmla="*/ 47 h 64"/>
                <a:gd name="T72" fmla="*/ 33 w 73"/>
                <a:gd name="T73" fmla="*/ 47 h 64"/>
                <a:gd name="T74" fmla="*/ 34 w 73"/>
                <a:gd name="T75" fmla="*/ 46 h 64"/>
                <a:gd name="T76" fmla="*/ 37 w 73"/>
                <a:gd name="T77" fmla="*/ 47 h 64"/>
                <a:gd name="T78" fmla="*/ 40 w 73"/>
                <a:gd name="T79" fmla="*/ 46 h 64"/>
                <a:gd name="T80" fmla="*/ 41 w 73"/>
                <a:gd name="T81" fmla="*/ 47 h 64"/>
                <a:gd name="T82" fmla="*/ 41 w 73"/>
                <a:gd name="T83" fmla="*/ 47 h 64"/>
                <a:gd name="T84" fmla="*/ 41 w 73"/>
                <a:gd name="T85" fmla="*/ 47 h 64"/>
                <a:gd name="T86" fmla="*/ 43 w 73"/>
                <a:gd name="T87" fmla="*/ 48 h 64"/>
                <a:gd name="T88" fmla="*/ 54 w 73"/>
                <a:gd name="T89" fmla="*/ 56 h 64"/>
                <a:gd name="T90" fmla="*/ 72 w 73"/>
                <a:gd name="T91" fmla="*/ 6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64">
                  <a:moveTo>
                    <a:pt x="72" y="62"/>
                  </a:moveTo>
                  <a:cubicBezTo>
                    <a:pt x="73" y="60"/>
                    <a:pt x="67" y="54"/>
                    <a:pt x="58" y="49"/>
                  </a:cubicBezTo>
                  <a:cubicBezTo>
                    <a:pt x="53" y="46"/>
                    <a:pt x="49" y="44"/>
                    <a:pt x="46" y="43"/>
                  </a:cubicBezTo>
                  <a:cubicBezTo>
                    <a:pt x="44" y="42"/>
                    <a:pt x="44" y="42"/>
                    <a:pt x="44" y="42"/>
                  </a:cubicBezTo>
                  <a:cubicBezTo>
                    <a:pt x="44" y="42"/>
                    <a:pt x="44" y="42"/>
                    <a:pt x="44" y="42"/>
                  </a:cubicBezTo>
                  <a:cubicBezTo>
                    <a:pt x="44" y="42"/>
                    <a:pt x="44" y="42"/>
                    <a:pt x="44" y="42"/>
                  </a:cubicBezTo>
                  <a:cubicBezTo>
                    <a:pt x="43" y="42"/>
                    <a:pt x="43" y="41"/>
                    <a:pt x="42" y="41"/>
                  </a:cubicBezTo>
                  <a:cubicBezTo>
                    <a:pt x="42" y="41"/>
                    <a:pt x="42" y="41"/>
                    <a:pt x="42" y="41"/>
                  </a:cubicBezTo>
                  <a:cubicBezTo>
                    <a:pt x="42" y="41"/>
                    <a:pt x="42" y="41"/>
                    <a:pt x="42" y="41"/>
                  </a:cubicBezTo>
                  <a:cubicBezTo>
                    <a:pt x="42" y="39"/>
                    <a:pt x="41" y="37"/>
                    <a:pt x="39" y="36"/>
                  </a:cubicBezTo>
                  <a:cubicBezTo>
                    <a:pt x="39" y="36"/>
                    <a:pt x="39" y="36"/>
                    <a:pt x="39" y="36"/>
                  </a:cubicBezTo>
                  <a:cubicBezTo>
                    <a:pt x="40" y="36"/>
                    <a:pt x="40" y="35"/>
                    <a:pt x="40" y="35"/>
                  </a:cubicBezTo>
                  <a:cubicBezTo>
                    <a:pt x="40" y="35"/>
                    <a:pt x="40" y="35"/>
                    <a:pt x="40" y="35"/>
                  </a:cubicBezTo>
                  <a:cubicBezTo>
                    <a:pt x="40" y="35"/>
                    <a:pt x="40" y="35"/>
                    <a:pt x="40" y="35"/>
                  </a:cubicBezTo>
                  <a:cubicBezTo>
                    <a:pt x="40" y="33"/>
                    <a:pt x="40" y="33"/>
                    <a:pt x="40" y="33"/>
                  </a:cubicBezTo>
                  <a:cubicBezTo>
                    <a:pt x="40" y="29"/>
                    <a:pt x="41" y="24"/>
                    <a:pt x="41" y="19"/>
                  </a:cubicBezTo>
                  <a:cubicBezTo>
                    <a:pt x="41" y="9"/>
                    <a:pt x="39" y="0"/>
                    <a:pt x="37" y="0"/>
                  </a:cubicBezTo>
                  <a:cubicBezTo>
                    <a:pt x="35" y="0"/>
                    <a:pt x="33" y="9"/>
                    <a:pt x="33" y="19"/>
                  </a:cubicBezTo>
                  <a:cubicBezTo>
                    <a:pt x="33" y="24"/>
                    <a:pt x="33" y="29"/>
                    <a:pt x="34" y="33"/>
                  </a:cubicBezTo>
                  <a:cubicBezTo>
                    <a:pt x="34" y="35"/>
                    <a:pt x="34" y="35"/>
                    <a:pt x="34" y="35"/>
                  </a:cubicBezTo>
                  <a:cubicBezTo>
                    <a:pt x="34" y="35"/>
                    <a:pt x="34" y="35"/>
                    <a:pt x="34" y="35"/>
                  </a:cubicBezTo>
                  <a:cubicBezTo>
                    <a:pt x="34" y="35"/>
                    <a:pt x="34" y="35"/>
                    <a:pt x="34" y="35"/>
                  </a:cubicBezTo>
                  <a:cubicBezTo>
                    <a:pt x="34" y="35"/>
                    <a:pt x="34" y="36"/>
                    <a:pt x="34" y="36"/>
                  </a:cubicBezTo>
                  <a:cubicBezTo>
                    <a:pt x="33" y="37"/>
                    <a:pt x="31" y="39"/>
                    <a:pt x="31" y="41"/>
                  </a:cubicBezTo>
                  <a:cubicBezTo>
                    <a:pt x="31" y="41"/>
                    <a:pt x="31" y="41"/>
                    <a:pt x="31" y="41"/>
                  </a:cubicBezTo>
                  <a:cubicBezTo>
                    <a:pt x="31" y="41"/>
                    <a:pt x="31" y="41"/>
                    <a:pt x="31" y="41"/>
                  </a:cubicBezTo>
                  <a:cubicBezTo>
                    <a:pt x="31" y="41"/>
                    <a:pt x="30" y="42"/>
                    <a:pt x="30" y="42"/>
                  </a:cubicBezTo>
                  <a:cubicBezTo>
                    <a:pt x="30" y="42"/>
                    <a:pt x="30" y="42"/>
                    <a:pt x="30" y="42"/>
                  </a:cubicBezTo>
                  <a:cubicBezTo>
                    <a:pt x="30" y="42"/>
                    <a:pt x="30" y="42"/>
                    <a:pt x="30" y="42"/>
                  </a:cubicBezTo>
                  <a:cubicBezTo>
                    <a:pt x="28" y="43"/>
                    <a:pt x="28" y="43"/>
                    <a:pt x="28" y="43"/>
                  </a:cubicBezTo>
                  <a:cubicBezTo>
                    <a:pt x="25" y="44"/>
                    <a:pt x="20" y="46"/>
                    <a:pt x="16" y="49"/>
                  </a:cubicBezTo>
                  <a:cubicBezTo>
                    <a:pt x="7" y="54"/>
                    <a:pt x="0" y="60"/>
                    <a:pt x="2" y="62"/>
                  </a:cubicBezTo>
                  <a:cubicBezTo>
                    <a:pt x="3" y="64"/>
                    <a:pt x="11" y="61"/>
                    <a:pt x="20" y="56"/>
                  </a:cubicBezTo>
                  <a:cubicBezTo>
                    <a:pt x="24" y="53"/>
                    <a:pt x="28" y="50"/>
                    <a:pt x="31" y="48"/>
                  </a:cubicBezTo>
                  <a:cubicBezTo>
                    <a:pt x="33" y="47"/>
                    <a:pt x="33" y="47"/>
                    <a:pt x="33" y="47"/>
                  </a:cubicBezTo>
                  <a:cubicBezTo>
                    <a:pt x="33" y="47"/>
                    <a:pt x="33" y="47"/>
                    <a:pt x="33" y="47"/>
                  </a:cubicBezTo>
                  <a:cubicBezTo>
                    <a:pt x="33" y="47"/>
                    <a:pt x="33" y="47"/>
                    <a:pt x="33" y="47"/>
                  </a:cubicBezTo>
                  <a:cubicBezTo>
                    <a:pt x="33" y="47"/>
                    <a:pt x="34" y="46"/>
                    <a:pt x="34" y="46"/>
                  </a:cubicBezTo>
                  <a:cubicBezTo>
                    <a:pt x="35" y="46"/>
                    <a:pt x="36" y="47"/>
                    <a:pt x="37" y="47"/>
                  </a:cubicBezTo>
                  <a:cubicBezTo>
                    <a:pt x="38" y="47"/>
                    <a:pt x="39" y="46"/>
                    <a:pt x="40" y="46"/>
                  </a:cubicBezTo>
                  <a:cubicBezTo>
                    <a:pt x="40" y="46"/>
                    <a:pt x="40" y="47"/>
                    <a:pt x="41" y="47"/>
                  </a:cubicBezTo>
                  <a:cubicBezTo>
                    <a:pt x="41" y="47"/>
                    <a:pt x="41" y="47"/>
                    <a:pt x="41" y="47"/>
                  </a:cubicBezTo>
                  <a:cubicBezTo>
                    <a:pt x="41" y="47"/>
                    <a:pt x="41" y="47"/>
                    <a:pt x="41" y="47"/>
                  </a:cubicBezTo>
                  <a:cubicBezTo>
                    <a:pt x="43" y="48"/>
                    <a:pt x="43" y="48"/>
                    <a:pt x="43" y="48"/>
                  </a:cubicBezTo>
                  <a:cubicBezTo>
                    <a:pt x="45" y="50"/>
                    <a:pt x="49" y="53"/>
                    <a:pt x="54" y="56"/>
                  </a:cubicBezTo>
                  <a:cubicBezTo>
                    <a:pt x="63" y="61"/>
                    <a:pt x="71" y="64"/>
                    <a:pt x="72" y="62"/>
                  </a:cubicBezTo>
                </a:path>
              </a:pathLst>
            </a:custGeom>
            <a:solidFill>
              <a:srgbClr val="961318"/>
            </a:solidFill>
            <a:ln w="11113" cap="flat">
              <a:noFill/>
              <a:prstDash val="solid"/>
              <a:miter lim="800000"/>
            </a:ln>
          </p:spPr>
          <p:txBody>
            <a:bodyPr vert="horz" wrap="square" lIns="91440" tIns="45720" rIns="91440" bIns="45720" numCol="1" anchor="t" anchorCtr="0" compatLnSpc="1">
              <a:normAutofit/>
            </a:bodyPr>
            <a:lstStyle/>
            <a:p>
              <a:pPr>
                <a:defRPr/>
              </a:pPr>
              <a:endParaRPr lang="en-US" kern="0" dirty="0">
                <a:solidFill>
                  <a:prstClr val="black"/>
                </a:solidFill>
                <a:latin typeface="Arial" panose="020B0604020202020204"/>
                <a:ea typeface="微软雅黑 Light" panose="020B0502040204020203" pitchFamily="34" charset="-122"/>
              </a:endParaRPr>
            </a:p>
          </p:txBody>
        </p:sp>
        <p:sp>
          <p:nvSpPr>
            <p:cNvPr id="17" name="iṡľiḑè"/>
            <p:cNvSpPr/>
            <p:nvPr/>
          </p:nvSpPr>
          <p:spPr bwMode="auto">
            <a:xfrm>
              <a:off x="6494324" y="2391456"/>
              <a:ext cx="1429501" cy="1958121"/>
            </a:xfrm>
            <a:custGeom>
              <a:avLst/>
              <a:gdLst>
                <a:gd name="T0" fmla="*/ 26 w 27"/>
                <a:gd name="T1" fmla="*/ 28 h 37"/>
                <a:gd name="T2" fmla="*/ 23 w 27"/>
                <a:gd name="T3" fmla="*/ 27 h 37"/>
                <a:gd name="T4" fmla="*/ 2 w 27"/>
                <a:gd name="T5" fmla="*/ 0 h 37"/>
                <a:gd name="T6" fmla="*/ 0 w 27"/>
                <a:gd name="T7" fmla="*/ 1 h 37"/>
                <a:gd name="T8" fmla="*/ 1 w 27"/>
                <a:gd name="T9" fmla="*/ 3 h 37"/>
                <a:gd name="T10" fmla="*/ 20 w 27"/>
                <a:gd name="T11" fmla="*/ 27 h 37"/>
                <a:gd name="T12" fmla="*/ 18 w 27"/>
                <a:gd name="T13" fmla="*/ 27 h 37"/>
                <a:gd name="T14" fmla="*/ 17 w 27"/>
                <a:gd name="T15" fmla="*/ 27 h 37"/>
                <a:gd name="T16" fmla="*/ 16 w 27"/>
                <a:gd name="T17" fmla="*/ 29 h 37"/>
                <a:gd name="T18" fmla="*/ 20 w 27"/>
                <a:gd name="T19" fmla="*/ 36 h 37"/>
                <a:gd name="T20" fmla="*/ 21 w 27"/>
                <a:gd name="T21" fmla="*/ 37 h 37"/>
                <a:gd name="T22" fmla="*/ 22 w 27"/>
                <a:gd name="T23" fmla="*/ 36 h 37"/>
                <a:gd name="T24" fmla="*/ 27 w 27"/>
                <a:gd name="T25"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37">
                  <a:moveTo>
                    <a:pt x="26" y="28"/>
                  </a:moveTo>
                  <a:cubicBezTo>
                    <a:pt x="23" y="27"/>
                    <a:pt x="23" y="27"/>
                    <a:pt x="23" y="27"/>
                  </a:cubicBezTo>
                  <a:cubicBezTo>
                    <a:pt x="22" y="15"/>
                    <a:pt x="14" y="4"/>
                    <a:pt x="2" y="0"/>
                  </a:cubicBezTo>
                  <a:cubicBezTo>
                    <a:pt x="1" y="0"/>
                    <a:pt x="0" y="0"/>
                    <a:pt x="0" y="1"/>
                  </a:cubicBezTo>
                  <a:cubicBezTo>
                    <a:pt x="0" y="2"/>
                    <a:pt x="0" y="3"/>
                    <a:pt x="1" y="3"/>
                  </a:cubicBezTo>
                  <a:cubicBezTo>
                    <a:pt x="12" y="6"/>
                    <a:pt x="19" y="16"/>
                    <a:pt x="20" y="27"/>
                  </a:cubicBezTo>
                  <a:cubicBezTo>
                    <a:pt x="18" y="27"/>
                    <a:pt x="18" y="27"/>
                    <a:pt x="18" y="27"/>
                  </a:cubicBezTo>
                  <a:cubicBezTo>
                    <a:pt x="17" y="27"/>
                    <a:pt x="17" y="27"/>
                    <a:pt x="17" y="27"/>
                  </a:cubicBezTo>
                  <a:cubicBezTo>
                    <a:pt x="16" y="28"/>
                    <a:pt x="16" y="28"/>
                    <a:pt x="16" y="29"/>
                  </a:cubicBezTo>
                  <a:cubicBezTo>
                    <a:pt x="20" y="36"/>
                    <a:pt x="20" y="36"/>
                    <a:pt x="20" y="36"/>
                  </a:cubicBezTo>
                  <a:cubicBezTo>
                    <a:pt x="20" y="37"/>
                    <a:pt x="20" y="37"/>
                    <a:pt x="21" y="37"/>
                  </a:cubicBezTo>
                  <a:cubicBezTo>
                    <a:pt x="22" y="37"/>
                    <a:pt x="22" y="37"/>
                    <a:pt x="22" y="36"/>
                  </a:cubicBezTo>
                  <a:cubicBezTo>
                    <a:pt x="27" y="30"/>
                    <a:pt x="27" y="30"/>
                    <a:pt x="27" y="30"/>
                  </a:cubicBezTo>
                </a:path>
              </a:pathLst>
            </a:custGeom>
            <a:solidFill>
              <a:srgbClr val="A5A5A5">
                <a:lumMod val="60000"/>
                <a:lumOff val="40000"/>
              </a:srgbClr>
            </a:solidFill>
            <a:ln w="11113" cap="flat">
              <a:noFill/>
              <a:prstDash val="solid"/>
              <a:miter lim="800000"/>
            </a:ln>
          </p:spPr>
          <p:txBody>
            <a:bodyPr vert="horz" wrap="square" lIns="91440" tIns="45720" rIns="91440" bIns="45720" numCol="1" anchor="t" anchorCtr="0" compatLnSpc="1">
              <a:normAutofit/>
            </a:bodyPr>
            <a:lstStyle/>
            <a:p>
              <a:pPr>
                <a:defRPr/>
              </a:pPr>
              <a:endParaRPr lang="en-US" kern="0" dirty="0">
                <a:solidFill>
                  <a:prstClr val="black"/>
                </a:solidFill>
                <a:latin typeface="Arial" panose="020B0604020202020204"/>
                <a:ea typeface="微软雅黑 Light" panose="020B0502040204020203" pitchFamily="34" charset="-122"/>
              </a:endParaRPr>
            </a:p>
          </p:txBody>
        </p:sp>
        <p:sp>
          <p:nvSpPr>
            <p:cNvPr id="18" name="íṧľíde"/>
            <p:cNvSpPr/>
            <p:nvPr/>
          </p:nvSpPr>
          <p:spPr bwMode="auto">
            <a:xfrm>
              <a:off x="5012706" y="4982427"/>
              <a:ext cx="2218705" cy="588182"/>
            </a:xfrm>
            <a:custGeom>
              <a:avLst/>
              <a:gdLst>
                <a:gd name="T0" fmla="*/ 40 w 42"/>
                <a:gd name="T1" fmla="*/ 1 h 11"/>
                <a:gd name="T2" fmla="*/ 9 w 42"/>
                <a:gd name="T3" fmla="*/ 5 h 11"/>
                <a:gd name="T4" fmla="*/ 10 w 42"/>
                <a:gd name="T5" fmla="*/ 4 h 11"/>
                <a:gd name="T6" fmla="*/ 11 w 42"/>
                <a:gd name="T7" fmla="*/ 2 h 11"/>
                <a:gd name="T8" fmla="*/ 9 w 42"/>
                <a:gd name="T9" fmla="*/ 1 h 11"/>
                <a:gd name="T10" fmla="*/ 2 w 42"/>
                <a:gd name="T11" fmla="*/ 0 h 11"/>
                <a:gd name="T12" fmla="*/ 0 w 42"/>
                <a:gd name="T13" fmla="*/ 1 h 11"/>
                <a:gd name="T14" fmla="*/ 0 w 42"/>
                <a:gd name="T15" fmla="*/ 2 h 11"/>
                <a:gd name="T16" fmla="*/ 3 w 42"/>
                <a:gd name="T17" fmla="*/ 10 h 11"/>
                <a:gd name="T18" fmla="*/ 5 w 42"/>
                <a:gd name="T19" fmla="*/ 11 h 11"/>
                <a:gd name="T20" fmla="*/ 6 w 42"/>
                <a:gd name="T21" fmla="*/ 10 h 11"/>
                <a:gd name="T22" fmla="*/ 7 w 42"/>
                <a:gd name="T23" fmla="*/ 8 h 11"/>
                <a:gd name="T24" fmla="*/ 21 w 42"/>
                <a:gd name="T25" fmla="*/ 11 h 11"/>
                <a:gd name="T26" fmla="*/ 42 w 42"/>
                <a:gd name="T27" fmla="*/ 3 h 11"/>
                <a:gd name="T28" fmla="*/ 42 w 42"/>
                <a:gd name="T29" fmla="*/ 1 h 11"/>
                <a:gd name="T30" fmla="*/ 40 w 42"/>
                <a:gd name="T31"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11">
                  <a:moveTo>
                    <a:pt x="40" y="1"/>
                  </a:moveTo>
                  <a:cubicBezTo>
                    <a:pt x="31" y="8"/>
                    <a:pt x="19" y="10"/>
                    <a:pt x="9" y="5"/>
                  </a:cubicBezTo>
                  <a:cubicBezTo>
                    <a:pt x="10" y="4"/>
                    <a:pt x="10" y="4"/>
                    <a:pt x="10" y="4"/>
                  </a:cubicBezTo>
                  <a:cubicBezTo>
                    <a:pt x="11" y="3"/>
                    <a:pt x="11" y="2"/>
                    <a:pt x="11" y="2"/>
                  </a:cubicBezTo>
                  <a:cubicBezTo>
                    <a:pt x="10" y="1"/>
                    <a:pt x="10" y="1"/>
                    <a:pt x="9" y="1"/>
                  </a:cubicBezTo>
                  <a:cubicBezTo>
                    <a:pt x="2" y="0"/>
                    <a:pt x="2" y="0"/>
                    <a:pt x="2" y="0"/>
                  </a:cubicBezTo>
                  <a:cubicBezTo>
                    <a:pt x="1" y="0"/>
                    <a:pt x="0" y="0"/>
                    <a:pt x="0" y="1"/>
                  </a:cubicBezTo>
                  <a:cubicBezTo>
                    <a:pt x="0" y="1"/>
                    <a:pt x="0" y="2"/>
                    <a:pt x="0" y="2"/>
                  </a:cubicBezTo>
                  <a:cubicBezTo>
                    <a:pt x="3" y="10"/>
                    <a:pt x="3" y="10"/>
                    <a:pt x="3" y="10"/>
                  </a:cubicBezTo>
                  <a:cubicBezTo>
                    <a:pt x="3" y="10"/>
                    <a:pt x="4" y="11"/>
                    <a:pt x="5" y="11"/>
                  </a:cubicBezTo>
                  <a:cubicBezTo>
                    <a:pt x="5" y="11"/>
                    <a:pt x="6" y="10"/>
                    <a:pt x="6" y="10"/>
                  </a:cubicBezTo>
                  <a:cubicBezTo>
                    <a:pt x="7" y="8"/>
                    <a:pt x="7" y="8"/>
                    <a:pt x="7" y="8"/>
                  </a:cubicBezTo>
                  <a:cubicBezTo>
                    <a:pt x="12" y="10"/>
                    <a:pt x="16" y="11"/>
                    <a:pt x="21" y="11"/>
                  </a:cubicBezTo>
                  <a:cubicBezTo>
                    <a:pt x="28" y="11"/>
                    <a:pt x="36" y="8"/>
                    <a:pt x="42" y="3"/>
                  </a:cubicBezTo>
                  <a:cubicBezTo>
                    <a:pt x="42" y="2"/>
                    <a:pt x="42" y="1"/>
                    <a:pt x="42" y="1"/>
                  </a:cubicBezTo>
                  <a:cubicBezTo>
                    <a:pt x="41" y="0"/>
                    <a:pt x="40" y="0"/>
                    <a:pt x="40" y="1"/>
                  </a:cubicBezTo>
                  <a:close/>
                </a:path>
              </a:pathLst>
            </a:custGeom>
            <a:solidFill>
              <a:srgbClr val="A5A5A5">
                <a:lumMod val="60000"/>
                <a:lumOff val="40000"/>
              </a:srgbClr>
            </a:solidFill>
            <a:ln w="11113" cap="flat">
              <a:noFill/>
              <a:prstDash val="solid"/>
              <a:miter lim="800000"/>
            </a:ln>
          </p:spPr>
          <p:txBody>
            <a:bodyPr vert="horz" wrap="square" lIns="91440" tIns="45720" rIns="91440" bIns="45720" numCol="1" anchor="t" anchorCtr="0" compatLnSpc="1">
              <a:normAutofit/>
            </a:bodyPr>
            <a:lstStyle/>
            <a:p>
              <a:pPr>
                <a:defRPr/>
              </a:pPr>
              <a:endParaRPr lang="en-US" kern="0" dirty="0">
                <a:solidFill>
                  <a:prstClr val="black"/>
                </a:solidFill>
                <a:latin typeface="Arial" panose="020B0604020202020204"/>
                <a:ea typeface="微软雅黑 Light" panose="020B0502040204020203" pitchFamily="34" charset="-122"/>
              </a:endParaRPr>
            </a:p>
          </p:txBody>
        </p:sp>
        <p:sp>
          <p:nvSpPr>
            <p:cNvPr id="19" name="íṩļîḓé"/>
            <p:cNvSpPr/>
            <p:nvPr/>
          </p:nvSpPr>
          <p:spPr bwMode="auto">
            <a:xfrm>
              <a:off x="4379855" y="2339339"/>
              <a:ext cx="1369939" cy="2010236"/>
            </a:xfrm>
            <a:custGeom>
              <a:avLst/>
              <a:gdLst>
                <a:gd name="T0" fmla="*/ 4 w 26"/>
                <a:gd name="T1" fmla="*/ 38 h 38"/>
                <a:gd name="T2" fmla="*/ 5 w 26"/>
                <a:gd name="T3" fmla="*/ 38 h 38"/>
                <a:gd name="T4" fmla="*/ 6 w 26"/>
                <a:gd name="T5" fmla="*/ 36 h 38"/>
                <a:gd name="T6" fmla="*/ 17 w 26"/>
                <a:gd name="T7" fmla="*/ 8 h 38"/>
                <a:gd name="T8" fmla="*/ 18 w 26"/>
                <a:gd name="T9" fmla="*/ 10 h 38"/>
                <a:gd name="T10" fmla="*/ 19 w 26"/>
                <a:gd name="T11" fmla="*/ 11 h 38"/>
                <a:gd name="T12" fmla="*/ 21 w 26"/>
                <a:gd name="T13" fmla="*/ 10 h 38"/>
                <a:gd name="T14" fmla="*/ 25 w 26"/>
                <a:gd name="T15" fmla="*/ 4 h 38"/>
                <a:gd name="T16" fmla="*/ 25 w 26"/>
                <a:gd name="T17" fmla="*/ 2 h 38"/>
                <a:gd name="T18" fmla="*/ 24 w 26"/>
                <a:gd name="T19" fmla="*/ 1 h 38"/>
                <a:gd name="T20" fmla="*/ 16 w 26"/>
                <a:gd name="T21" fmla="*/ 1 h 38"/>
                <a:gd name="T22" fmla="*/ 15 w 26"/>
                <a:gd name="T23" fmla="*/ 1 h 38"/>
                <a:gd name="T24" fmla="*/ 15 w 26"/>
                <a:gd name="T25" fmla="*/ 3 h 38"/>
                <a:gd name="T26" fmla="*/ 16 w 26"/>
                <a:gd name="T27" fmla="*/ 5 h 38"/>
                <a:gd name="T28" fmla="*/ 3 w 26"/>
                <a:gd name="T29" fmla="*/ 37 h 38"/>
                <a:gd name="T30" fmla="*/ 4 w 26"/>
                <a:gd name="T31"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38">
                  <a:moveTo>
                    <a:pt x="4" y="38"/>
                  </a:moveTo>
                  <a:cubicBezTo>
                    <a:pt x="5" y="38"/>
                    <a:pt x="5" y="38"/>
                    <a:pt x="5" y="38"/>
                  </a:cubicBezTo>
                  <a:cubicBezTo>
                    <a:pt x="6" y="38"/>
                    <a:pt x="6" y="37"/>
                    <a:pt x="6" y="36"/>
                  </a:cubicBezTo>
                  <a:cubicBezTo>
                    <a:pt x="3" y="25"/>
                    <a:pt x="8" y="14"/>
                    <a:pt x="17" y="8"/>
                  </a:cubicBezTo>
                  <a:cubicBezTo>
                    <a:pt x="18" y="10"/>
                    <a:pt x="18" y="10"/>
                    <a:pt x="18" y="10"/>
                  </a:cubicBezTo>
                  <a:cubicBezTo>
                    <a:pt x="18" y="10"/>
                    <a:pt x="19" y="11"/>
                    <a:pt x="19" y="11"/>
                  </a:cubicBezTo>
                  <a:cubicBezTo>
                    <a:pt x="20" y="11"/>
                    <a:pt x="20" y="11"/>
                    <a:pt x="21" y="10"/>
                  </a:cubicBezTo>
                  <a:cubicBezTo>
                    <a:pt x="25" y="4"/>
                    <a:pt x="25" y="4"/>
                    <a:pt x="25" y="4"/>
                  </a:cubicBezTo>
                  <a:cubicBezTo>
                    <a:pt x="26" y="3"/>
                    <a:pt x="26" y="3"/>
                    <a:pt x="25" y="2"/>
                  </a:cubicBezTo>
                  <a:cubicBezTo>
                    <a:pt x="25" y="2"/>
                    <a:pt x="25" y="1"/>
                    <a:pt x="24" y="1"/>
                  </a:cubicBezTo>
                  <a:cubicBezTo>
                    <a:pt x="16" y="1"/>
                    <a:pt x="16" y="1"/>
                    <a:pt x="16" y="1"/>
                  </a:cubicBezTo>
                  <a:cubicBezTo>
                    <a:pt x="16" y="0"/>
                    <a:pt x="15" y="1"/>
                    <a:pt x="15" y="1"/>
                  </a:cubicBezTo>
                  <a:cubicBezTo>
                    <a:pt x="15" y="2"/>
                    <a:pt x="14" y="2"/>
                    <a:pt x="15" y="3"/>
                  </a:cubicBezTo>
                  <a:cubicBezTo>
                    <a:pt x="16" y="5"/>
                    <a:pt x="16" y="5"/>
                    <a:pt x="16" y="5"/>
                  </a:cubicBezTo>
                  <a:cubicBezTo>
                    <a:pt x="5" y="12"/>
                    <a:pt x="0" y="25"/>
                    <a:pt x="3" y="37"/>
                  </a:cubicBezTo>
                  <a:cubicBezTo>
                    <a:pt x="3" y="38"/>
                    <a:pt x="4" y="38"/>
                    <a:pt x="4" y="38"/>
                  </a:cubicBezTo>
                  <a:close/>
                </a:path>
              </a:pathLst>
            </a:custGeom>
            <a:solidFill>
              <a:srgbClr val="A5A5A5">
                <a:lumMod val="60000"/>
                <a:lumOff val="40000"/>
              </a:srgbClr>
            </a:solidFill>
            <a:ln w="11113" cap="flat">
              <a:noFill/>
              <a:prstDash val="solid"/>
              <a:miter lim="800000"/>
            </a:ln>
          </p:spPr>
          <p:txBody>
            <a:bodyPr vert="horz" wrap="square" lIns="91440" tIns="45720" rIns="91440" bIns="45720" numCol="1" anchor="t" anchorCtr="0" compatLnSpc="1">
              <a:normAutofit/>
            </a:bodyPr>
            <a:lstStyle/>
            <a:p>
              <a:pPr>
                <a:defRPr/>
              </a:pPr>
              <a:endParaRPr lang="en-US" kern="0" dirty="0">
                <a:solidFill>
                  <a:prstClr val="black"/>
                </a:solidFill>
                <a:latin typeface="Arial" panose="020B0604020202020204"/>
                <a:ea typeface="微软雅黑 Light" panose="020B0502040204020203" pitchFamily="34" charset="-122"/>
              </a:endParaRPr>
            </a:p>
          </p:txBody>
        </p:sp>
      </p:grpSp>
      <p:grpSp>
        <p:nvGrpSpPr>
          <p:cNvPr id="20" name="îṡľíde"/>
          <p:cNvGrpSpPr/>
          <p:nvPr/>
        </p:nvGrpSpPr>
        <p:grpSpPr>
          <a:xfrm>
            <a:off x="1772588" y="1917120"/>
            <a:ext cx="2611177" cy="1511879"/>
            <a:chOff x="673100" y="1740479"/>
            <a:chExt cx="2611177" cy="1511879"/>
          </a:xfrm>
        </p:grpSpPr>
        <p:sp>
          <p:nvSpPr>
            <p:cNvPr id="21" name="îṧļîḑé"/>
            <p:cNvSpPr txBox="1"/>
            <p:nvPr/>
          </p:nvSpPr>
          <p:spPr>
            <a:xfrm>
              <a:off x="673100" y="2248309"/>
              <a:ext cx="2611177" cy="1004049"/>
            </a:xfrm>
            <a:prstGeom prst="rect">
              <a:avLst/>
            </a:prstGeom>
            <a:noFill/>
          </p:spPr>
          <p:txBody>
            <a:bodyPr wrap="square" lIns="91440" tIns="45720" rIns="91440" bIns="45720">
              <a:normAutofit/>
            </a:bodyPr>
            <a:lstStyle/>
            <a:p>
              <a:pPr algn="r">
                <a:lnSpc>
                  <a:spcPct val="140000"/>
                </a:lnSpc>
                <a:defRPr/>
              </a:pPr>
              <a:endParaRPr lang="en-US" altLang="zh-CN" sz="1100" dirty="0">
                <a:solidFill>
                  <a:prstClr val="black"/>
                </a:solidFill>
                <a:latin typeface="Arial" panose="020B0604020202020204"/>
                <a:ea typeface="微软雅黑 Light" panose="020B0502040204020203" pitchFamily="34" charset="-122"/>
              </a:endParaRPr>
            </a:p>
          </p:txBody>
        </p:sp>
        <p:sp>
          <p:nvSpPr>
            <p:cNvPr id="22" name="îSḷïḍe"/>
            <p:cNvSpPr/>
            <p:nvPr/>
          </p:nvSpPr>
          <p:spPr>
            <a:xfrm>
              <a:off x="673100" y="1740479"/>
              <a:ext cx="2611177" cy="507831"/>
            </a:xfrm>
            <a:prstGeom prst="rect">
              <a:avLst/>
            </a:prstGeom>
          </p:spPr>
          <p:txBody>
            <a:bodyPr wrap="square" lIns="91440" tIns="45720" rIns="91440" bIns="45720" anchor="ctr">
              <a:normAutofit/>
            </a:bodyPr>
            <a:lstStyle/>
            <a:p>
              <a:pPr algn="r">
                <a:defRPr/>
              </a:pPr>
              <a:r>
                <a:rPr lang="zh-CN" altLang="en-US" b="1" dirty="0">
                  <a:solidFill>
                    <a:prstClr val="black"/>
                  </a:solidFill>
                  <a:latin typeface="微软雅黑" panose="020B0503020204020204" charset="-122"/>
                  <a:ea typeface="微软雅黑" panose="020B0503020204020204" charset="-122"/>
                </a:rPr>
                <a:t>定义评价指标</a:t>
              </a:r>
              <a:endParaRPr lang="zh-CN" altLang="en-US" b="1" dirty="0">
                <a:solidFill>
                  <a:prstClr val="black"/>
                </a:solidFill>
                <a:latin typeface="微软雅黑" panose="020B0503020204020204" charset="-122"/>
                <a:ea typeface="微软雅黑" panose="020B0503020204020204" charset="-122"/>
              </a:endParaRPr>
            </a:p>
          </p:txBody>
        </p:sp>
      </p:grpSp>
      <p:grpSp>
        <p:nvGrpSpPr>
          <p:cNvPr id="23" name="íS1íḋè"/>
          <p:cNvGrpSpPr/>
          <p:nvPr/>
        </p:nvGrpSpPr>
        <p:grpSpPr>
          <a:xfrm>
            <a:off x="4862172" y="4935834"/>
            <a:ext cx="2611177" cy="1321633"/>
            <a:chOff x="673100" y="3064387"/>
            <a:chExt cx="2611177" cy="1321633"/>
          </a:xfrm>
        </p:grpSpPr>
        <p:sp>
          <p:nvSpPr>
            <p:cNvPr id="24" name="íSḷiḍe"/>
            <p:cNvSpPr txBox="1"/>
            <p:nvPr/>
          </p:nvSpPr>
          <p:spPr>
            <a:xfrm>
              <a:off x="720139" y="3572217"/>
              <a:ext cx="2459325" cy="813803"/>
            </a:xfrm>
            <a:prstGeom prst="rect">
              <a:avLst/>
            </a:prstGeom>
            <a:noFill/>
          </p:spPr>
          <p:txBody>
            <a:bodyPr wrap="square" lIns="91440" tIns="45720" rIns="91440" bIns="45720">
              <a:normAutofit/>
            </a:bodyPr>
            <a:lstStyle/>
            <a:p>
              <a:pPr>
                <a:lnSpc>
                  <a:spcPct val="140000"/>
                </a:lnSpc>
                <a:defRPr/>
              </a:pPr>
              <a:r>
                <a:rPr lang="en-US" altLang="zh-CN" sz="1600" dirty="0">
                  <a:solidFill>
                    <a:prstClr val="black"/>
                  </a:solidFill>
                  <a:latin typeface="Arial" panose="020B0604020202020204"/>
                  <a:ea typeface="微软雅黑 Light" panose="020B0502040204020203" pitchFamily="34" charset="-122"/>
                </a:rPr>
                <a:t>k1=0.99,k2=0.01</a:t>
              </a:r>
              <a:endParaRPr lang="en-US" altLang="zh-CN" sz="1600" dirty="0">
                <a:solidFill>
                  <a:prstClr val="black"/>
                </a:solidFill>
                <a:latin typeface="Arial" panose="020B0604020202020204"/>
                <a:ea typeface="微软雅黑 Light" panose="020B0502040204020203" pitchFamily="34" charset="-122"/>
              </a:endParaRPr>
            </a:p>
            <a:p>
              <a:pPr>
                <a:lnSpc>
                  <a:spcPct val="140000"/>
                </a:lnSpc>
                <a:defRPr/>
              </a:pPr>
              <a:r>
                <a:rPr lang="zh-CN" altLang="en-US" sz="1600" dirty="0">
                  <a:solidFill>
                    <a:prstClr val="black"/>
                  </a:solidFill>
                  <a:latin typeface="Arial" panose="020B0604020202020204"/>
                  <a:ea typeface="微软雅黑 Light" panose="020B0502040204020203" pitchFamily="34" charset="-122"/>
                </a:rPr>
                <a:t>得到</a:t>
              </a:r>
              <a:r>
                <a:rPr lang="en-US" altLang="zh-CN" sz="1600" dirty="0">
                  <a:solidFill>
                    <a:prstClr val="black"/>
                  </a:solidFill>
                  <a:latin typeface="Arial" panose="020B0604020202020204"/>
                  <a:ea typeface="微软雅黑 Light" panose="020B0502040204020203" pitchFamily="34" charset="-122"/>
                </a:rPr>
                <a:t>n=69</a:t>
              </a:r>
              <a:endParaRPr lang="en-US" altLang="zh-CN" sz="1600" dirty="0">
                <a:solidFill>
                  <a:prstClr val="black"/>
                </a:solidFill>
                <a:latin typeface="Arial" panose="020B0604020202020204"/>
                <a:ea typeface="微软雅黑 Light" panose="020B0502040204020203" pitchFamily="34" charset="-122"/>
              </a:endParaRPr>
            </a:p>
          </p:txBody>
        </p:sp>
        <p:sp>
          <p:nvSpPr>
            <p:cNvPr id="25" name="íṩ1idé"/>
            <p:cNvSpPr/>
            <p:nvPr/>
          </p:nvSpPr>
          <p:spPr>
            <a:xfrm>
              <a:off x="673100" y="3064387"/>
              <a:ext cx="2611177" cy="507831"/>
            </a:xfrm>
            <a:prstGeom prst="rect">
              <a:avLst/>
            </a:prstGeom>
          </p:spPr>
          <p:txBody>
            <a:bodyPr wrap="square" lIns="91440" tIns="45720" rIns="91440" bIns="45720" anchor="ctr">
              <a:normAutofit/>
            </a:bodyPr>
            <a:lstStyle/>
            <a:p>
              <a:pPr algn="ctr">
                <a:defRPr/>
              </a:pPr>
              <a:r>
                <a:rPr lang="zh-CN" altLang="en-US" b="1" dirty="0">
                  <a:solidFill>
                    <a:prstClr val="black"/>
                  </a:solidFill>
                  <a:latin typeface="微软雅黑" panose="020B0503020204020204" charset="-122"/>
                  <a:ea typeface="微软雅黑" panose="020B0503020204020204" charset="-122"/>
                </a:rPr>
                <a:t>注重准确性</a:t>
              </a:r>
              <a:endParaRPr lang="zh-CN" altLang="en-US" b="1" dirty="0">
                <a:solidFill>
                  <a:prstClr val="black"/>
                </a:solidFill>
                <a:latin typeface="微软雅黑" panose="020B0503020204020204" charset="-122"/>
                <a:ea typeface="微软雅黑" panose="020B0503020204020204" charset="-122"/>
              </a:endParaRPr>
            </a:p>
          </p:txBody>
        </p:sp>
      </p:grpSp>
      <p:grpSp>
        <p:nvGrpSpPr>
          <p:cNvPr id="26" name="íŝḷïḓe"/>
          <p:cNvGrpSpPr/>
          <p:nvPr/>
        </p:nvGrpSpPr>
        <p:grpSpPr>
          <a:xfrm>
            <a:off x="7808235" y="1911464"/>
            <a:ext cx="2611177" cy="1517535"/>
            <a:chOff x="8907723" y="3176874"/>
            <a:chExt cx="2611177" cy="1517535"/>
          </a:xfrm>
        </p:grpSpPr>
        <p:sp>
          <p:nvSpPr>
            <p:cNvPr id="27" name="ïṥ1idé"/>
            <p:cNvSpPr txBox="1"/>
            <p:nvPr/>
          </p:nvSpPr>
          <p:spPr>
            <a:xfrm>
              <a:off x="8907723" y="3684705"/>
              <a:ext cx="2611177" cy="1009704"/>
            </a:xfrm>
            <a:prstGeom prst="rect">
              <a:avLst/>
            </a:prstGeom>
            <a:noFill/>
          </p:spPr>
          <p:txBody>
            <a:bodyPr wrap="square" lIns="91440" tIns="45720" rIns="91440" bIns="45720">
              <a:normAutofit/>
            </a:bodyPr>
            <a:lstStyle/>
            <a:p>
              <a:pPr>
                <a:lnSpc>
                  <a:spcPct val="140000"/>
                </a:lnSpc>
                <a:defRPr/>
              </a:pPr>
              <a:r>
                <a:rPr lang="en-US" altLang="zh-CN" sz="1600" dirty="0">
                  <a:solidFill>
                    <a:prstClr val="black"/>
                  </a:solidFill>
                  <a:latin typeface="Arial" panose="020B0604020202020204"/>
                  <a:ea typeface="微软雅黑 Light" panose="020B0502040204020203" pitchFamily="34" charset="-122"/>
                </a:rPr>
                <a:t>k1=0.5,k2=0.5</a:t>
              </a:r>
              <a:endParaRPr lang="en-US" altLang="zh-CN" sz="1600" dirty="0">
                <a:solidFill>
                  <a:prstClr val="black"/>
                </a:solidFill>
                <a:latin typeface="Arial" panose="020B0604020202020204"/>
                <a:ea typeface="微软雅黑 Light" panose="020B0502040204020203" pitchFamily="34" charset="-122"/>
              </a:endParaRPr>
            </a:p>
            <a:p>
              <a:pPr>
                <a:lnSpc>
                  <a:spcPct val="140000"/>
                </a:lnSpc>
                <a:defRPr/>
              </a:pPr>
              <a:r>
                <a:rPr lang="zh-CN" altLang="en-US" sz="1600" dirty="0">
                  <a:solidFill>
                    <a:prstClr val="black"/>
                  </a:solidFill>
                  <a:latin typeface="Arial" panose="020B0604020202020204"/>
                  <a:ea typeface="微软雅黑 Light" panose="020B0502040204020203" pitchFamily="34" charset="-122"/>
                </a:rPr>
                <a:t>得到</a:t>
              </a:r>
              <a:r>
                <a:rPr lang="en-US" altLang="zh-CN" sz="1600" dirty="0">
                  <a:solidFill>
                    <a:prstClr val="black"/>
                  </a:solidFill>
                  <a:latin typeface="Arial" panose="020B0604020202020204"/>
                  <a:ea typeface="微软雅黑 Light" panose="020B0502040204020203" pitchFamily="34" charset="-122"/>
                </a:rPr>
                <a:t>n=46</a:t>
              </a:r>
              <a:endParaRPr lang="en-US" altLang="zh-CN" sz="1600" dirty="0">
                <a:solidFill>
                  <a:prstClr val="black"/>
                </a:solidFill>
                <a:latin typeface="Arial" panose="020B0604020202020204"/>
                <a:ea typeface="微软雅黑 Light" panose="020B0502040204020203" pitchFamily="34" charset="-122"/>
              </a:endParaRPr>
            </a:p>
          </p:txBody>
        </p:sp>
        <p:sp>
          <p:nvSpPr>
            <p:cNvPr id="28" name="ïṩḷiďé"/>
            <p:cNvSpPr/>
            <p:nvPr/>
          </p:nvSpPr>
          <p:spPr>
            <a:xfrm>
              <a:off x="8907723" y="3176874"/>
              <a:ext cx="2611177" cy="507831"/>
            </a:xfrm>
            <a:prstGeom prst="rect">
              <a:avLst/>
            </a:prstGeom>
          </p:spPr>
          <p:txBody>
            <a:bodyPr wrap="square" lIns="91440" tIns="45720" rIns="91440" bIns="45720" anchor="ctr">
              <a:normAutofit/>
            </a:bodyPr>
            <a:lstStyle/>
            <a:p>
              <a:pPr>
                <a:defRPr/>
              </a:pPr>
              <a:r>
                <a:rPr lang="zh-CN" altLang="en-US" b="1" dirty="0">
                  <a:solidFill>
                    <a:prstClr val="black"/>
                  </a:solidFill>
                  <a:latin typeface="微软雅黑" panose="020B0503020204020204" charset="-122"/>
                  <a:ea typeface="微软雅黑" panose="020B0503020204020204" charset="-122"/>
                </a:rPr>
                <a:t>注重成本</a:t>
              </a:r>
              <a:endParaRPr lang="zh-CN" altLang="en-US" b="1" dirty="0">
                <a:solidFill>
                  <a:prstClr val="black"/>
                </a:solidFill>
                <a:latin typeface="微软雅黑" panose="020B0503020204020204" charset="-122"/>
                <a:ea typeface="微软雅黑" panose="020B0503020204020204" charset="-122"/>
              </a:endParaRPr>
            </a:p>
          </p:txBody>
        </p:sp>
      </p:grpSp>
      <p:sp>
        <p:nvSpPr>
          <p:cNvPr id="7" name="文本框 6"/>
          <p:cNvSpPr txBox="1"/>
          <p:nvPr/>
        </p:nvSpPr>
        <p:spPr>
          <a:xfrm>
            <a:off x="1220976" y="806732"/>
            <a:ext cx="2361068" cy="523220"/>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定义评价指标，平衡成本与检测效果</a:t>
            </a:r>
            <a:endParaRPr lang="zh-CN" altLang="en-US" sz="1400" dirty="0">
              <a:solidFill>
                <a:srgbClr val="768394"/>
              </a:solidFill>
              <a:latin typeface="Arial" panose="020B0604020202020204"/>
              <a:ea typeface="微软雅黑" panose="020B0503020204020204" charset="-122"/>
              <a:cs typeface="+mn-ea"/>
              <a:sym typeface="+mn-lt"/>
            </a:endParaRPr>
          </a:p>
        </p:txBody>
      </p:sp>
      <p:pic>
        <p:nvPicPr>
          <p:cNvPr id="13" name="图片 12"/>
          <p:cNvPicPr>
            <a:picLocks noChangeAspect="1"/>
          </p:cNvPicPr>
          <p:nvPr/>
        </p:nvPicPr>
        <p:blipFill>
          <a:blip r:embed="rId1"/>
          <a:stretch>
            <a:fillRect/>
          </a:stretch>
        </p:blipFill>
        <p:spPr>
          <a:xfrm>
            <a:off x="1099260" y="2515844"/>
            <a:ext cx="3284505" cy="449619"/>
          </a:xfrm>
          <a:prstGeom prst="rect">
            <a:avLst/>
          </a:prstGeom>
        </p:spPr>
      </p:pic>
      <p:pic>
        <p:nvPicPr>
          <p:cNvPr id="29" name="图片 28"/>
          <p:cNvPicPr>
            <a:picLocks noChangeAspect="1"/>
          </p:cNvPicPr>
          <p:nvPr/>
        </p:nvPicPr>
        <p:blipFill>
          <a:blip r:embed="rId2"/>
          <a:stretch>
            <a:fillRect/>
          </a:stretch>
        </p:blipFill>
        <p:spPr>
          <a:xfrm>
            <a:off x="1061250" y="2965463"/>
            <a:ext cx="3284505" cy="299085"/>
          </a:xfrm>
          <a:prstGeom prst="rect">
            <a:avLst/>
          </a:prstGeom>
        </p:spPr>
      </p:pic>
      <p:pic>
        <p:nvPicPr>
          <p:cNvPr id="33" name="图片 32"/>
          <p:cNvPicPr>
            <a:picLocks noChangeAspect="1"/>
          </p:cNvPicPr>
          <p:nvPr/>
        </p:nvPicPr>
        <p:blipFill>
          <a:blip r:embed="rId3"/>
          <a:stretch>
            <a:fillRect/>
          </a:stretch>
        </p:blipFill>
        <p:spPr>
          <a:xfrm>
            <a:off x="7893352" y="3264548"/>
            <a:ext cx="4111699" cy="2728630"/>
          </a:xfrm>
          <a:prstGeom prst="rect">
            <a:avLst/>
          </a:prstGeom>
        </p:spPr>
      </p:pic>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b="13696"/>
          <a:stretch>
            <a:fillRect/>
          </a:stretch>
        </p:blipFill>
        <p:spPr>
          <a:xfrm>
            <a:off x="0" y="1"/>
            <a:ext cx="12204296" cy="3083074"/>
          </a:xfrm>
          <a:prstGeom prst="rect">
            <a:avLst/>
          </a:prstGeom>
        </p:spPr>
      </p:pic>
      <p:sp>
        <p:nvSpPr>
          <p:cNvPr id="5" name="矩形 4"/>
          <p:cNvSpPr/>
          <p:nvPr/>
        </p:nvSpPr>
        <p:spPr>
          <a:xfrm>
            <a:off x="0" y="0"/>
            <a:ext cx="12216765" cy="3083074"/>
          </a:xfrm>
          <a:prstGeom prst="rect">
            <a:avLst/>
          </a:prstGeom>
          <a:solidFill>
            <a:srgbClr val="961318">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charset="-122"/>
              <a:cs typeface="+mn-ea"/>
              <a:sym typeface="+mn-lt"/>
            </a:endParaRPr>
          </a:p>
        </p:txBody>
      </p:sp>
      <p:sp>
        <p:nvSpPr>
          <p:cNvPr id="6" name="文本占位符 8"/>
          <p:cNvSpPr txBox="1"/>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961318"/>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B0604020202020204"/>
              <a:ea typeface="微软雅黑" panose="020B0503020204020204" charset="-122"/>
              <a:cs typeface="+mn-ea"/>
              <a:sym typeface="+mn-lt"/>
            </a:endParaRPr>
          </a:p>
        </p:txBody>
      </p:sp>
      <p:sp>
        <p:nvSpPr>
          <p:cNvPr id="8" name="标题 4"/>
          <p:cNvSpPr txBox="1"/>
          <p:nvPr/>
        </p:nvSpPr>
        <p:spPr>
          <a:xfrm>
            <a:off x="2411730" y="4385310"/>
            <a:ext cx="7393940" cy="7467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r>
              <a:rPr lang="zh-CN" altLang="en-US" sz="5400" b="1" dirty="0">
                <a:solidFill>
                  <a:srgbClr val="961318"/>
                </a:solidFill>
                <a:latin typeface="微软雅黑" panose="020B0503020204020204" charset="-122"/>
                <a:ea typeface="微软雅黑" panose="020B0503020204020204" charset="-122"/>
              </a:rPr>
              <a:t>问题二模型建立和</a:t>
            </a:r>
            <a:r>
              <a:rPr lang="zh-CN" altLang="en-US" sz="5400" b="1" dirty="0">
                <a:solidFill>
                  <a:srgbClr val="961318"/>
                </a:solidFill>
                <a:latin typeface="微软雅黑" panose="020B0503020204020204" charset="-122"/>
                <a:ea typeface="微软雅黑" panose="020B0503020204020204" charset="-122"/>
              </a:rPr>
              <a:t>求解</a:t>
            </a:r>
            <a:endParaRPr lang="zh-CN" altLang="en-US" sz="5400" b="1" dirty="0">
              <a:solidFill>
                <a:srgbClr val="961318"/>
              </a:solidFill>
              <a:latin typeface="微软雅黑" panose="020B0503020204020204" charset="-122"/>
              <a:ea typeface="微软雅黑" panose="020B0503020204020204" charset="-122"/>
            </a:endParaRPr>
          </a:p>
        </p:txBody>
      </p:sp>
      <p:cxnSp>
        <p:nvCxnSpPr>
          <p:cNvPr id="9" name="直接连接符 8"/>
          <p:cNvCxnSpPr/>
          <p:nvPr/>
        </p:nvCxnSpPr>
        <p:spPr>
          <a:xfrm>
            <a:off x="3575720" y="5244190"/>
            <a:ext cx="4752528" cy="0"/>
          </a:xfrm>
          <a:prstGeom prst="line">
            <a:avLst/>
          </a:prstGeom>
          <a:noFill/>
          <a:ln w="28575" cap="flat" cmpd="sng" algn="ctr">
            <a:solidFill>
              <a:srgbClr val="961318"/>
            </a:solidFill>
            <a:prstDash val="solid"/>
            <a:headEnd type="oval" w="med" len="med"/>
            <a:tailEnd type="oval" w="med" len="med"/>
          </a:ln>
          <a:effectLst/>
        </p:spPr>
      </p:cxnSp>
      <p:sp>
        <p:nvSpPr>
          <p:cNvPr id="10" name="标题 4"/>
          <p:cNvSpPr txBox="1"/>
          <p:nvPr/>
        </p:nvSpPr>
        <p:spPr>
          <a:xfrm>
            <a:off x="2207565" y="5264024"/>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lnSpc>
                <a:spcPct val="125000"/>
              </a:lnSpc>
            </a:pPr>
            <a:r>
              <a:rPr lang="zh-CN" altLang="en-US" sz="2000" dirty="0">
                <a:solidFill>
                  <a:srgbClr val="961318"/>
                </a:solidFill>
                <a:latin typeface="微软雅黑" panose="020B0503020204020204" charset="-122"/>
                <a:ea typeface="微软雅黑" panose="020B0503020204020204" charset="-122"/>
              </a:rPr>
              <a:t>旨在解决基于库存反馈的生产决策</a:t>
            </a:r>
            <a:r>
              <a:rPr lang="zh-CN" altLang="en-US" sz="2000" dirty="0">
                <a:solidFill>
                  <a:srgbClr val="961318"/>
                </a:solidFill>
                <a:latin typeface="微软雅黑" panose="020B0503020204020204" charset="-122"/>
                <a:ea typeface="微软雅黑" panose="020B0503020204020204" charset="-122"/>
              </a:rPr>
              <a:t>问题</a:t>
            </a:r>
            <a:endParaRPr lang="zh-CN" altLang="en-US" sz="2000" dirty="0">
              <a:solidFill>
                <a:srgbClr val="961318"/>
              </a:solidFill>
              <a:latin typeface="微软雅黑" panose="020B0503020204020204" charset="-122"/>
              <a:ea typeface="微软雅黑" panose="020B0503020204020204" charset="-122"/>
            </a:endParaRPr>
          </a:p>
        </p:txBody>
      </p:sp>
      <p:sp>
        <p:nvSpPr>
          <p:cNvPr id="11" name="文本框 10"/>
          <p:cNvSpPr txBox="1"/>
          <p:nvPr/>
        </p:nvSpPr>
        <p:spPr>
          <a:xfrm>
            <a:off x="10704512" y="6406826"/>
            <a:ext cx="1050925" cy="368300"/>
          </a:xfrm>
          <a:prstGeom prst="rect">
            <a:avLst/>
          </a:prstGeom>
          <a:noFill/>
        </p:spPr>
        <p:txBody>
          <a:bodyPr wrap="none" rtlCol="0">
            <a:spAutoFit/>
          </a:bodyPr>
          <a:lstStyle/>
          <a:p>
            <a:pPr>
              <a:defRPr/>
            </a:pPr>
            <a:r>
              <a:rPr lang="en-US" altLang="zh-CN" b="1" dirty="0">
                <a:solidFill>
                  <a:srgbClr val="961318">
                    <a:alpha val="70000"/>
                  </a:srgbClr>
                </a:solidFill>
                <a:latin typeface="Calibri" panose="020F0502020204030204"/>
                <a:ea typeface="宋体" panose="02010600030101010101" pitchFamily="2" charset="-122"/>
              </a:rPr>
              <a:t>April 10</a:t>
            </a:r>
            <a:r>
              <a:rPr lang="en-US" altLang="zh-CN" b="1" baseline="30000" dirty="0">
                <a:solidFill>
                  <a:srgbClr val="961318">
                    <a:alpha val="70000"/>
                  </a:srgbClr>
                </a:solidFill>
                <a:latin typeface="Calibri" panose="020F0502020204030204"/>
                <a:ea typeface="宋体" panose="02010600030101010101" pitchFamily="2" charset="-122"/>
              </a:rPr>
              <a:t>th</a:t>
            </a:r>
            <a:endParaRPr lang="zh-CN" altLang="en-US" b="1" baseline="30000" dirty="0">
              <a:solidFill>
                <a:srgbClr val="961318">
                  <a:alpha val="70000"/>
                </a:srgbClr>
              </a:solidFill>
              <a:latin typeface="Calibri" panose="020F0502020204030204"/>
              <a:ea typeface="宋体" panose="02010600030101010101" pitchFamily="2" charset="-122"/>
            </a:endParaRPr>
          </a:p>
        </p:txBody>
      </p:sp>
      <p:sp>
        <p:nvSpPr>
          <p:cNvPr id="12" name="文本框 11"/>
          <p:cNvSpPr txBox="1"/>
          <p:nvPr/>
        </p:nvSpPr>
        <p:spPr>
          <a:xfrm>
            <a:off x="5250253" y="2386575"/>
            <a:ext cx="1675130" cy="144526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03</a:t>
            </a:r>
            <a:endParaRPr lang="zh-CN" altLang="en-US" sz="8800" b="1" dirty="0">
              <a:solidFill>
                <a:prstClr val="white"/>
              </a:solidFill>
              <a:latin typeface="Arial Black" panose="020B0A04020102020204" pitchFamily="34" charset="0"/>
              <a:ea typeface="宋体" panose="02010600030101010101" pitchFamily="2" charset="-122"/>
            </a:endParaRPr>
          </a:p>
        </p:txBody>
      </p:sp>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680342"/>
            <a:chOff x="335361" y="116633"/>
            <a:chExt cx="11521279" cy="668034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分析</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rPr>
                <a:t>April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endParaRPr>
            </a:p>
          </p:txBody>
        </p:sp>
      </p:grpSp>
      <p:sp>
        <p:nvSpPr>
          <p:cNvPr id="35" name="矩形 34"/>
          <p:cNvSpPr/>
          <p:nvPr/>
        </p:nvSpPr>
        <p:spPr>
          <a:xfrm>
            <a:off x="438201" y="1498641"/>
            <a:ext cx="11339921" cy="460375"/>
          </a:xfrm>
          <a:prstGeom prst="rect">
            <a:avLst/>
          </a:prstGeom>
        </p:spPr>
        <p:txBody>
          <a:bodyPr wrap="square">
            <a:spAutoFit/>
          </a:bodyPr>
          <a:lstStyle/>
          <a:p>
            <a:pPr algn="just">
              <a:lnSpc>
                <a:spcPct val="150000"/>
              </a:lnSpc>
              <a:defRPr/>
            </a:pPr>
            <a:r>
              <a:rPr lang="zh-CN" altLang="en-US" sz="1600" dirty="0">
                <a:solidFill>
                  <a:prstClr val="black">
                    <a:lumMod val="85000"/>
                    <a:lumOff val="15000"/>
                  </a:prstClr>
                </a:solidFill>
                <a:latin typeface="微软雅黑" panose="020B0503020204020204" charset="-122"/>
                <a:ea typeface="微软雅黑" panose="020B0503020204020204" charset="-122"/>
                <a:cs typeface="微软雅黑" panose="020B0503020204020204" charset="-122"/>
              </a:rPr>
              <a:t>优化生产过程中的各个决策环节：是否检测零配件，是否检测成品，是否拆解不合格产品，最终目标是最大化累计利润。</a:t>
            </a:r>
            <a:endParaRPr lang="zh-CN" altLang="en-US" sz="1600" dirty="0">
              <a:solidFill>
                <a:prstClr val="black">
                  <a:lumMod val="85000"/>
                  <a:lumOff val="15000"/>
                </a:prstClr>
              </a:solidFill>
              <a:latin typeface="微软雅黑" panose="020B0503020204020204" charset="-122"/>
              <a:ea typeface="微软雅黑" panose="020B0503020204020204" charset="-122"/>
              <a:cs typeface="微软雅黑" panose="020B0503020204020204" charset="-122"/>
            </a:endParaRPr>
          </a:p>
        </p:txBody>
      </p:sp>
      <p:sp>
        <p:nvSpPr>
          <p:cNvPr id="36" name="圆角矩形 6"/>
          <p:cNvSpPr/>
          <p:nvPr/>
        </p:nvSpPr>
        <p:spPr>
          <a:xfrm>
            <a:off x="413878" y="1019284"/>
            <a:ext cx="3177540" cy="490220"/>
          </a:xfrm>
          <a:prstGeom prst="roundRect">
            <a:avLst>
              <a:gd name="adj" fmla="val 37046"/>
            </a:avLst>
          </a:prstGeom>
          <a:gradFill>
            <a:gsLst>
              <a:gs pos="53000">
                <a:srgbClr val="961318"/>
              </a:gs>
              <a:gs pos="95000">
                <a:srgbClr val="961318">
                  <a:alpha val="0"/>
                </a:srgbClr>
              </a:gs>
              <a:gs pos="0">
                <a:srgbClr val="961318"/>
              </a:gs>
            </a:gsLst>
            <a:lin ang="20700000" scaled="0"/>
          </a:gradFill>
          <a:ln w="12700" cap="flat" cmpd="sng" algn="ctr">
            <a:noFill/>
            <a:prstDash val="solid"/>
            <a:miter lim="800000"/>
          </a:ln>
          <a:effectLst/>
        </p:spPr>
        <p:txBody>
          <a:bodyPr rtlCol="0" anchor="ctr"/>
          <a:lstStyle/>
          <a:p>
            <a:pPr algn="ctr">
              <a:defRPr/>
            </a:pPr>
            <a:endParaRPr lang="zh-CN" altLang="en-US" kern="0">
              <a:solidFill>
                <a:prstClr val="white"/>
              </a:solidFill>
              <a:latin typeface="微软雅黑" panose="020B0503020204020204" charset="-122"/>
              <a:ea typeface="微软雅黑" panose="020B0503020204020204" charset="-122"/>
            </a:endParaRPr>
          </a:p>
        </p:txBody>
      </p:sp>
      <p:sp>
        <p:nvSpPr>
          <p:cNvPr id="37" name="文本框 36"/>
          <p:cNvSpPr txBox="1"/>
          <p:nvPr/>
        </p:nvSpPr>
        <p:spPr>
          <a:xfrm>
            <a:off x="755725" y="1072878"/>
            <a:ext cx="3182281" cy="398780"/>
          </a:xfrm>
          <a:prstGeom prst="rect">
            <a:avLst/>
          </a:prstGeom>
          <a:noFill/>
        </p:spPr>
        <p:txBody>
          <a:bodyPr wrap="square" rtlCol="0">
            <a:spAutoFit/>
          </a:bodyPr>
          <a:lstStyle>
            <a:defPPr>
              <a:defRPr lang="zh-CN"/>
            </a:defPPr>
            <a:lvl1pPr algn="dist">
              <a:defRPr sz="2400" b="1">
                <a:solidFill>
                  <a:srgbClr val="A5353A"/>
                </a:solidFill>
                <a:latin typeface="微软雅黑" panose="020B0503020204020204" charset="-122"/>
                <a:ea typeface="微软雅黑" panose="020B0503020204020204"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1"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求解目标</a:t>
            </a:r>
            <a:endParaRPr kumimoji="0" lang="zh-CN" altLang="en-US" sz="2000" b="1" i="1"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nvGrpSpPr>
          <p:cNvPr id="2" name="ï$ľîḑè"/>
          <p:cNvGrpSpPr/>
          <p:nvPr/>
        </p:nvGrpSpPr>
        <p:grpSpPr>
          <a:xfrm>
            <a:off x="508020" y="2345055"/>
            <a:ext cx="10815935" cy="3275965"/>
            <a:chOff x="1356782" y="1917130"/>
            <a:chExt cx="9108814" cy="3161994"/>
          </a:xfrm>
        </p:grpSpPr>
        <p:grpSp>
          <p:nvGrpSpPr>
            <p:cNvPr id="3" name="isḻíḍé"/>
            <p:cNvGrpSpPr/>
            <p:nvPr/>
          </p:nvGrpSpPr>
          <p:grpSpPr>
            <a:xfrm>
              <a:off x="1356782" y="1917130"/>
              <a:ext cx="2853699" cy="3161994"/>
              <a:chOff x="1356782" y="1917130"/>
              <a:chExt cx="2853699" cy="3161994"/>
            </a:xfrm>
          </p:grpSpPr>
          <p:sp>
            <p:nvSpPr>
              <p:cNvPr id="38" name="işlïḋê"/>
              <p:cNvSpPr/>
              <p:nvPr/>
            </p:nvSpPr>
            <p:spPr>
              <a:xfrm>
                <a:off x="1356784" y="1917130"/>
                <a:ext cx="2853695" cy="3161994"/>
              </a:xfrm>
              <a:prstGeom prst="snip1Rect">
                <a:avLst>
                  <a:gd name="adj" fmla="val 40731"/>
                </a:avLst>
              </a:prstGeom>
              <a:solidFill>
                <a:sysClr val="window" lastClr="FFFFFF"/>
              </a:solidFill>
              <a:ln w="3175" cap="flat" cmpd="sng" algn="ctr">
                <a:solidFill>
                  <a:srgbClr val="961318"/>
                </a:solidFill>
                <a:prstDash val="solid"/>
                <a:miter lim="800000"/>
              </a:ln>
              <a:effectLst/>
            </p:spPr>
            <p:txBody>
              <a:bodyPr anchor="ctr"/>
              <a:p>
                <a:pPr algn="ctr">
                  <a:defRPr/>
                </a:pPr>
                <a:endParaRPr kern="0" dirty="0">
                  <a:solidFill>
                    <a:prstClr val="white"/>
                  </a:solidFill>
                  <a:latin typeface="Arial" panose="020B0604020202020204"/>
                  <a:ea typeface="微软雅黑 Light" panose="020B0502040204020203" pitchFamily="34" charset="-122"/>
                </a:endParaRPr>
              </a:p>
            </p:txBody>
          </p:sp>
          <p:sp>
            <p:nvSpPr>
              <p:cNvPr id="39" name="ïşḻîḓe"/>
              <p:cNvSpPr/>
              <p:nvPr/>
            </p:nvSpPr>
            <p:spPr>
              <a:xfrm>
                <a:off x="1356785" y="4955943"/>
                <a:ext cx="2853695" cy="123181"/>
              </a:xfrm>
              <a:prstGeom prst="rect">
                <a:avLst/>
              </a:prstGeom>
              <a:solidFill>
                <a:srgbClr val="961318"/>
              </a:solidFill>
              <a:ln w="3175">
                <a:noFill/>
                <a:prstDash val="solid"/>
                <a:round/>
              </a:ln>
              <a:effectLst/>
            </p:spPr>
            <p:txBody>
              <a:bodyPr anchor="ctr"/>
              <a:p>
                <a:pPr algn="ctr">
                  <a:defRPr/>
                </a:pPr>
                <a:endParaRPr kern="0" dirty="0">
                  <a:solidFill>
                    <a:prstClr val="black"/>
                  </a:solidFill>
                  <a:latin typeface="Arial" panose="020B0604020202020204"/>
                  <a:ea typeface="微软雅黑 Light" panose="020B0502040204020203" pitchFamily="34" charset="-122"/>
                </a:endParaRPr>
              </a:p>
            </p:txBody>
          </p:sp>
          <p:sp>
            <p:nvSpPr>
              <p:cNvPr id="40" name="íş1ïḋê"/>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961318"/>
              </a:solidFill>
              <a:ln w="3175">
                <a:noFill/>
                <a:prstDash val="solid"/>
                <a:round/>
              </a:ln>
              <a:effectLst/>
            </p:spPr>
            <p:txBody>
              <a:bodyPr vert="horz" wrap="square" lIns="121920" tIns="60960" rIns="121920" bIns="60960" anchor="t" anchorCtr="0" compatLnSpc="1">
                <a:normAutofit/>
              </a:bodyPr>
              <a:p>
                <a:pPr algn="r">
                  <a:defRPr/>
                </a:pPr>
                <a:r>
                  <a:rPr lang="en-US" altLang="ko-KR" sz="3200" b="1" kern="0" dirty="0">
                    <a:solidFill>
                      <a:prstClr val="white"/>
                    </a:solidFill>
                    <a:latin typeface="Arial" panose="020B0604020202020204"/>
                    <a:ea typeface="微软雅黑 Light" panose="020B0502040204020203" pitchFamily="34" charset="-122"/>
                  </a:rPr>
                  <a:t>1</a:t>
                </a:r>
                <a:endParaRPr lang="en-US" altLang="ko-KR" sz="3200" b="1" kern="0" dirty="0">
                  <a:solidFill>
                    <a:prstClr val="white"/>
                  </a:solidFill>
                  <a:latin typeface="Arial" panose="020B0604020202020204"/>
                  <a:ea typeface="微软雅黑 Light" panose="020B0502040204020203" pitchFamily="34" charset="-122"/>
                </a:endParaRPr>
              </a:p>
            </p:txBody>
          </p:sp>
          <p:sp>
            <p:nvSpPr>
              <p:cNvPr id="41" name="îṡḷíďê"/>
              <p:cNvSpPr txBox="1"/>
              <p:nvPr/>
            </p:nvSpPr>
            <p:spPr>
              <a:xfrm>
                <a:off x="1357283" y="1930354"/>
                <a:ext cx="1588717" cy="588331"/>
              </a:xfrm>
              <a:prstGeom prst="rect">
                <a:avLst/>
              </a:prstGeom>
              <a:noFill/>
            </p:spPr>
            <p:txBody>
              <a:bodyPr wrap="none" lIns="90000" tIns="46800" rIns="90000" bIns="46800" rtlCol="0" anchor="ctr" anchorCtr="0">
                <a:normAutofit/>
              </a:bodyPr>
              <a:p>
                <a:pPr>
                  <a:defRPr/>
                </a:pPr>
                <a:r>
                  <a:rPr lang="zh-CN" altLang="en-US" b="1" kern="0" dirty="0">
                    <a:solidFill>
                      <a:prstClr val="black"/>
                    </a:solidFill>
                    <a:latin typeface="微软雅黑" panose="020B0503020204020204" charset="-122"/>
                    <a:ea typeface="微软雅黑" panose="020B0503020204020204" charset="-122"/>
                  </a:rPr>
                  <a:t>零配件</a:t>
                </a:r>
                <a:r>
                  <a:rPr lang="zh-CN" altLang="en-US" b="1" kern="0" dirty="0">
                    <a:solidFill>
                      <a:prstClr val="black"/>
                    </a:solidFill>
                    <a:latin typeface="微软雅黑" panose="020B0503020204020204" charset="-122"/>
                    <a:ea typeface="微软雅黑" panose="020B0503020204020204" charset="-122"/>
                  </a:rPr>
                  <a:t>检测</a:t>
                </a:r>
                <a:endParaRPr lang="zh-CN" altLang="en-US" b="1" kern="0" dirty="0">
                  <a:solidFill>
                    <a:prstClr val="black"/>
                  </a:solidFill>
                  <a:latin typeface="微软雅黑" panose="020B0503020204020204" charset="-122"/>
                  <a:ea typeface="微软雅黑" panose="020B0503020204020204" charset="-122"/>
                </a:endParaRPr>
              </a:p>
            </p:txBody>
          </p:sp>
          <p:sp>
            <p:nvSpPr>
              <p:cNvPr id="42" name="iślíde"/>
              <p:cNvSpPr txBox="1"/>
              <p:nvPr/>
            </p:nvSpPr>
            <p:spPr>
              <a:xfrm>
                <a:off x="1357282" y="2518686"/>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600" kern="0" dirty="0">
                    <a:solidFill>
                      <a:prstClr val="black"/>
                    </a:solidFill>
                    <a:latin typeface="Arial" panose="020B0604020202020204"/>
                    <a:ea typeface="微软雅黑 Light" panose="020B0502040204020203" pitchFamily="34" charset="-122"/>
                  </a:rPr>
                  <a:t>是否检测零配件 1</a:t>
                </a:r>
                <a:endParaRPr lang="zh-CN" altLang="en-US" sz="1600" kern="0" dirty="0">
                  <a:solidFill>
                    <a:prstClr val="black"/>
                  </a:solidFill>
                  <a:latin typeface="Arial" panose="020B0604020202020204"/>
                  <a:ea typeface="微软雅黑 Light" panose="020B0502040204020203" pitchFamily="34" charset="-122"/>
                </a:endParaRPr>
              </a:p>
            </p:txBody>
          </p:sp>
          <p:cxnSp>
            <p:nvCxnSpPr>
              <p:cNvPr id="48" name="直接连接符 47"/>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49" name="直接连接符 48"/>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50" name="iślíde"/>
              <p:cNvSpPr txBox="1"/>
              <p:nvPr/>
            </p:nvSpPr>
            <p:spPr>
              <a:xfrm>
                <a:off x="1356782" y="3282748"/>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600" kern="0" dirty="0">
                    <a:solidFill>
                      <a:prstClr val="black"/>
                    </a:solidFill>
                    <a:latin typeface="Arial" panose="020B0604020202020204"/>
                    <a:ea typeface="微软雅黑 Light" panose="020B0502040204020203" pitchFamily="34" charset="-122"/>
                  </a:rPr>
                  <a:t>是否检测零配件 2</a:t>
                </a:r>
                <a:endParaRPr lang="zh-CN" altLang="en-US" sz="1600" kern="0" dirty="0">
                  <a:solidFill>
                    <a:prstClr val="black"/>
                  </a:solidFill>
                  <a:latin typeface="Arial" panose="020B0604020202020204"/>
                  <a:ea typeface="微软雅黑 Light" panose="020B0502040204020203" pitchFamily="34" charset="-122"/>
                </a:endParaRPr>
              </a:p>
            </p:txBody>
          </p:sp>
        </p:grpSp>
        <p:grpSp>
          <p:nvGrpSpPr>
            <p:cNvPr id="4" name="íṣļîďê"/>
            <p:cNvGrpSpPr/>
            <p:nvPr/>
          </p:nvGrpSpPr>
          <p:grpSpPr>
            <a:xfrm>
              <a:off x="4458815" y="1917130"/>
              <a:ext cx="2870882" cy="3161994"/>
              <a:chOff x="1339599" y="1917130"/>
              <a:chExt cx="2870882" cy="3161994"/>
            </a:xfrm>
          </p:grpSpPr>
          <p:sp>
            <p:nvSpPr>
              <p:cNvPr id="5" name="íšlïdê"/>
              <p:cNvSpPr/>
              <p:nvPr/>
            </p:nvSpPr>
            <p:spPr>
              <a:xfrm>
                <a:off x="1356784" y="1917130"/>
                <a:ext cx="2853695" cy="3161994"/>
              </a:xfrm>
              <a:prstGeom prst="snip1Rect">
                <a:avLst>
                  <a:gd name="adj" fmla="val 40731"/>
                </a:avLst>
              </a:prstGeom>
              <a:solidFill>
                <a:sysClr val="window" lastClr="FFFFFF"/>
              </a:solidFill>
              <a:ln w="3175" cap="flat" cmpd="sng" algn="ctr">
                <a:solidFill>
                  <a:srgbClr val="961318"/>
                </a:solidFill>
                <a:prstDash val="solid"/>
                <a:miter lim="800000"/>
              </a:ln>
              <a:effectLst/>
            </p:spPr>
            <p:txBody>
              <a:bodyPr anchor="ctr"/>
              <a:p>
                <a:pPr algn="ctr">
                  <a:defRPr/>
                </a:pPr>
                <a:endParaRPr kern="0" dirty="0">
                  <a:solidFill>
                    <a:prstClr val="white"/>
                  </a:solidFill>
                  <a:latin typeface="Arial" panose="020B0604020202020204"/>
                  <a:ea typeface="微软雅黑 Light" panose="020B0502040204020203" pitchFamily="34" charset="-122"/>
                </a:endParaRPr>
              </a:p>
            </p:txBody>
          </p:sp>
          <p:sp>
            <p:nvSpPr>
              <p:cNvPr id="6" name="îṡľide"/>
              <p:cNvSpPr/>
              <p:nvPr/>
            </p:nvSpPr>
            <p:spPr>
              <a:xfrm>
                <a:off x="1356785" y="4955943"/>
                <a:ext cx="2853695" cy="123181"/>
              </a:xfrm>
              <a:prstGeom prst="rect">
                <a:avLst/>
              </a:prstGeom>
              <a:solidFill>
                <a:srgbClr val="961318"/>
              </a:solidFill>
              <a:ln w="3175">
                <a:noFill/>
                <a:prstDash val="solid"/>
                <a:round/>
              </a:ln>
              <a:effectLst/>
            </p:spPr>
            <p:txBody>
              <a:bodyPr anchor="ctr"/>
              <a:p>
                <a:pPr algn="ctr">
                  <a:defRPr/>
                </a:pPr>
                <a:endParaRPr kern="0" dirty="0">
                  <a:solidFill>
                    <a:prstClr val="black"/>
                  </a:solidFill>
                  <a:latin typeface="Arial" panose="020B0604020202020204"/>
                  <a:ea typeface="微软雅黑 Light" panose="020B0502040204020203" pitchFamily="34" charset="-122"/>
                </a:endParaRPr>
              </a:p>
            </p:txBody>
          </p:sp>
          <p:sp>
            <p:nvSpPr>
              <p:cNvPr id="12" name="iś1íde"/>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961318"/>
              </a:solidFill>
              <a:ln w="3175">
                <a:noFill/>
                <a:prstDash val="solid"/>
                <a:round/>
              </a:ln>
              <a:effectLst/>
            </p:spPr>
            <p:txBody>
              <a:bodyPr vert="horz" wrap="square" lIns="121920" tIns="60960" rIns="121920" bIns="60960" anchor="t" anchorCtr="0" compatLnSpc="1">
                <a:normAutofit/>
              </a:bodyPr>
              <a:p>
                <a:pPr algn="r">
                  <a:defRPr/>
                </a:pPr>
                <a:r>
                  <a:rPr lang="en-US" altLang="zh-CN" sz="3200" b="1" kern="0" dirty="0">
                    <a:solidFill>
                      <a:prstClr val="white"/>
                    </a:solidFill>
                    <a:latin typeface="Arial" panose="020B0604020202020204"/>
                    <a:ea typeface="微软雅黑 Light" panose="020B0502040204020203" pitchFamily="34" charset="-122"/>
                  </a:rPr>
                  <a:t>2</a:t>
                </a:r>
                <a:endParaRPr lang="en-US" altLang="zh-CN" sz="3200" b="1" kern="0" dirty="0">
                  <a:solidFill>
                    <a:prstClr val="white"/>
                  </a:solidFill>
                  <a:latin typeface="Arial" panose="020B0604020202020204"/>
                  <a:ea typeface="微软雅黑 Light" panose="020B0502040204020203" pitchFamily="34" charset="-122"/>
                </a:endParaRPr>
              </a:p>
            </p:txBody>
          </p:sp>
          <p:sp>
            <p:nvSpPr>
              <p:cNvPr id="43" name="ïṧľîḑê"/>
              <p:cNvSpPr txBox="1"/>
              <p:nvPr/>
            </p:nvSpPr>
            <p:spPr>
              <a:xfrm>
                <a:off x="1357283" y="1930354"/>
                <a:ext cx="1588717" cy="588331"/>
              </a:xfrm>
              <a:prstGeom prst="rect">
                <a:avLst/>
              </a:prstGeom>
              <a:noFill/>
            </p:spPr>
            <p:txBody>
              <a:bodyPr wrap="none" lIns="90000" tIns="46800" rIns="90000" bIns="46800" rtlCol="0" anchor="ctr" anchorCtr="0">
                <a:normAutofit/>
              </a:bodyPr>
              <a:p>
                <a:pPr>
                  <a:defRPr/>
                </a:pPr>
                <a:r>
                  <a:rPr lang="zh-CN" altLang="en-US" b="1" kern="0" dirty="0">
                    <a:solidFill>
                      <a:prstClr val="black"/>
                    </a:solidFill>
                    <a:latin typeface="微软雅黑" panose="020B0503020204020204" charset="-122"/>
                    <a:ea typeface="微软雅黑" panose="020B0503020204020204" charset="-122"/>
                  </a:rPr>
                  <a:t>成品</a:t>
                </a:r>
                <a:r>
                  <a:rPr lang="zh-CN" altLang="en-US" b="1" kern="0" dirty="0">
                    <a:solidFill>
                      <a:prstClr val="black"/>
                    </a:solidFill>
                    <a:latin typeface="微软雅黑" panose="020B0503020204020204" charset="-122"/>
                    <a:ea typeface="微软雅黑" panose="020B0503020204020204" charset="-122"/>
                  </a:rPr>
                  <a:t>检测</a:t>
                </a:r>
                <a:endParaRPr lang="zh-CN" altLang="en-US" b="1" kern="0" dirty="0">
                  <a:solidFill>
                    <a:prstClr val="black"/>
                  </a:solidFill>
                  <a:latin typeface="微软雅黑" panose="020B0503020204020204" charset="-122"/>
                  <a:ea typeface="微软雅黑" panose="020B0503020204020204" charset="-122"/>
                </a:endParaRPr>
              </a:p>
            </p:txBody>
          </p:sp>
          <p:sp>
            <p:nvSpPr>
              <p:cNvPr id="44" name="iṣ1íďê"/>
              <p:cNvSpPr txBox="1"/>
              <p:nvPr/>
            </p:nvSpPr>
            <p:spPr>
              <a:xfrm>
                <a:off x="1357282" y="2518686"/>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600" kern="0" dirty="0">
                    <a:solidFill>
                      <a:prstClr val="black"/>
                    </a:solidFill>
                    <a:latin typeface="Arial" panose="020B0604020202020204"/>
                    <a:ea typeface="微软雅黑 Light" panose="020B0502040204020203" pitchFamily="34" charset="-122"/>
                  </a:rPr>
                  <a:t>是否检测成品</a:t>
                </a:r>
                <a:endParaRPr lang="zh-CN" altLang="en-US" sz="1600" kern="0" dirty="0">
                  <a:solidFill>
                    <a:prstClr val="black"/>
                  </a:solidFill>
                  <a:latin typeface="Arial" panose="020B0604020202020204"/>
                  <a:ea typeface="微软雅黑 Light" panose="020B0502040204020203" pitchFamily="34" charset="-122"/>
                </a:endParaRPr>
              </a:p>
            </p:txBody>
          </p:sp>
          <p:cxnSp>
            <p:nvCxnSpPr>
              <p:cNvPr id="45" name="直接连接符 44"/>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46" name="直接连接符 45"/>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47" name="iṣ1íďê"/>
              <p:cNvSpPr txBox="1"/>
              <p:nvPr/>
            </p:nvSpPr>
            <p:spPr>
              <a:xfrm>
                <a:off x="1339599" y="3282748"/>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600" kern="0" dirty="0">
                    <a:solidFill>
                      <a:prstClr val="black"/>
                    </a:solidFill>
                    <a:latin typeface="Arial" panose="020B0604020202020204"/>
                    <a:ea typeface="微软雅黑 Light" panose="020B0502040204020203" pitchFamily="34" charset="-122"/>
                  </a:rPr>
                  <a:t>是否拆解生产过程中不合格成品</a:t>
                </a:r>
                <a:endParaRPr lang="zh-CN" altLang="en-US" sz="1600" kern="0" dirty="0">
                  <a:solidFill>
                    <a:prstClr val="black"/>
                  </a:solidFill>
                  <a:latin typeface="Arial" panose="020B0604020202020204"/>
                  <a:ea typeface="微软雅黑 Light" panose="020B0502040204020203" pitchFamily="34" charset="-122"/>
                </a:endParaRPr>
              </a:p>
            </p:txBody>
          </p:sp>
        </p:grpSp>
        <p:grpSp>
          <p:nvGrpSpPr>
            <p:cNvPr id="53" name="îśľîḑe"/>
            <p:cNvGrpSpPr/>
            <p:nvPr/>
          </p:nvGrpSpPr>
          <p:grpSpPr>
            <a:xfrm>
              <a:off x="7595216" y="1917130"/>
              <a:ext cx="2870380" cy="3161994"/>
              <a:chOff x="1356784" y="1917130"/>
              <a:chExt cx="2870380" cy="3161994"/>
            </a:xfrm>
          </p:grpSpPr>
          <p:sp>
            <p:nvSpPr>
              <p:cNvPr id="54" name="îṥḻïḍê"/>
              <p:cNvSpPr/>
              <p:nvPr/>
            </p:nvSpPr>
            <p:spPr>
              <a:xfrm>
                <a:off x="1356784" y="1917130"/>
                <a:ext cx="2853695" cy="3161994"/>
              </a:xfrm>
              <a:prstGeom prst="snip1Rect">
                <a:avLst>
                  <a:gd name="adj" fmla="val 40731"/>
                </a:avLst>
              </a:prstGeom>
              <a:solidFill>
                <a:sysClr val="window" lastClr="FFFFFF"/>
              </a:solidFill>
              <a:ln w="3175" cap="flat" cmpd="sng" algn="ctr">
                <a:solidFill>
                  <a:srgbClr val="961318"/>
                </a:solidFill>
                <a:prstDash val="solid"/>
                <a:miter lim="800000"/>
              </a:ln>
              <a:effectLst/>
            </p:spPr>
            <p:txBody>
              <a:bodyPr anchor="ctr"/>
              <a:p>
                <a:pPr algn="ctr">
                  <a:defRPr/>
                </a:pPr>
                <a:endParaRPr kern="0" dirty="0">
                  <a:solidFill>
                    <a:prstClr val="white"/>
                  </a:solidFill>
                  <a:latin typeface="Arial" panose="020B0604020202020204"/>
                  <a:ea typeface="微软雅黑 Light" panose="020B0502040204020203" pitchFamily="34" charset="-122"/>
                </a:endParaRPr>
              </a:p>
            </p:txBody>
          </p:sp>
          <p:sp>
            <p:nvSpPr>
              <p:cNvPr id="55" name="ïṥḻiḋê"/>
              <p:cNvSpPr/>
              <p:nvPr/>
            </p:nvSpPr>
            <p:spPr>
              <a:xfrm>
                <a:off x="1356785" y="4955943"/>
                <a:ext cx="2853695" cy="123181"/>
              </a:xfrm>
              <a:prstGeom prst="rect">
                <a:avLst/>
              </a:prstGeom>
              <a:solidFill>
                <a:srgbClr val="961318"/>
              </a:solidFill>
              <a:ln w="3175">
                <a:noFill/>
                <a:prstDash val="solid"/>
                <a:round/>
              </a:ln>
              <a:effectLst/>
            </p:spPr>
            <p:txBody>
              <a:bodyPr anchor="ctr"/>
              <a:p>
                <a:pPr algn="ctr">
                  <a:defRPr/>
                </a:pPr>
                <a:endParaRPr kern="0" dirty="0">
                  <a:solidFill>
                    <a:prstClr val="black"/>
                  </a:solidFill>
                  <a:latin typeface="Arial" panose="020B0604020202020204"/>
                  <a:ea typeface="微软雅黑 Light" panose="020B0502040204020203" pitchFamily="34" charset="-122"/>
                </a:endParaRPr>
              </a:p>
            </p:txBody>
          </p:sp>
          <p:sp>
            <p:nvSpPr>
              <p:cNvPr id="56" name="îṣľîḋé"/>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961318"/>
              </a:solidFill>
              <a:ln w="3175">
                <a:noFill/>
                <a:prstDash val="solid"/>
                <a:round/>
              </a:ln>
              <a:effectLst/>
            </p:spPr>
            <p:txBody>
              <a:bodyPr vert="horz" wrap="square" lIns="121920" tIns="60960" rIns="121920" bIns="60960" anchor="t" anchorCtr="0" compatLnSpc="1">
                <a:normAutofit/>
              </a:bodyPr>
              <a:p>
                <a:pPr algn="r">
                  <a:defRPr/>
                </a:pPr>
                <a:r>
                  <a:rPr lang="en-US" altLang="zh-CN" sz="3200" b="1" kern="0" dirty="0">
                    <a:solidFill>
                      <a:prstClr val="white"/>
                    </a:solidFill>
                    <a:latin typeface="Arial" panose="020B0604020202020204"/>
                    <a:ea typeface="微软雅黑 Light" panose="020B0502040204020203" pitchFamily="34" charset="-122"/>
                  </a:rPr>
                  <a:t>3</a:t>
                </a:r>
                <a:endParaRPr lang="en-US" altLang="zh-CN" sz="3200" b="1" kern="0" dirty="0">
                  <a:solidFill>
                    <a:prstClr val="white"/>
                  </a:solidFill>
                  <a:latin typeface="Arial" panose="020B0604020202020204"/>
                  <a:ea typeface="微软雅黑 Light" panose="020B0502040204020203" pitchFamily="34" charset="-122"/>
                </a:endParaRPr>
              </a:p>
            </p:txBody>
          </p:sp>
          <p:sp>
            <p:nvSpPr>
              <p:cNvPr id="57" name="ïṧliḑè"/>
              <p:cNvSpPr txBox="1"/>
              <p:nvPr/>
            </p:nvSpPr>
            <p:spPr>
              <a:xfrm>
                <a:off x="1357283" y="1930354"/>
                <a:ext cx="1588717" cy="588331"/>
              </a:xfrm>
              <a:prstGeom prst="rect">
                <a:avLst/>
              </a:prstGeom>
              <a:noFill/>
            </p:spPr>
            <p:txBody>
              <a:bodyPr wrap="none" lIns="90000" tIns="46800" rIns="90000" bIns="46800" rtlCol="0" anchor="ctr" anchorCtr="0">
                <a:normAutofit/>
              </a:bodyPr>
              <a:p>
                <a:pPr>
                  <a:defRPr/>
                </a:pPr>
                <a:r>
                  <a:rPr lang="zh-CN" altLang="en-US" b="1" kern="0" dirty="0">
                    <a:solidFill>
                      <a:prstClr val="black"/>
                    </a:solidFill>
                    <a:latin typeface="微软雅黑" panose="020B0503020204020204" charset="-122"/>
                    <a:ea typeface="微软雅黑" panose="020B0503020204020204" charset="-122"/>
                  </a:rPr>
                  <a:t>拆解</a:t>
                </a:r>
                <a:r>
                  <a:rPr lang="zh-CN" altLang="en-US" b="1" kern="0" dirty="0">
                    <a:solidFill>
                      <a:prstClr val="black"/>
                    </a:solidFill>
                    <a:latin typeface="微软雅黑" panose="020B0503020204020204" charset="-122"/>
                    <a:ea typeface="微软雅黑" panose="020B0503020204020204" charset="-122"/>
                  </a:rPr>
                  <a:t>决策</a:t>
                </a:r>
                <a:endParaRPr lang="zh-CN" altLang="en-US" b="1" kern="0" dirty="0">
                  <a:solidFill>
                    <a:prstClr val="black"/>
                  </a:solidFill>
                  <a:latin typeface="微软雅黑" panose="020B0503020204020204" charset="-122"/>
                  <a:ea typeface="微软雅黑" panose="020B0503020204020204" charset="-122"/>
                </a:endParaRPr>
              </a:p>
            </p:txBody>
          </p:sp>
          <p:sp>
            <p:nvSpPr>
              <p:cNvPr id="58" name="îŝliďè"/>
              <p:cNvSpPr txBox="1"/>
              <p:nvPr/>
            </p:nvSpPr>
            <p:spPr>
              <a:xfrm>
                <a:off x="1357282" y="2518686"/>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600" kern="0" dirty="0">
                    <a:solidFill>
                      <a:prstClr val="black"/>
                    </a:solidFill>
                    <a:latin typeface="Arial" panose="020B0604020202020204"/>
                    <a:ea typeface="微软雅黑 Light" panose="020B0502040204020203" pitchFamily="34" charset="-122"/>
                  </a:rPr>
                  <a:t>拆解后零配件 1 是否检测</a:t>
                </a:r>
                <a:endParaRPr lang="zh-CN" altLang="en-US" sz="1600" kern="0" dirty="0">
                  <a:solidFill>
                    <a:prstClr val="black"/>
                  </a:solidFill>
                  <a:latin typeface="Arial" panose="020B0604020202020204"/>
                  <a:ea typeface="微软雅黑 Light" panose="020B0502040204020203" pitchFamily="34" charset="-122"/>
                </a:endParaRPr>
              </a:p>
            </p:txBody>
          </p:sp>
          <p:cxnSp>
            <p:nvCxnSpPr>
              <p:cNvPr id="59" name="直接连接符 58"/>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60" name="直接连接符 59"/>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61" name="îŝliďè"/>
              <p:cNvSpPr txBox="1"/>
              <p:nvPr/>
            </p:nvSpPr>
            <p:spPr>
              <a:xfrm>
                <a:off x="1373967" y="3282748"/>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600" kern="0" dirty="0">
                    <a:solidFill>
                      <a:prstClr val="black"/>
                    </a:solidFill>
                    <a:latin typeface="Arial" panose="020B0604020202020204"/>
                    <a:ea typeface="微软雅黑 Light" panose="020B0502040204020203" pitchFamily="34" charset="-122"/>
                  </a:rPr>
                  <a:t>拆解后零配件 2 是否检测</a:t>
                </a:r>
                <a:endParaRPr lang="zh-CN" altLang="en-US" sz="1600" kern="0" dirty="0">
                  <a:solidFill>
                    <a:prstClr val="black"/>
                  </a:solidFill>
                  <a:latin typeface="Arial" panose="020B0604020202020204"/>
                  <a:ea typeface="微软雅黑 Light" panose="020B0502040204020203" pitchFamily="34" charset="-122"/>
                </a:endParaRPr>
              </a:p>
            </p:txBody>
          </p:sp>
          <p:sp>
            <p:nvSpPr>
              <p:cNvPr id="62" name="îŝliďè"/>
              <p:cNvSpPr txBox="1"/>
              <p:nvPr/>
            </p:nvSpPr>
            <p:spPr>
              <a:xfrm>
                <a:off x="1373967" y="4047394"/>
                <a:ext cx="2853197" cy="640314"/>
              </a:xfrm>
              <a:prstGeom prst="rect">
                <a:avLst/>
              </a:prstGeom>
              <a:noFill/>
            </p:spPr>
            <p:txBody>
              <a:bodyPr wrap="square" lIns="90000" tIns="46800" rIns="90000" bIns="46800" rtlCol="0">
                <a:normAutofit/>
              </a:bodyPr>
              <a:p>
                <a:pPr marL="171450" indent="-171450">
                  <a:lnSpc>
                    <a:spcPct val="150000"/>
                  </a:lnSpc>
                  <a:buFont typeface="Arial" panose="020B0604020202020204" pitchFamily="34" charset="0"/>
                  <a:buChar char="•"/>
                  <a:tabLst>
                    <a:tab pos="227965" algn="l"/>
                  </a:tabLst>
                  <a:defRPr/>
                </a:pPr>
                <a:r>
                  <a:rPr lang="zh-CN" altLang="en-US" sz="1600" kern="0" dirty="0">
                    <a:solidFill>
                      <a:prstClr val="black"/>
                    </a:solidFill>
                    <a:latin typeface="Arial" panose="020B0604020202020204"/>
                    <a:ea typeface="微软雅黑 Light" panose="020B0502040204020203" pitchFamily="34" charset="-122"/>
                  </a:rPr>
                  <a:t>用户退回不合格品是否拆解</a:t>
                </a:r>
                <a:endParaRPr lang="zh-CN" altLang="en-US" sz="1600" kern="0" dirty="0">
                  <a:solidFill>
                    <a:prstClr val="black"/>
                  </a:solidFill>
                  <a:latin typeface="Arial" panose="020B0604020202020204"/>
                  <a:ea typeface="微软雅黑 Light" panose="020B0502040204020203" pitchFamily="34" charset="-122"/>
                </a:endParaRPr>
              </a:p>
            </p:txBody>
          </p:sp>
        </p:grpSp>
      </p:grpSp>
    </p:spTree>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680342"/>
            <a:chOff x="335361" y="116633"/>
            <a:chExt cx="11521279" cy="668034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生产</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流程</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pic>
        <p:nvPicPr>
          <p:cNvPr id="2" name="图片 1"/>
          <p:cNvPicPr>
            <a:picLocks noChangeAspect="1"/>
          </p:cNvPicPr>
          <p:nvPr/>
        </p:nvPicPr>
        <p:blipFill>
          <a:blip r:embed="rId1"/>
          <a:stretch>
            <a:fillRect/>
          </a:stretch>
        </p:blipFill>
        <p:spPr>
          <a:xfrm>
            <a:off x="3965575" y="831850"/>
            <a:ext cx="4292600" cy="6034405"/>
          </a:xfrm>
          <a:prstGeom prst="rect">
            <a:avLst/>
          </a:prstGeom>
          <a:noFill/>
        </p:spPr>
      </p:pic>
    </p:spTree>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680342"/>
            <a:chOff x="335361" y="116633"/>
            <a:chExt cx="11521279" cy="668034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利润</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计算</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3" name="文本框 2"/>
          <p:cNvSpPr txBox="1"/>
          <p:nvPr/>
        </p:nvSpPr>
        <p:spPr>
          <a:xfrm>
            <a:off x="392430" y="944880"/>
            <a:ext cx="11292840" cy="5354320"/>
          </a:xfrm>
          <a:prstGeom prst="rect">
            <a:avLst/>
          </a:prstGeom>
          <a:noFill/>
        </p:spPr>
        <p:txBody>
          <a:bodyPr wrap="square" rtlCol="0">
            <a:spAutoFit/>
          </a:bodyPr>
          <a:p>
            <a:r>
              <a:rPr lang="zh-CN" altLang="en-US">
                <a:latin typeface="微软雅黑" panose="020B0503020204020204" charset="-122"/>
                <a:ea typeface="微软雅黑" panose="020B0503020204020204" charset="-122"/>
                <a:cs typeface="微软雅黑" panose="020B0503020204020204" charset="-122"/>
              </a:rPr>
              <a:t>利润的计算是模型的核心部分。通过模型计算利润时，需要考虑各项成本和收益的相互作用，包括：</a:t>
            </a:r>
            <a:endParaRPr lang="zh-CN" altLang="en-US">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检测成本：</a:t>
            </a:r>
            <a:r>
              <a:rPr lang="zh-CN" altLang="en-US">
                <a:latin typeface="微软雅黑" panose="020B0503020204020204" charset="-122"/>
                <a:ea typeface="微软雅黑" panose="020B0503020204020204" charset="-122"/>
                <a:cs typeface="微软雅黑" panose="020B0503020204020204" charset="-122"/>
              </a:rPr>
              <a:t>每次对零配件或成品进行检测时，都会产生检测成本。零配件的检测成本和成品的检测成本会直接影响到生产的总体成本。</a:t>
            </a:r>
            <a:r>
              <a:rPr lang="en-US" altLang="zh-CN">
                <a:latin typeface="微软雅黑" panose="020B0503020204020204" charset="-122"/>
                <a:ea typeface="微软雅黑" panose="020B0503020204020204" charset="-122"/>
                <a:cs typeface="微软雅黑" panose="020B0503020204020204" charset="-122"/>
              </a:rPr>
              <a:t> </a:t>
            </a:r>
            <a:endParaRPr lang="zh-CN" altLang="en-US">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装配成本：</a:t>
            </a:r>
            <a:r>
              <a:rPr lang="zh-CN" altLang="en-US">
                <a:latin typeface="微软雅黑" panose="020B0503020204020204" charset="-122"/>
                <a:ea typeface="微软雅黑" panose="020B0503020204020204" charset="-122"/>
                <a:cs typeface="微软雅黑" panose="020B0503020204020204" charset="-122"/>
              </a:rPr>
              <a:t>将零配件装配成成品需要支付一定的装配成本，该成本在每轮生产中都会产生。</a:t>
            </a:r>
            <a:endParaRPr lang="zh-CN" altLang="en-US">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拆解成本和回收收益：</a:t>
            </a:r>
            <a:r>
              <a:rPr lang="zh-CN" altLang="en-US">
                <a:latin typeface="微软雅黑" panose="020B0503020204020204" charset="-122"/>
                <a:ea typeface="微软雅黑" panose="020B0503020204020204" charset="-122"/>
                <a:cs typeface="微软雅黑" panose="020B0503020204020204" charset="-122"/>
              </a:rPr>
              <a:t>对于不合格成品进行拆解，既有拆解成本，也有回收收益。回收的零配件可以用于后续生产，从而减少成本。</a:t>
            </a:r>
            <a:endParaRPr lang="zh-CN" altLang="en-US">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替换损失：</a:t>
            </a:r>
            <a:r>
              <a:rPr lang="zh-CN" altLang="en-US">
                <a:latin typeface="微软雅黑" panose="020B0503020204020204" charset="-122"/>
                <a:ea typeface="微软雅黑" panose="020B0503020204020204" charset="-122"/>
                <a:cs typeface="微软雅黑" panose="020B0503020204020204" charset="-122"/>
              </a:rPr>
              <a:t>如果成品被检测为不合格并被退回，企业需要支付相应的替换损失。这一成本对于成品是否进行检测具有直接影响。</a:t>
            </a:r>
            <a:endParaRPr lang="zh-CN" altLang="en-US">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最终利润：</a:t>
            </a:r>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最终利润是通过各项收入减去各项成本和损失得出的。具体来说，成品销售收入、零配件回收收入、拆解收益等构成了总收入，而检测成本、装配成本、拆解成本、替换损失等构成了总成本。利润的计算公式为：</a:t>
            </a:r>
            <a:endParaRPr lang="zh-CN" altLang="en-US">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a:p>
            <a:pPr algn="ctr"/>
            <a:r>
              <a:rPr lang="zh-CN" altLang="en-US" b="1">
                <a:latin typeface="微软雅黑" panose="020B0503020204020204" charset="-122"/>
                <a:ea typeface="微软雅黑" panose="020B0503020204020204" charset="-122"/>
                <a:cs typeface="微软雅黑" panose="020B0503020204020204" charset="-122"/>
              </a:rPr>
              <a:t>Profit</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Total Revenue</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Total Cost</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Replacement Loss</a:t>
            </a:r>
            <a:endParaRPr lang="zh-CN" altLang="en-US" b="1">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680342"/>
            <a:chOff x="335361" y="116633"/>
            <a:chExt cx="11521279" cy="668034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方法</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设计</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圆角矩形 2"/>
          <p:cNvSpPr/>
          <p:nvPr/>
        </p:nvSpPr>
        <p:spPr>
          <a:xfrm>
            <a:off x="8375541" y="2867359"/>
            <a:ext cx="3264363" cy="3167591"/>
          </a:xfrm>
          <a:prstGeom prst="roundRect">
            <a:avLst/>
          </a:prstGeom>
          <a:noFill/>
          <a:ln w="127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16" name="组合 15"/>
          <p:cNvGrpSpPr/>
          <p:nvPr/>
        </p:nvGrpSpPr>
        <p:grpSpPr>
          <a:xfrm>
            <a:off x="9015229" y="1358183"/>
            <a:ext cx="1929923" cy="1929923"/>
            <a:chOff x="304800" y="673100"/>
            <a:chExt cx="4000500" cy="4000500"/>
          </a:xfrm>
          <a:solidFill>
            <a:srgbClr val="961318"/>
          </a:solidFill>
          <a:effectLst/>
        </p:grpSpPr>
        <p:sp>
          <p:nvSpPr>
            <p:cNvPr id="17" name="同心圆 4"/>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18" name="椭圆 17"/>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19" name="椭圆 18"/>
          <p:cNvSpPr/>
          <p:nvPr/>
        </p:nvSpPr>
        <p:spPr>
          <a:xfrm>
            <a:off x="10487345" y="2618485"/>
            <a:ext cx="497747" cy="497747"/>
          </a:xfrm>
          <a:prstGeom prst="ellipse">
            <a:avLst/>
          </a:prstGeom>
          <a:solidFill>
            <a:srgbClr val="961318"/>
          </a:solidFill>
          <a:ln w="25400" cap="flat" cmpd="sng" algn="ctr">
            <a:solidFill>
              <a:sysClr val="window" lastClr="FFFFFF"/>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3</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 name="矩形 19"/>
          <p:cNvSpPr/>
          <p:nvPr/>
        </p:nvSpPr>
        <p:spPr>
          <a:xfrm>
            <a:off x="9122365" y="2103496"/>
            <a:ext cx="1706880" cy="460375"/>
          </a:xfrm>
          <a:prstGeom prst="rect">
            <a:avLst/>
          </a:prstGeom>
        </p:spPr>
        <p:txBody>
          <a:bodyPr wrap="none">
            <a:spAutoFit/>
          </a:bodyPr>
          <a:lstStyle/>
          <a:p>
            <a:pPr defTabSz="1219200"/>
            <a:r>
              <a:rPr lang="zh-CN" altLang="en-US" sz="2400" b="1" dirty="0">
                <a:solidFill>
                  <a:prstClr val="white"/>
                </a:solidFill>
                <a:latin typeface="微软雅黑" panose="020B0503020204020204" charset="-122"/>
                <a:ea typeface="微软雅黑" panose="020B0503020204020204" charset="-122"/>
              </a:rPr>
              <a:t>模拟与</a:t>
            </a:r>
            <a:r>
              <a:rPr lang="zh-CN" altLang="en-US" sz="2400" b="1" dirty="0">
                <a:solidFill>
                  <a:prstClr val="white"/>
                </a:solidFill>
                <a:latin typeface="微软雅黑" panose="020B0503020204020204" charset="-122"/>
                <a:ea typeface="微软雅黑" panose="020B0503020204020204" charset="-122"/>
              </a:rPr>
              <a:t>反馈</a:t>
            </a:r>
            <a:endParaRPr lang="zh-CN" altLang="en-US" sz="2400" b="1" dirty="0">
              <a:solidFill>
                <a:prstClr val="white"/>
              </a:solidFill>
              <a:latin typeface="微软雅黑" panose="020B0503020204020204" charset="-122"/>
              <a:ea typeface="微软雅黑" panose="020B0503020204020204" charset="-122"/>
            </a:endParaRPr>
          </a:p>
        </p:txBody>
      </p:sp>
      <p:sp>
        <p:nvSpPr>
          <p:cNvPr id="21" name="圆角矩形 8"/>
          <p:cNvSpPr/>
          <p:nvPr/>
        </p:nvSpPr>
        <p:spPr>
          <a:xfrm>
            <a:off x="4461851" y="2850848"/>
            <a:ext cx="3264363" cy="3167591"/>
          </a:xfrm>
          <a:prstGeom prst="roundRect">
            <a:avLst/>
          </a:prstGeom>
          <a:noFill/>
          <a:ln w="127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22" name="圆角矩形 9"/>
          <p:cNvSpPr/>
          <p:nvPr/>
        </p:nvSpPr>
        <p:spPr>
          <a:xfrm>
            <a:off x="545154" y="2873707"/>
            <a:ext cx="3264363" cy="3167591"/>
          </a:xfrm>
          <a:prstGeom prst="roundRect">
            <a:avLst/>
          </a:prstGeom>
          <a:noFill/>
          <a:ln w="127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23" name="组合 22"/>
          <p:cNvGrpSpPr/>
          <p:nvPr/>
        </p:nvGrpSpPr>
        <p:grpSpPr>
          <a:xfrm>
            <a:off x="5129071" y="1400218"/>
            <a:ext cx="1929923" cy="1929923"/>
            <a:chOff x="304800" y="673100"/>
            <a:chExt cx="4000500" cy="4000500"/>
          </a:xfrm>
          <a:solidFill>
            <a:srgbClr val="961318"/>
          </a:solidFill>
          <a:effectLst/>
        </p:grpSpPr>
        <p:sp>
          <p:nvSpPr>
            <p:cNvPr id="24" name="同心圆 12"/>
            <p:cNvSpPr/>
            <p:nvPr/>
          </p:nvSpPr>
          <p:spPr>
            <a:xfrm>
              <a:off x="304800" y="673100"/>
              <a:ext cx="4000500" cy="4000500"/>
            </a:xfrm>
            <a:prstGeom prst="donut">
              <a:avLst>
                <a:gd name="adj" fmla="val 4879"/>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25" name="椭圆 24"/>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grpSp>
        <p:nvGrpSpPr>
          <p:cNvPr id="26" name="组合 25"/>
          <p:cNvGrpSpPr/>
          <p:nvPr/>
        </p:nvGrpSpPr>
        <p:grpSpPr>
          <a:xfrm>
            <a:off x="1212374" y="1364533"/>
            <a:ext cx="1929923" cy="1929923"/>
            <a:chOff x="304800" y="673100"/>
            <a:chExt cx="4000500" cy="4000500"/>
          </a:xfrm>
          <a:solidFill>
            <a:srgbClr val="961318"/>
          </a:solidFill>
          <a:effectLst/>
        </p:grpSpPr>
        <p:sp>
          <p:nvSpPr>
            <p:cNvPr id="27" name="同心圆 15"/>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28" name="椭圆 27"/>
            <p:cNvSpPr/>
            <p:nvPr/>
          </p:nvSpPr>
          <p:spPr>
            <a:xfrm>
              <a:off x="392112" y="760412"/>
              <a:ext cx="3825874" cy="3825874"/>
            </a:xfrm>
            <a:prstGeom prst="ellipse">
              <a:avLst/>
            </a:prstGeom>
            <a:grp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29" name="椭圆 28"/>
          <p:cNvSpPr/>
          <p:nvPr/>
        </p:nvSpPr>
        <p:spPr>
          <a:xfrm>
            <a:off x="6672064"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2</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0" name="椭圆 29"/>
          <p:cNvSpPr/>
          <p:nvPr/>
        </p:nvSpPr>
        <p:spPr>
          <a:xfrm>
            <a:off x="2758254" y="2624835"/>
            <a:ext cx="497747" cy="497747"/>
          </a:xfrm>
          <a:prstGeom prst="ellipse">
            <a:avLst/>
          </a:prstGeom>
          <a:solidFill>
            <a:srgbClr val="961318"/>
          </a:solidFill>
          <a:ln w="25400" cap="flat" cmpd="sng" algn="ctr">
            <a:solidFill>
              <a:sysClr val="window" lastClr="FFFFFF"/>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1</a:t>
            </a:r>
            <a:endPar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1" name="矩形 30"/>
          <p:cNvSpPr/>
          <p:nvPr/>
        </p:nvSpPr>
        <p:spPr>
          <a:xfrm>
            <a:off x="5389658" y="2103496"/>
            <a:ext cx="1402080" cy="460375"/>
          </a:xfrm>
          <a:prstGeom prst="rect">
            <a:avLst/>
          </a:prstGeom>
        </p:spPr>
        <p:txBody>
          <a:bodyPr wrap="none">
            <a:spAutoFit/>
          </a:bodyPr>
          <a:lstStyle/>
          <a:p>
            <a:pPr defTabSz="1219200"/>
            <a:r>
              <a:rPr lang="zh-CN" altLang="en-US" sz="2400" b="1" dirty="0">
                <a:solidFill>
                  <a:prstClr val="white"/>
                </a:solidFill>
                <a:latin typeface="微软雅黑" panose="020B0503020204020204" charset="-122"/>
                <a:ea typeface="微软雅黑" panose="020B0503020204020204" charset="-122"/>
              </a:rPr>
              <a:t>优化算法</a:t>
            </a:r>
            <a:endParaRPr lang="zh-CN" altLang="en-US" sz="2400" b="1" dirty="0">
              <a:solidFill>
                <a:prstClr val="white"/>
              </a:solidFill>
              <a:latin typeface="微软雅黑" panose="020B0503020204020204" charset="-122"/>
              <a:ea typeface="微软雅黑" panose="020B0503020204020204" charset="-122"/>
            </a:endParaRPr>
          </a:p>
        </p:txBody>
      </p:sp>
      <p:sp>
        <p:nvSpPr>
          <p:cNvPr id="32" name="矩形 31"/>
          <p:cNvSpPr/>
          <p:nvPr/>
        </p:nvSpPr>
        <p:spPr>
          <a:xfrm>
            <a:off x="1475502" y="2126356"/>
            <a:ext cx="1402080" cy="460375"/>
          </a:xfrm>
          <a:prstGeom prst="rect">
            <a:avLst/>
          </a:prstGeom>
        </p:spPr>
        <p:txBody>
          <a:bodyPr wrap="none">
            <a:spAutoFit/>
          </a:bodyPr>
          <a:lstStyle/>
          <a:p>
            <a:pPr defTabSz="1219200"/>
            <a:r>
              <a:rPr lang="zh-CN" altLang="en-US" sz="2400" b="1" dirty="0">
                <a:solidFill>
                  <a:prstClr val="white"/>
                </a:solidFill>
                <a:latin typeface="微软雅黑" panose="020B0503020204020204" charset="-122"/>
                <a:ea typeface="微软雅黑" panose="020B0503020204020204" charset="-122"/>
              </a:rPr>
              <a:t>利润</a:t>
            </a:r>
            <a:r>
              <a:rPr lang="zh-CN" altLang="en-US" sz="2400" b="1" dirty="0">
                <a:solidFill>
                  <a:prstClr val="white"/>
                </a:solidFill>
                <a:latin typeface="微软雅黑" panose="020B0503020204020204" charset="-122"/>
                <a:ea typeface="微软雅黑" panose="020B0503020204020204" charset="-122"/>
              </a:rPr>
              <a:t>计算</a:t>
            </a:r>
            <a:endParaRPr lang="zh-CN" altLang="en-US" sz="2400" b="1" dirty="0">
              <a:solidFill>
                <a:prstClr val="white"/>
              </a:solidFill>
              <a:latin typeface="微软雅黑" panose="020B0503020204020204" charset="-122"/>
              <a:ea typeface="微软雅黑" panose="020B0503020204020204" charset="-122"/>
            </a:endParaRPr>
          </a:p>
        </p:txBody>
      </p:sp>
      <p:sp>
        <p:nvSpPr>
          <p:cNvPr id="33" name="TextBox 21"/>
          <p:cNvSpPr txBox="1"/>
          <p:nvPr/>
        </p:nvSpPr>
        <p:spPr>
          <a:xfrm>
            <a:off x="8714404" y="3346382"/>
            <a:ext cx="2592288" cy="1539240"/>
          </a:xfrm>
          <a:prstGeom prst="rect">
            <a:avLst/>
          </a:prstGeom>
          <a:noFill/>
        </p:spPr>
        <p:txBody>
          <a:bodyPr wrap="square" lIns="0" tIns="0" rIns="0" bIns="0" rtlCol="0">
            <a:spAutoFit/>
          </a:bodyPr>
          <a:lstStyle/>
          <a:p>
            <a:pPr defTabSz="1219200">
              <a:lnSpc>
                <a:spcPct val="130000"/>
              </a:lnSpc>
            </a:pPr>
            <a:endParaRPr lang="zh-CN" altLang="en-US" sz="1100" dirty="0">
              <a:solidFill>
                <a:prstClr val="black">
                  <a:lumMod val="75000"/>
                  <a:lumOff val="25000"/>
                </a:prstClr>
              </a:solidFill>
              <a:latin typeface="微软雅黑" panose="020B0503020204020204" charset="-122"/>
              <a:ea typeface="微软雅黑" panose="020B0503020204020204" charset="-122"/>
            </a:endParaRPr>
          </a:p>
          <a:p>
            <a:pPr defTabSz="1219200">
              <a:lnSpc>
                <a:spcPct val="130000"/>
              </a:lnSpc>
            </a:pPr>
            <a:endParaRPr lang="zh-CN" altLang="en-US" sz="1100" dirty="0">
              <a:solidFill>
                <a:prstClr val="black">
                  <a:lumMod val="75000"/>
                  <a:lumOff val="25000"/>
                </a:prstClr>
              </a:solidFill>
              <a:latin typeface="微软雅黑" panose="020B0503020204020204" charset="-122"/>
              <a:ea typeface="微软雅黑" panose="020B0503020204020204" charset="-122"/>
            </a:endParaRPr>
          </a:p>
          <a:p>
            <a:pPr defTabSz="1219200">
              <a:lnSpc>
                <a:spcPct val="130000"/>
              </a:lnSpc>
            </a:pPr>
            <a:r>
              <a:rPr lang="zh-CN" altLang="en-US" sz="1100" b="1" dirty="0">
                <a:solidFill>
                  <a:prstClr val="black">
                    <a:lumMod val="75000"/>
                    <a:lumOff val="25000"/>
                  </a:prstClr>
                </a:solidFill>
                <a:latin typeface="微软雅黑" panose="020B0503020204020204" charset="-122"/>
                <a:ea typeface="微软雅黑" panose="020B0503020204020204" charset="-122"/>
              </a:rPr>
              <a:t>如何影响决策：</a:t>
            </a:r>
            <a:endParaRPr lang="zh-CN" altLang="en-US" sz="1100" b="1" dirty="0">
              <a:solidFill>
                <a:prstClr val="black">
                  <a:lumMod val="75000"/>
                  <a:lumOff val="25000"/>
                </a:prstClr>
              </a:solidFill>
              <a:latin typeface="微软雅黑" panose="020B0503020204020204" charset="-122"/>
              <a:ea typeface="微软雅黑" panose="020B0503020204020204" charset="-122"/>
            </a:endParaRPr>
          </a:p>
          <a:p>
            <a:pPr defTabSz="1219200">
              <a:lnSpc>
                <a:spcPct val="130000"/>
              </a:lnSpc>
            </a:pPr>
            <a:r>
              <a:rPr lang="zh-CN" altLang="en-US" sz="1100" dirty="0">
                <a:solidFill>
                  <a:prstClr val="black">
                    <a:lumMod val="75000"/>
                    <a:lumOff val="25000"/>
                  </a:prstClr>
                </a:solidFill>
                <a:latin typeface="微软雅黑" panose="020B0503020204020204" charset="-122"/>
                <a:ea typeface="微软雅黑" panose="020B0503020204020204" charset="-122"/>
              </a:rPr>
              <a:t>反馈机制会使生产规模根据当前库存量进行动态调整，这影响到每轮生产的决策（如是否检测、是否拆解等），从而影响后续生产的效率和利润。       </a:t>
            </a:r>
            <a:endParaRPr lang="zh-CN" altLang="en-US" sz="1100" b="1" dirty="0">
              <a:solidFill>
                <a:prstClr val="black">
                  <a:lumMod val="75000"/>
                  <a:lumOff val="25000"/>
                </a:prstClr>
              </a:solidFill>
              <a:latin typeface="微软雅黑" panose="020B0503020204020204" charset="-122"/>
              <a:ea typeface="微软雅黑" panose="020B0503020204020204" charset="-122"/>
            </a:endParaRPr>
          </a:p>
        </p:txBody>
      </p:sp>
      <p:sp>
        <p:nvSpPr>
          <p:cNvPr id="34" name="TextBox 22"/>
          <p:cNvSpPr txBox="1"/>
          <p:nvPr/>
        </p:nvSpPr>
        <p:spPr>
          <a:xfrm>
            <a:off x="4797888" y="3570631"/>
            <a:ext cx="2592288" cy="1557655"/>
          </a:xfrm>
          <a:prstGeom prst="rect">
            <a:avLst/>
          </a:prstGeom>
          <a:noFill/>
        </p:spPr>
        <p:txBody>
          <a:bodyPr wrap="square" lIns="0" tIns="0" rIns="0" bIns="0" rtlCol="0">
            <a:spAutoFit/>
          </a:bodyPr>
          <a:lstStyle/>
          <a:p>
            <a:pPr indent="0" defTabSz="1219200">
              <a:lnSpc>
                <a:spcPct val="130000"/>
              </a:lnSpc>
            </a:pPr>
            <a:r>
              <a:rPr lang="en-US" altLang="zh-CN" sz="1300" dirty="0">
                <a:solidFill>
                  <a:prstClr val="black">
                    <a:lumMod val="75000"/>
                    <a:lumOff val="25000"/>
                  </a:prstClr>
                </a:solidFill>
                <a:latin typeface="微软雅黑" panose="020B0503020204020204" charset="-122"/>
                <a:ea typeface="微软雅黑" panose="020B0503020204020204" charset="-122"/>
              </a:rPr>
              <a:t>       </a:t>
            </a:r>
            <a:r>
              <a:rPr lang="zh-CN" altLang="en-US" sz="1300" dirty="0">
                <a:solidFill>
                  <a:prstClr val="black">
                    <a:lumMod val="75000"/>
                    <a:lumOff val="25000"/>
                  </a:prstClr>
                </a:solidFill>
                <a:latin typeface="微软雅黑" panose="020B0503020204020204" charset="-122"/>
                <a:ea typeface="微软雅黑" panose="020B0503020204020204" charset="-122"/>
              </a:rPr>
              <a:t>遗传算法通过模拟自然选择和基因遗传过程，能够在大规模的决策空间中找到全局最优解。通过多次迭代，遗传算法能够优化零配件的检测策略、拆解策略等，最终找到能最大化利润的策略组合。</a:t>
            </a:r>
            <a:endParaRPr lang="zh-CN" altLang="en-US" sz="1300" b="1" dirty="0">
              <a:solidFill>
                <a:prstClr val="black">
                  <a:lumMod val="75000"/>
                  <a:lumOff val="25000"/>
                </a:prstClr>
              </a:solidFill>
              <a:latin typeface="微软雅黑" panose="020B0503020204020204" charset="-122"/>
              <a:ea typeface="微软雅黑" panose="020B0503020204020204" charset="-122"/>
            </a:endParaRPr>
          </a:p>
        </p:txBody>
      </p:sp>
      <p:sp>
        <p:nvSpPr>
          <p:cNvPr id="35" name="TextBox 23"/>
          <p:cNvSpPr txBox="1"/>
          <p:nvPr/>
        </p:nvSpPr>
        <p:spPr>
          <a:xfrm>
            <a:off x="880557" y="3462959"/>
            <a:ext cx="2592288" cy="2199005"/>
          </a:xfrm>
          <a:prstGeom prst="rect">
            <a:avLst/>
          </a:prstGeom>
          <a:noFill/>
        </p:spPr>
        <p:txBody>
          <a:bodyPr wrap="square" lIns="0" tIns="0" rIns="0" bIns="0" rtlCol="0">
            <a:spAutoFit/>
          </a:bodyPr>
          <a:lstStyle/>
          <a:p>
            <a:pPr defTabSz="1219200">
              <a:lnSpc>
                <a:spcPct val="130000"/>
              </a:lnSpc>
            </a:pPr>
            <a:r>
              <a:rPr lang="zh-CN" altLang="en-US" sz="1100" b="1" dirty="0">
                <a:solidFill>
                  <a:prstClr val="black">
                    <a:lumMod val="75000"/>
                    <a:lumOff val="25000"/>
                  </a:prstClr>
                </a:solidFill>
                <a:latin typeface="微软雅黑" panose="020B0503020204020204" charset="-122"/>
                <a:ea typeface="微软雅黑" panose="020B0503020204020204" charset="-122"/>
              </a:rPr>
              <a:t>检测策略：</a:t>
            </a:r>
            <a:r>
              <a:rPr lang="zh-CN" altLang="en-US" sz="1100" dirty="0">
                <a:solidFill>
                  <a:prstClr val="black">
                    <a:lumMod val="75000"/>
                    <a:lumOff val="25000"/>
                  </a:prstClr>
                </a:solidFill>
                <a:latin typeface="微软雅黑" panose="020B0503020204020204" charset="-122"/>
                <a:ea typeface="微软雅黑" panose="020B0503020204020204" charset="-122"/>
              </a:rPr>
              <a:t>如果选择检测零配件或成品，需要支付检测成本。同时，检测有可能剔除不合格品，减少替换损失。</a:t>
            </a:r>
            <a:endParaRPr lang="zh-CN" altLang="en-US" sz="1100" dirty="0">
              <a:solidFill>
                <a:prstClr val="black">
                  <a:lumMod val="75000"/>
                  <a:lumOff val="25000"/>
                </a:prstClr>
              </a:solidFill>
              <a:latin typeface="微软雅黑" panose="020B0503020204020204" charset="-122"/>
              <a:ea typeface="微软雅黑" panose="020B0503020204020204" charset="-122"/>
            </a:endParaRPr>
          </a:p>
          <a:p>
            <a:pPr defTabSz="1219200">
              <a:lnSpc>
                <a:spcPct val="130000"/>
              </a:lnSpc>
            </a:pPr>
            <a:r>
              <a:rPr lang="zh-CN" altLang="en-US" sz="1100" b="1" dirty="0">
                <a:solidFill>
                  <a:prstClr val="black">
                    <a:lumMod val="75000"/>
                    <a:lumOff val="25000"/>
                  </a:prstClr>
                </a:solidFill>
                <a:latin typeface="微软雅黑" panose="020B0503020204020204" charset="-122"/>
                <a:ea typeface="微软雅黑" panose="020B0503020204020204" charset="-122"/>
              </a:rPr>
              <a:t>拆解策略：</a:t>
            </a:r>
            <a:r>
              <a:rPr lang="zh-CN" altLang="en-US" sz="1100" dirty="0">
                <a:solidFill>
                  <a:prstClr val="black">
                    <a:lumMod val="75000"/>
                    <a:lumOff val="25000"/>
                  </a:prstClr>
                </a:solidFill>
                <a:latin typeface="微软雅黑" panose="020B0503020204020204" charset="-122"/>
                <a:ea typeface="微软雅黑" panose="020B0503020204020204" charset="-122"/>
              </a:rPr>
              <a:t>如果选择拆解不合格成品，可以回收部分零配件，减少后续的采购成本。但是拆解本身会产生额外的拆解费用。</a:t>
            </a:r>
            <a:endParaRPr lang="zh-CN" altLang="en-US" sz="1100" dirty="0">
              <a:solidFill>
                <a:prstClr val="black">
                  <a:lumMod val="75000"/>
                  <a:lumOff val="25000"/>
                </a:prstClr>
              </a:solidFill>
              <a:latin typeface="微软雅黑" panose="020B0503020204020204" charset="-122"/>
              <a:ea typeface="微软雅黑" panose="020B0503020204020204" charset="-122"/>
            </a:endParaRPr>
          </a:p>
          <a:p>
            <a:pPr defTabSz="1219200">
              <a:lnSpc>
                <a:spcPct val="130000"/>
              </a:lnSpc>
            </a:pPr>
            <a:endParaRPr lang="zh-CN" altLang="en-US" sz="1100" dirty="0">
              <a:solidFill>
                <a:prstClr val="black">
                  <a:lumMod val="75000"/>
                  <a:lumOff val="25000"/>
                </a:prstClr>
              </a:solidFill>
              <a:latin typeface="微软雅黑" panose="020B0503020204020204" charset="-122"/>
              <a:ea typeface="微软雅黑" panose="020B0503020204020204" charset="-122"/>
            </a:endParaRPr>
          </a:p>
          <a:p>
            <a:pPr defTabSz="1219200">
              <a:lnSpc>
                <a:spcPct val="130000"/>
              </a:lnSpc>
            </a:pPr>
            <a:r>
              <a:rPr lang="zh-CN" altLang="en-US" sz="1100" dirty="0">
                <a:solidFill>
                  <a:prstClr val="black">
                    <a:lumMod val="75000"/>
                    <a:lumOff val="25000"/>
                  </a:prstClr>
                </a:solidFill>
                <a:latin typeface="微软雅黑" panose="020B0503020204020204" charset="-122"/>
                <a:ea typeface="微软雅黑" panose="020B0503020204020204" charset="-122"/>
              </a:rPr>
              <a:t>通过这些策略决策的组合，最终确定每种策略的成本、收益与利润，并通过优化方法选择最优策略</a:t>
            </a:r>
            <a:endParaRPr lang="zh-CN" altLang="en-US" sz="1100" b="1" dirty="0">
              <a:solidFill>
                <a:prstClr val="black">
                  <a:lumMod val="75000"/>
                  <a:lumOff val="25000"/>
                </a:prstClr>
              </a:solidFill>
              <a:latin typeface="微软雅黑" panose="020B0503020204020204" charset="-122"/>
              <a:ea typeface="微软雅黑" panose="020B0503020204020204" charset="-122"/>
            </a:endParaRPr>
          </a:p>
        </p:txBody>
      </p:sp>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35"/>
          <p:cNvCxnSpPr/>
          <p:nvPr/>
        </p:nvCxnSpPr>
        <p:spPr>
          <a:xfrm>
            <a:off x="5988926" y="1130300"/>
            <a:ext cx="0" cy="5727700"/>
          </a:xfrm>
          <a:prstGeom prst="line">
            <a:avLst/>
          </a:prstGeom>
          <a:noFill/>
          <a:ln w="53975" cap="rnd" cmpd="sng" algn="ctr">
            <a:gradFill>
              <a:gsLst>
                <a:gs pos="3401">
                  <a:srgbClr val="B1B8C2">
                    <a:alpha val="0"/>
                  </a:srgbClr>
                </a:gs>
                <a:gs pos="18000">
                  <a:srgbClr val="B1B8C2">
                    <a:alpha val="42000"/>
                  </a:srgbClr>
                </a:gs>
                <a:gs pos="75500">
                  <a:srgbClr val="98A1AE">
                    <a:alpha val="93000"/>
                  </a:srgbClr>
                </a:gs>
                <a:gs pos="100000">
                  <a:srgbClr val="768394"/>
                </a:gs>
              </a:gsLst>
              <a:lin ang="5400000" scaled="1"/>
            </a:gradFill>
            <a:prstDash val="solid"/>
            <a:round/>
          </a:ln>
          <a:effectLst/>
        </p:spPr>
      </p:cxnSp>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遗传</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算法</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矩形: 圆角 14"/>
          <p:cNvSpPr/>
          <p:nvPr/>
        </p:nvSpPr>
        <p:spPr>
          <a:xfrm>
            <a:off x="6768453" y="1703403"/>
            <a:ext cx="4082426" cy="1330243"/>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b="1" kern="0" dirty="0">
                <a:solidFill>
                  <a:srgbClr val="961318"/>
                </a:solidFill>
                <a:latin typeface="Arial" panose="020B0604020202020204"/>
                <a:ea typeface="微软雅黑" panose="020B0503020204020204" charset="-122"/>
              </a:rPr>
              <a:t>选择：</a:t>
            </a:r>
            <a:endParaRPr b="1" kern="0" dirty="0">
              <a:solidFill>
                <a:srgbClr val="961318"/>
              </a:solidFill>
              <a:latin typeface="Arial" panose="020B0604020202020204"/>
              <a:ea typeface="微软雅黑" panose="020B0503020204020204" charset="-122"/>
            </a:endParaRPr>
          </a:p>
          <a:p>
            <a:pPr algn="just">
              <a:lnSpc>
                <a:spcPct val="120000"/>
              </a:lnSpc>
              <a:defRPr/>
            </a:pPr>
            <a:r>
              <a:rPr lang="zh-CN" altLang="en-US" kern="0" dirty="0">
                <a:solidFill>
                  <a:srgbClr val="768394"/>
                </a:solidFill>
                <a:latin typeface="Arial" panose="020B0604020202020204"/>
                <a:ea typeface="微软雅黑" panose="020B0503020204020204" charset="-122"/>
              </a:rPr>
              <a:t>根据每个个体的适应度（即利润值），选择适应度较高的个体作为父代。</a:t>
            </a:r>
            <a:endParaRPr lang="zh-CN" altLang="en-US" kern="0" dirty="0">
              <a:solidFill>
                <a:srgbClr val="768394"/>
              </a:solidFill>
              <a:latin typeface="Arial" panose="020B0604020202020204"/>
              <a:ea typeface="微软雅黑" panose="020B0503020204020204" charset="-122"/>
            </a:endParaRPr>
          </a:p>
        </p:txBody>
      </p:sp>
      <p:grpSp>
        <p:nvGrpSpPr>
          <p:cNvPr id="16" name="组合 15"/>
          <p:cNvGrpSpPr/>
          <p:nvPr/>
        </p:nvGrpSpPr>
        <p:grpSpPr>
          <a:xfrm>
            <a:off x="5715498" y="2152587"/>
            <a:ext cx="778574" cy="556690"/>
            <a:chOff x="5710581" y="2090180"/>
            <a:chExt cx="778574" cy="556690"/>
          </a:xfrm>
        </p:grpSpPr>
        <p:sp>
          <p:nvSpPr>
            <p:cNvPr id="17" name="îṣḻíḑê"/>
            <p:cNvSpPr/>
            <p:nvPr/>
          </p:nvSpPr>
          <p:spPr>
            <a:xfrm>
              <a:off x="5710581" y="2090180"/>
              <a:ext cx="556690" cy="556690"/>
            </a:xfrm>
            <a:prstGeom prst="ellipse">
              <a:avLst/>
            </a:prstGeom>
            <a:solidFill>
              <a:srgbClr val="961318"/>
            </a:solid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dirty="0">
                <a:solidFill>
                  <a:srgbClr val="FFFFFF"/>
                </a:solidFill>
                <a:latin typeface="Arial" panose="020B0604020202020204"/>
                <a:ea typeface="微软雅黑" panose="020B0503020204020204" charset="-122"/>
                <a:cs typeface="+mn-ea"/>
                <a:sym typeface="+mn-lt"/>
              </a:endParaRPr>
            </a:p>
          </p:txBody>
        </p:sp>
        <p:sp>
          <p:nvSpPr>
            <p:cNvPr id="18" name="íṡľiďè"/>
            <p:cNvSpPr/>
            <p:nvPr/>
          </p:nvSpPr>
          <p:spPr bwMode="auto">
            <a:xfrm>
              <a:off x="6323772" y="2239809"/>
              <a:ext cx="165383" cy="254995"/>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961318"/>
            </a:solidFill>
            <a:ln>
              <a:noFill/>
            </a:ln>
          </p:spPr>
          <p:txBody>
            <a:bodyPr/>
            <a:lstStyle/>
            <a:p>
              <a:pPr>
                <a:defRPr/>
              </a:pPr>
              <a:endParaRPr lang="zh-CN" altLang="en-US" kern="0">
                <a:solidFill>
                  <a:srgbClr val="000000"/>
                </a:solidFill>
                <a:latin typeface="Arial" panose="020B0604020202020204"/>
                <a:ea typeface="微软雅黑" panose="020B0503020204020204" charset="-122"/>
                <a:cs typeface="+mn-ea"/>
                <a:sym typeface="+mn-lt"/>
              </a:endParaRPr>
            </a:p>
          </p:txBody>
        </p:sp>
      </p:grpSp>
      <p:grpSp>
        <p:nvGrpSpPr>
          <p:cNvPr id="20" name="组合 19"/>
          <p:cNvGrpSpPr/>
          <p:nvPr/>
        </p:nvGrpSpPr>
        <p:grpSpPr>
          <a:xfrm>
            <a:off x="5601123" y="3956674"/>
            <a:ext cx="1052970" cy="785442"/>
            <a:chOff x="5596206" y="3988707"/>
            <a:chExt cx="1052970" cy="785442"/>
          </a:xfrm>
        </p:grpSpPr>
        <p:sp>
          <p:nvSpPr>
            <p:cNvPr id="21" name="ïŝľíḑè"/>
            <p:cNvSpPr/>
            <p:nvPr/>
          </p:nvSpPr>
          <p:spPr bwMode="auto">
            <a:xfrm>
              <a:off x="6415835" y="4201539"/>
              <a:ext cx="233341" cy="359776"/>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961318"/>
            </a:solidFill>
            <a:ln w="12700" cap="flat" cmpd="sng" algn="ctr">
              <a:noFill/>
              <a:prstDash val="solid"/>
              <a:miter lim="800000"/>
            </a:ln>
            <a:effectLst/>
          </p:spPr>
          <p:txBody>
            <a:bodyPr/>
            <a:lstStyle/>
            <a:p>
              <a:pP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22" name="iśḷíḑe"/>
            <p:cNvSpPr/>
            <p:nvPr/>
          </p:nvSpPr>
          <p:spPr>
            <a:xfrm>
              <a:off x="5596206" y="3988707"/>
              <a:ext cx="785441" cy="785442"/>
            </a:xfrm>
            <a:prstGeom prst="ellipse">
              <a:avLst/>
            </a:prstGeom>
            <a:solidFill>
              <a:srgbClr val="961318"/>
            </a:solid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dirty="0">
                <a:solidFill>
                  <a:srgbClr val="FFFFFF"/>
                </a:solidFill>
                <a:latin typeface="Arial" panose="020B0604020202020204"/>
                <a:ea typeface="微软雅黑" panose="020B0503020204020204" charset="-122"/>
                <a:cs typeface="+mn-ea"/>
                <a:sym typeface="+mn-lt"/>
              </a:endParaRPr>
            </a:p>
          </p:txBody>
        </p:sp>
      </p:grpSp>
      <p:grpSp>
        <p:nvGrpSpPr>
          <p:cNvPr id="24" name="组合 23"/>
          <p:cNvGrpSpPr/>
          <p:nvPr/>
        </p:nvGrpSpPr>
        <p:grpSpPr>
          <a:xfrm>
            <a:off x="5398887" y="3000863"/>
            <a:ext cx="927069" cy="664225"/>
            <a:chOff x="5393970" y="3032059"/>
            <a:chExt cx="927069" cy="664225"/>
          </a:xfrm>
        </p:grpSpPr>
        <p:sp>
          <p:nvSpPr>
            <p:cNvPr id="25" name="îṣḻíḑê"/>
            <p:cNvSpPr/>
            <p:nvPr/>
          </p:nvSpPr>
          <p:spPr>
            <a:xfrm flipH="1">
              <a:off x="5656814" y="3032059"/>
              <a:ext cx="664225" cy="664225"/>
            </a:xfrm>
            <a:prstGeom prst="ellipse">
              <a:avLst/>
            </a:prstGeom>
            <a:solidFill>
              <a:srgbClr val="961318">
                <a:alpha val="90000"/>
              </a:srgbClr>
            </a:solid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a:solidFill>
                  <a:srgbClr val="FFFFFF"/>
                </a:solidFill>
                <a:latin typeface="Arial" panose="020B0604020202020204"/>
                <a:ea typeface="微软雅黑" panose="020B0503020204020204" charset="-122"/>
                <a:cs typeface="+mn-ea"/>
                <a:sym typeface="+mn-lt"/>
              </a:endParaRPr>
            </a:p>
          </p:txBody>
        </p:sp>
        <p:sp>
          <p:nvSpPr>
            <p:cNvPr id="26" name="íṡľiďè"/>
            <p:cNvSpPr/>
            <p:nvPr/>
          </p:nvSpPr>
          <p:spPr bwMode="auto">
            <a:xfrm flipH="1">
              <a:off x="5393970" y="3223557"/>
              <a:ext cx="197330" cy="304252"/>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961318">
                <a:alpha val="90000"/>
              </a:srgbClr>
            </a:solidFill>
            <a:ln>
              <a:noFill/>
            </a:ln>
          </p:spPr>
          <p:txBody>
            <a:bodyPr/>
            <a:lstStyle/>
            <a:p>
              <a:pPr>
                <a:defRPr/>
              </a:pPr>
              <a:endParaRPr lang="zh-CN" altLang="en-US" kern="0">
                <a:solidFill>
                  <a:srgbClr val="000000"/>
                </a:solidFill>
                <a:latin typeface="Arial" panose="020B0604020202020204"/>
                <a:ea typeface="微软雅黑" panose="020B0503020204020204" charset="-122"/>
                <a:cs typeface="+mn-ea"/>
                <a:sym typeface="+mn-lt"/>
              </a:endParaRPr>
            </a:p>
          </p:txBody>
        </p:sp>
      </p:grpSp>
      <p:sp>
        <p:nvSpPr>
          <p:cNvPr id="29" name="矩形: 圆角 28"/>
          <p:cNvSpPr/>
          <p:nvPr/>
        </p:nvSpPr>
        <p:spPr>
          <a:xfrm>
            <a:off x="6969101" y="3704822"/>
            <a:ext cx="4082426" cy="1330243"/>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b="1" kern="0" dirty="0">
                <a:solidFill>
                  <a:srgbClr val="961318"/>
                </a:solidFill>
                <a:latin typeface="Arial" panose="020B0604020202020204"/>
                <a:ea typeface="微软雅黑" panose="020B0503020204020204" charset="-122"/>
              </a:rPr>
              <a:t>变异：</a:t>
            </a:r>
            <a:r>
              <a:rPr lang="zh-CN" altLang="en-US" kern="0" dirty="0">
                <a:solidFill>
                  <a:srgbClr val="768394"/>
                </a:solidFill>
                <a:latin typeface="Arial" panose="020B0604020202020204"/>
                <a:ea typeface="微软雅黑" panose="020B0503020204020204" charset="-122"/>
              </a:rPr>
              <a:t>在新生成的个体中随机变异一些基因（即决策变量），以避免局部最优解的陷阱。</a:t>
            </a:r>
            <a:endParaRPr lang="zh-CN" altLang="en-US" kern="0" dirty="0">
              <a:solidFill>
                <a:srgbClr val="768394"/>
              </a:solidFill>
              <a:latin typeface="Arial" panose="020B0604020202020204"/>
              <a:ea typeface="微软雅黑" panose="020B0503020204020204" charset="-122"/>
            </a:endParaRPr>
          </a:p>
        </p:txBody>
      </p:sp>
      <p:sp>
        <p:nvSpPr>
          <p:cNvPr id="30" name="矩形: 圆角 29"/>
          <p:cNvSpPr/>
          <p:nvPr/>
        </p:nvSpPr>
        <p:spPr>
          <a:xfrm>
            <a:off x="1140460" y="2626360"/>
            <a:ext cx="4082415" cy="1383665"/>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sz="1600" b="1" kern="0" dirty="0">
                <a:solidFill>
                  <a:srgbClr val="961318"/>
                </a:solidFill>
                <a:latin typeface="Arial" panose="020B0604020202020204"/>
                <a:ea typeface="微软雅黑" panose="020B0503020204020204" charset="-122"/>
              </a:rPr>
              <a:t>交叉：</a:t>
            </a:r>
            <a:r>
              <a:rPr lang="zh-CN" altLang="en-US" sz="1600" kern="0" dirty="0">
                <a:solidFill>
                  <a:srgbClr val="768394"/>
                </a:solidFill>
                <a:latin typeface="Arial" panose="020B0604020202020204"/>
                <a:ea typeface="微软雅黑" panose="020B0503020204020204" charset="-122"/>
              </a:rPr>
              <a:t>选择两个父代个体，通过交叉操作生成新个体（子代）。交叉过程会将父代的部分基因（即策略决策）交换，产生新的组合。</a:t>
            </a:r>
            <a:endParaRPr lang="zh-CN" altLang="en-US" sz="1600" kern="0" dirty="0">
              <a:solidFill>
                <a:srgbClr val="768394"/>
              </a:solidFill>
              <a:latin typeface="Arial" panose="020B0604020202020204"/>
              <a:ea typeface="微软雅黑" panose="020B0503020204020204" charset="-122"/>
            </a:endParaRPr>
          </a:p>
        </p:txBody>
      </p:sp>
      <p:grpSp>
        <p:nvGrpSpPr>
          <p:cNvPr id="31" name="组合 30"/>
          <p:cNvGrpSpPr/>
          <p:nvPr/>
        </p:nvGrpSpPr>
        <p:grpSpPr>
          <a:xfrm>
            <a:off x="5186381" y="5033703"/>
            <a:ext cx="1273305" cy="931688"/>
            <a:chOff x="5181464" y="4971296"/>
            <a:chExt cx="1273305" cy="931688"/>
          </a:xfrm>
          <a:solidFill>
            <a:srgbClr val="0C49B7">
              <a:alpha val="90000"/>
            </a:srgbClr>
          </a:solidFill>
        </p:grpSpPr>
        <p:sp>
          <p:nvSpPr>
            <p:cNvPr id="32" name="îṣḻíḑê"/>
            <p:cNvSpPr/>
            <p:nvPr/>
          </p:nvSpPr>
          <p:spPr>
            <a:xfrm flipH="1">
              <a:off x="5523083" y="4971296"/>
              <a:ext cx="931686" cy="931688"/>
            </a:xfrm>
            <a:prstGeom prst="ellipse">
              <a:avLst/>
            </a:prstGeom>
            <a:solidFill>
              <a:srgbClr val="961318"/>
            </a:solid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a:solidFill>
                  <a:srgbClr val="FFFFFF"/>
                </a:solidFill>
                <a:latin typeface="Arial" panose="020B0604020202020204"/>
                <a:ea typeface="微软雅黑" panose="020B0503020204020204" charset="-122"/>
                <a:cs typeface="+mn-ea"/>
                <a:sym typeface="+mn-lt"/>
              </a:endParaRPr>
            </a:p>
          </p:txBody>
        </p:sp>
        <p:sp>
          <p:nvSpPr>
            <p:cNvPr id="33" name="íṡľiďè"/>
            <p:cNvSpPr/>
            <p:nvPr/>
          </p:nvSpPr>
          <p:spPr bwMode="auto">
            <a:xfrm flipH="1">
              <a:off x="5181464" y="5239904"/>
              <a:ext cx="276788" cy="426765"/>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961318"/>
            </a:solidFill>
            <a:ln>
              <a:noFill/>
            </a:ln>
          </p:spPr>
          <p:txBody>
            <a:bodyPr/>
            <a:lstStyle/>
            <a:p>
              <a:pPr>
                <a:defRPr/>
              </a:pPr>
              <a:endParaRPr lang="zh-CN" altLang="en-US" kern="0">
                <a:solidFill>
                  <a:srgbClr val="000000"/>
                </a:solidFill>
                <a:latin typeface="Arial" panose="020B0604020202020204"/>
                <a:ea typeface="微软雅黑" panose="020B0503020204020204" charset="-122"/>
                <a:cs typeface="+mn-ea"/>
                <a:sym typeface="+mn-lt"/>
              </a:endParaRPr>
            </a:p>
          </p:txBody>
        </p:sp>
      </p:grpSp>
      <p:sp>
        <p:nvSpPr>
          <p:cNvPr id="35" name="矩形: 圆角 34"/>
          <p:cNvSpPr/>
          <p:nvPr/>
        </p:nvSpPr>
        <p:spPr>
          <a:xfrm>
            <a:off x="940435" y="4742180"/>
            <a:ext cx="4082415" cy="1223645"/>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b="1" kern="0" dirty="0">
                <a:solidFill>
                  <a:srgbClr val="961318"/>
                </a:solidFill>
                <a:latin typeface="Arial" panose="020B0604020202020204"/>
                <a:ea typeface="微软雅黑" panose="020B0503020204020204" charset="-122"/>
              </a:rPr>
              <a:t>迭代优化：</a:t>
            </a:r>
            <a:r>
              <a:rPr lang="zh-CN" altLang="en-US" kern="0" dirty="0">
                <a:solidFill>
                  <a:srgbClr val="768394"/>
                </a:solidFill>
                <a:latin typeface="Arial" panose="020B0604020202020204"/>
                <a:ea typeface="微软雅黑" panose="020B0503020204020204" charset="-122"/>
              </a:rPr>
              <a:t>通过多代的演化，遗传算法逐步逼近最优解。每一代中最优策略逐渐向最优解收敛。</a:t>
            </a:r>
            <a:endParaRPr lang="zh-CN" altLang="en-US" kern="0" dirty="0">
              <a:solidFill>
                <a:srgbClr val="768394"/>
              </a:solidFill>
              <a:latin typeface="Arial" panose="020B0604020202020204"/>
              <a:ea typeface="微软雅黑" panose="020B0503020204020204" charset="-122"/>
            </a:endParaRPr>
          </a:p>
        </p:txBody>
      </p:sp>
      <p:grpSp>
        <p:nvGrpSpPr>
          <p:cNvPr id="7" name="组合 6"/>
          <p:cNvGrpSpPr/>
          <p:nvPr/>
        </p:nvGrpSpPr>
        <p:grpSpPr>
          <a:xfrm rot="10800000">
            <a:off x="5631180" y="1510665"/>
            <a:ext cx="556260" cy="397510"/>
            <a:chOff x="5710581" y="2090180"/>
            <a:chExt cx="778574" cy="556690"/>
          </a:xfrm>
        </p:grpSpPr>
        <p:sp>
          <p:nvSpPr>
            <p:cNvPr id="10" name="îṣḻíḑê"/>
            <p:cNvSpPr/>
            <p:nvPr/>
          </p:nvSpPr>
          <p:spPr>
            <a:xfrm>
              <a:off x="5710581" y="2090180"/>
              <a:ext cx="556690" cy="556690"/>
            </a:xfrm>
            <a:prstGeom prst="ellipse">
              <a:avLst/>
            </a:prstGeom>
            <a:solidFill>
              <a:srgbClr val="961318"/>
            </a:solidFill>
            <a:ln w="12700" cap="flat" cmpd="sng" algn="ctr">
              <a:noFill/>
              <a:prstDash val="solid"/>
              <a:miter lim="800000"/>
            </a:ln>
            <a:effectLst/>
          </p:spPr>
          <p:txBody>
            <a:bodyPr wrap="square" lIns="91440" tIns="45720" rIns="91440" bIns="45720" rtlCol="0" anchor="ctr">
              <a:normAutofit fontScale="6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dirty="0">
                <a:solidFill>
                  <a:srgbClr val="FFFFFF"/>
                </a:solidFill>
                <a:latin typeface="Arial" panose="020B0604020202020204"/>
                <a:ea typeface="微软雅黑" panose="020B0503020204020204" charset="-122"/>
                <a:cs typeface="+mn-ea"/>
                <a:sym typeface="+mn-lt"/>
              </a:endParaRPr>
            </a:p>
          </p:txBody>
        </p:sp>
        <p:sp>
          <p:nvSpPr>
            <p:cNvPr id="11" name="íṡľiďè"/>
            <p:cNvSpPr/>
            <p:nvPr/>
          </p:nvSpPr>
          <p:spPr bwMode="auto">
            <a:xfrm>
              <a:off x="6323772" y="2239809"/>
              <a:ext cx="165383" cy="254995"/>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961318"/>
            </a:solidFill>
            <a:ln>
              <a:noFill/>
            </a:ln>
          </p:spPr>
          <p:txBody>
            <a:bodyPr/>
            <a:lstStyle/>
            <a:p>
              <a:pPr>
                <a:defRPr/>
              </a:pPr>
              <a:endParaRPr lang="zh-CN" altLang="en-US" kern="0">
                <a:solidFill>
                  <a:srgbClr val="000000"/>
                </a:solidFill>
                <a:latin typeface="Arial" panose="020B0604020202020204"/>
                <a:ea typeface="微软雅黑" panose="020B0503020204020204" charset="-122"/>
                <a:cs typeface="+mn-ea"/>
                <a:sym typeface="+mn-lt"/>
              </a:endParaRPr>
            </a:p>
          </p:txBody>
        </p:sp>
      </p:grpSp>
      <p:sp>
        <p:nvSpPr>
          <p:cNvPr id="12" name="矩形: 圆角 14"/>
          <p:cNvSpPr/>
          <p:nvPr/>
        </p:nvSpPr>
        <p:spPr>
          <a:xfrm>
            <a:off x="1094105" y="1042035"/>
            <a:ext cx="4082415" cy="1415415"/>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p>
            <a:pPr algn="l">
              <a:lnSpc>
                <a:spcPct val="120000"/>
              </a:lnSpc>
              <a:defRPr/>
            </a:pPr>
            <a:r>
              <a:rPr sz="1600" b="1" kern="0" dirty="0">
                <a:solidFill>
                  <a:srgbClr val="961318"/>
                </a:solidFill>
                <a:latin typeface="Arial" panose="020B0604020202020204"/>
                <a:ea typeface="微软雅黑" panose="020B0503020204020204" charset="-122"/>
              </a:rPr>
              <a:t>初始化种群</a:t>
            </a:r>
            <a:r>
              <a:rPr lang="en-US" sz="1600" b="1" kern="0" dirty="0">
                <a:solidFill>
                  <a:srgbClr val="961318"/>
                </a:solidFill>
                <a:latin typeface="Arial" panose="020B0604020202020204"/>
                <a:ea typeface="微软雅黑" panose="020B0503020204020204" charset="-122"/>
              </a:rPr>
              <a:t>:</a:t>
            </a:r>
            <a:endParaRPr lang="en-US" sz="1600" b="1" kern="0" dirty="0">
              <a:solidFill>
                <a:srgbClr val="961318"/>
              </a:solidFill>
              <a:latin typeface="Arial" panose="020B0604020202020204"/>
              <a:ea typeface="微软雅黑" panose="020B0503020204020204" charset="-122"/>
            </a:endParaRPr>
          </a:p>
          <a:p>
            <a:pPr algn="l">
              <a:lnSpc>
                <a:spcPct val="120000"/>
              </a:lnSpc>
              <a:defRPr/>
            </a:pPr>
            <a:r>
              <a:rPr lang="zh-CN" altLang="en-US" sz="1600" kern="0" dirty="0">
                <a:solidFill>
                  <a:srgbClr val="768394"/>
                </a:solidFill>
                <a:latin typeface="Arial" panose="020B0604020202020204"/>
                <a:ea typeface="微软雅黑" panose="020B0503020204020204" charset="-122"/>
              </a:rPr>
              <a:t>在初始阶段，随机生成一定数量的个体（即不同的决策策略），每个个体的表现（适应度）被计算出来。</a:t>
            </a:r>
            <a:endParaRPr lang="zh-CN" altLang="en-US" sz="1600" kern="0" dirty="0">
              <a:solidFill>
                <a:srgbClr val="768394"/>
              </a:solidFill>
              <a:latin typeface="Arial" panose="020B0604020202020204"/>
              <a:ea typeface="微软雅黑" panose="020B0503020204020204" charset="-122"/>
            </a:endParaRPr>
          </a:p>
        </p:txBody>
      </p:sp>
      <p:sp>
        <p:nvSpPr>
          <p:cNvPr id="13" name="文本框 12"/>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2"/>
          <p:cNvSpPr/>
          <p:nvPr/>
        </p:nvSpPr>
        <p:spPr>
          <a:xfrm>
            <a:off x="2703589" y="3845311"/>
            <a:ext cx="8135099" cy="2186187"/>
          </a:xfrm>
          <a:prstGeom prst="roundRect">
            <a:avLst/>
          </a:prstGeom>
          <a:noFill/>
          <a:ln w="127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rgbClr val="961318"/>
                  </a:solidFill>
                  <a:latin typeface="Arial" panose="020B0604020202020204"/>
                  <a:ea typeface="微软雅黑" panose="020B0503020204020204" charset="-122"/>
                  <a:cs typeface="+mn-ea"/>
                  <a:sym typeface="+mn-lt"/>
                </a:rPr>
                <a:t>模拟与</a:t>
              </a:r>
              <a:r>
                <a:rPr lang="zh-CN" altLang="en-US" dirty="0">
                  <a:solidFill>
                    <a:srgbClr val="961318"/>
                  </a:solidFill>
                  <a:latin typeface="Arial" panose="020B0604020202020204"/>
                  <a:ea typeface="微软雅黑" panose="020B0503020204020204" charset="-122"/>
                  <a:cs typeface="+mn-ea"/>
                  <a:sym typeface="+mn-lt"/>
                </a:rPr>
                <a:t>反馈</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圆角矩形 2"/>
          <p:cNvSpPr/>
          <p:nvPr/>
        </p:nvSpPr>
        <p:spPr>
          <a:xfrm>
            <a:off x="2703590" y="1239510"/>
            <a:ext cx="8135099" cy="2186187"/>
          </a:xfrm>
          <a:prstGeom prst="roundRect">
            <a:avLst/>
          </a:prstGeom>
          <a:noFill/>
          <a:ln w="127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16" name="组合 15"/>
          <p:cNvGrpSpPr/>
          <p:nvPr/>
        </p:nvGrpSpPr>
        <p:grpSpPr>
          <a:xfrm>
            <a:off x="1477779" y="1341673"/>
            <a:ext cx="1929923" cy="1929923"/>
            <a:chOff x="304800" y="673100"/>
            <a:chExt cx="4000500" cy="4000500"/>
          </a:xfrm>
          <a:solidFill>
            <a:srgbClr val="961318"/>
          </a:solidFill>
          <a:effectLst/>
        </p:grpSpPr>
        <p:sp>
          <p:nvSpPr>
            <p:cNvPr id="17" name="同心圆 4"/>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18" name="椭圆 17"/>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19" name="椭圆 18"/>
          <p:cNvSpPr/>
          <p:nvPr/>
        </p:nvSpPr>
        <p:spPr>
          <a:xfrm>
            <a:off x="2949895"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1</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 name="矩形 19"/>
          <p:cNvSpPr/>
          <p:nvPr/>
        </p:nvSpPr>
        <p:spPr>
          <a:xfrm>
            <a:off x="1435690" y="2097146"/>
            <a:ext cx="2011680" cy="460375"/>
          </a:xfrm>
          <a:prstGeom prst="rect">
            <a:avLst/>
          </a:prstGeom>
        </p:spPr>
        <p:txBody>
          <a:bodyPr wrap="none">
            <a:spAutoFit/>
          </a:bodyPr>
          <a:lstStyle/>
          <a:p>
            <a:pPr defTabSz="1219200"/>
            <a:r>
              <a:rPr lang="zh-CN" altLang="en-US" sz="2400" b="1" dirty="0">
                <a:solidFill>
                  <a:prstClr val="white"/>
                </a:solidFill>
                <a:latin typeface="微软雅黑" panose="020B0503020204020204" charset="-122"/>
                <a:ea typeface="微软雅黑" panose="020B0503020204020204" charset="-122"/>
              </a:rPr>
              <a:t>蒙特卡洛</a:t>
            </a:r>
            <a:r>
              <a:rPr lang="zh-CN" altLang="en-US" sz="2400" b="1" dirty="0">
                <a:solidFill>
                  <a:prstClr val="white"/>
                </a:solidFill>
                <a:latin typeface="微软雅黑" panose="020B0503020204020204" charset="-122"/>
                <a:ea typeface="微软雅黑" panose="020B0503020204020204" charset="-122"/>
              </a:rPr>
              <a:t>模拟</a:t>
            </a:r>
            <a:endParaRPr lang="zh-CN" altLang="en-US" sz="2400" b="1" dirty="0">
              <a:solidFill>
                <a:prstClr val="white"/>
              </a:solidFill>
              <a:latin typeface="微软雅黑" panose="020B0503020204020204" charset="-122"/>
              <a:ea typeface="微软雅黑" panose="020B0503020204020204" charset="-122"/>
            </a:endParaRPr>
          </a:p>
        </p:txBody>
      </p:sp>
      <p:grpSp>
        <p:nvGrpSpPr>
          <p:cNvPr id="5" name="组合 4"/>
          <p:cNvGrpSpPr/>
          <p:nvPr/>
        </p:nvGrpSpPr>
        <p:grpSpPr>
          <a:xfrm>
            <a:off x="1477779" y="3960635"/>
            <a:ext cx="2040740" cy="1929923"/>
            <a:chOff x="5129071" y="1400218"/>
            <a:chExt cx="2040740" cy="1929923"/>
          </a:xfrm>
        </p:grpSpPr>
        <p:grpSp>
          <p:nvGrpSpPr>
            <p:cNvPr id="23" name="组合 22"/>
            <p:cNvGrpSpPr/>
            <p:nvPr/>
          </p:nvGrpSpPr>
          <p:grpSpPr>
            <a:xfrm>
              <a:off x="5129071" y="1400218"/>
              <a:ext cx="1929923" cy="1929923"/>
              <a:chOff x="304800" y="673100"/>
              <a:chExt cx="4000500" cy="4000500"/>
            </a:xfrm>
            <a:solidFill>
              <a:srgbClr val="961318"/>
            </a:solidFill>
            <a:effectLst/>
          </p:grpSpPr>
          <p:sp>
            <p:nvSpPr>
              <p:cNvPr id="24" name="同心圆 12"/>
              <p:cNvSpPr/>
              <p:nvPr/>
            </p:nvSpPr>
            <p:spPr>
              <a:xfrm>
                <a:off x="304800" y="673100"/>
                <a:ext cx="4000500" cy="4000500"/>
              </a:xfrm>
              <a:prstGeom prst="donut">
                <a:avLst>
                  <a:gd name="adj" fmla="val 4879"/>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25" name="椭圆 24"/>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29" name="椭圆 28"/>
            <p:cNvSpPr/>
            <p:nvPr/>
          </p:nvSpPr>
          <p:spPr>
            <a:xfrm>
              <a:off x="6672064"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2</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1" name="矩形 30"/>
            <p:cNvSpPr/>
            <p:nvPr/>
          </p:nvSpPr>
          <p:spPr>
            <a:xfrm>
              <a:off x="5129071" y="2140723"/>
              <a:ext cx="2011680" cy="460375"/>
            </a:xfrm>
            <a:prstGeom prst="rect">
              <a:avLst/>
            </a:prstGeom>
          </p:spPr>
          <p:txBody>
            <a:bodyPr wrap="none">
              <a:spAutoFit/>
            </a:bodyPr>
            <a:lstStyle/>
            <a:p>
              <a:pPr defTabSz="1219200"/>
              <a:r>
                <a:rPr lang="zh-CN" altLang="en-US" sz="2400" b="1" dirty="0">
                  <a:solidFill>
                    <a:prstClr val="white"/>
                  </a:solidFill>
                  <a:latin typeface="微软雅黑" panose="020B0503020204020204" charset="-122"/>
                  <a:ea typeface="微软雅黑" panose="020B0503020204020204" charset="-122"/>
                </a:rPr>
                <a:t>库存反馈</a:t>
              </a:r>
              <a:r>
                <a:rPr lang="zh-CN" altLang="en-US" sz="2400" b="1" dirty="0">
                  <a:solidFill>
                    <a:prstClr val="white"/>
                  </a:solidFill>
                  <a:latin typeface="微软雅黑" panose="020B0503020204020204" charset="-122"/>
                  <a:ea typeface="微软雅黑" panose="020B0503020204020204" charset="-122"/>
                </a:rPr>
                <a:t>机制</a:t>
              </a:r>
              <a:endParaRPr lang="zh-CN" altLang="en-US" sz="2400" b="1" dirty="0">
                <a:solidFill>
                  <a:prstClr val="white"/>
                </a:solidFill>
                <a:latin typeface="微软雅黑" panose="020B0503020204020204" charset="-122"/>
                <a:ea typeface="微软雅黑" panose="020B0503020204020204" charset="-122"/>
              </a:endParaRPr>
            </a:p>
          </p:txBody>
        </p:sp>
      </p:grpSp>
      <p:sp>
        <p:nvSpPr>
          <p:cNvPr id="2" name="文本框 1"/>
          <p:cNvSpPr txBox="1"/>
          <p:nvPr/>
        </p:nvSpPr>
        <p:spPr>
          <a:xfrm>
            <a:off x="1248792" y="860574"/>
            <a:ext cx="3729608" cy="306705"/>
          </a:xfrm>
          <a:prstGeom prst="rect">
            <a:avLst/>
          </a:prstGeom>
          <a:noFill/>
        </p:spPr>
        <p:txBody>
          <a:bodyPr wrap="square" rtlCol="0">
            <a:spAutoFit/>
          </a:bodyPr>
          <a:lstStyle/>
          <a:p>
            <a:r>
              <a:rPr lang="zh-CN" altLang="en-US" sz="1400" dirty="0">
                <a:solidFill>
                  <a:srgbClr val="768394"/>
                </a:solidFill>
                <a:latin typeface="Arial" panose="020B0604020202020204"/>
                <a:ea typeface="微软雅黑" panose="020B0503020204020204" charset="-122"/>
                <a:cs typeface="+mn-ea"/>
                <a:sym typeface="+mn-lt"/>
              </a:rPr>
              <a:t>蒙特卡洛模拟</a:t>
            </a:r>
            <a:r>
              <a:rPr lang="en-US" altLang="zh-CN" sz="1400" dirty="0">
                <a:solidFill>
                  <a:srgbClr val="768394"/>
                </a:solidFill>
                <a:latin typeface="Arial" panose="020B0604020202020204"/>
                <a:ea typeface="微软雅黑" panose="020B0503020204020204" charset="-122"/>
                <a:cs typeface="+mn-ea"/>
                <a:sym typeface="+mn-lt"/>
              </a:rPr>
              <a:t> &amp; </a:t>
            </a:r>
            <a:r>
              <a:rPr lang="zh-CN" altLang="en-US" sz="1400" dirty="0">
                <a:solidFill>
                  <a:srgbClr val="768394"/>
                </a:solidFill>
                <a:latin typeface="Arial" panose="020B0604020202020204"/>
                <a:ea typeface="微软雅黑" panose="020B0503020204020204" charset="-122"/>
                <a:cs typeface="+mn-ea"/>
                <a:sym typeface="+mn-lt"/>
              </a:rPr>
              <a:t>库存</a:t>
            </a:r>
            <a:r>
              <a:rPr lang="zh-CN" altLang="en-US" sz="1400" dirty="0">
                <a:solidFill>
                  <a:srgbClr val="768394"/>
                </a:solidFill>
                <a:latin typeface="Arial" panose="020B0604020202020204"/>
                <a:ea typeface="微软雅黑" panose="020B0503020204020204" charset="-122"/>
                <a:cs typeface="+mn-ea"/>
                <a:sym typeface="+mn-lt"/>
              </a:rPr>
              <a:t>反馈机制</a:t>
            </a:r>
            <a:endParaRPr lang="zh-CN" altLang="en-US" sz="1400" dirty="0">
              <a:solidFill>
                <a:srgbClr val="768394"/>
              </a:solidFill>
              <a:latin typeface="Arial" panose="020B0604020202020204"/>
              <a:ea typeface="微软雅黑" panose="020B0503020204020204" charset="-122"/>
              <a:cs typeface="+mn-ea"/>
              <a:sym typeface="+mn-lt"/>
            </a:endParaRPr>
          </a:p>
        </p:txBody>
      </p:sp>
      <p:sp>
        <p:nvSpPr>
          <p:cNvPr id="3" name="文本框 2"/>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
        <p:nvSpPr>
          <p:cNvPr id="12" name="文本框 11"/>
          <p:cNvSpPr txBox="1"/>
          <p:nvPr/>
        </p:nvSpPr>
        <p:spPr>
          <a:xfrm>
            <a:off x="3770630" y="4124325"/>
            <a:ext cx="6645910" cy="1227455"/>
          </a:xfrm>
          <a:prstGeom prst="rect">
            <a:avLst/>
          </a:prstGeom>
          <a:noFill/>
        </p:spPr>
        <p:txBody>
          <a:bodyPr wrap="square" rtlCol="0" anchor="t">
            <a:noAutofit/>
          </a:bodyPr>
          <a:p>
            <a:pPr defTabSz="1219200">
              <a:lnSpc>
                <a:spcPct val="130000"/>
              </a:lnSpc>
            </a:pPr>
            <a:r>
              <a:rPr lang="zh-CN" altLang="en-US" b="1" dirty="0">
                <a:solidFill>
                  <a:prstClr val="black">
                    <a:lumMod val="75000"/>
                    <a:lumOff val="25000"/>
                  </a:prstClr>
                </a:solidFill>
                <a:latin typeface="微软雅黑" panose="020B0503020204020204" charset="-122"/>
                <a:ea typeface="微软雅黑" panose="020B0503020204020204" charset="-122"/>
                <a:sym typeface="+mn-ea"/>
              </a:rPr>
              <a:t>库存反馈机制：</a:t>
            </a:r>
            <a:endParaRPr lang="zh-CN" altLang="en-US" b="1" dirty="0">
              <a:solidFill>
                <a:prstClr val="black">
                  <a:lumMod val="75000"/>
                  <a:lumOff val="25000"/>
                </a:prstClr>
              </a:solidFill>
              <a:latin typeface="微软雅黑" panose="020B0503020204020204" charset="-122"/>
              <a:ea typeface="微软雅黑" panose="020B0503020204020204" charset="-122"/>
            </a:endParaRPr>
          </a:p>
          <a:p>
            <a:pPr defTabSz="1219200">
              <a:lnSpc>
                <a:spcPct val="130000"/>
              </a:lnSpc>
            </a:pPr>
            <a:r>
              <a:rPr lang="zh-CN" altLang="en-US" dirty="0">
                <a:solidFill>
                  <a:prstClr val="black">
                    <a:lumMod val="75000"/>
                    <a:lumOff val="25000"/>
                  </a:prstClr>
                </a:solidFill>
                <a:latin typeface="微软雅黑" panose="020B0503020204020204" charset="-122"/>
                <a:ea typeface="微软雅黑" panose="020B0503020204020204" charset="-122"/>
                <a:sym typeface="+mn-ea"/>
              </a:rPr>
              <a:t>库存反馈机制会根据每轮生产的零配件回收情况，动态调整后续生产的零配件数量。具体来说，当库存较低时，生产规模会自动调整，避免库存不足导致的生产中断。</a:t>
            </a:r>
            <a:endParaRPr lang="zh-CN" altLang="en-US" dirty="0">
              <a:solidFill>
                <a:prstClr val="black">
                  <a:lumMod val="75000"/>
                  <a:lumOff val="25000"/>
                </a:prstClr>
              </a:solidFill>
              <a:latin typeface="微软雅黑" panose="020B0503020204020204" charset="-122"/>
              <a:ea typeface="微软雅黑" panose="020B0503020204020204" charset="-122"/>
              <a:sym typeface="+mn-ea"/>
            </a:endParaRPr>
          </a:p>
        </p:txBody>
      </p:sp>
      <p:sp>
        <p:nvSpPr>
          <p:cNvPr id="21" name="文本框 20"/>
          <p:cNvSpPr txBox="1"/>
          <p:nvPr/>
        </p:nvSpPr>
        <p:spPr>
          <a:xfrm>
            <a:off x="3770630" y="1411605"/>
            <a:ext cx="6646545" cy="1790065"/>
          </a:xfrm>
          <a:prstGeom prst="rect">
            <a:avLst/>
          </a:prstGeom>
          <a:noFill/>
        </p:spPr>
        <p:txBody>
          <a:bodyPr wrap="square" rtlCol="0">
            <a:spAutoFit/>
          </a:bodyPr>
          <a:p>
            <a:pPr defTabSz="1219200">
              <a:lnSpc>
                <a:spcPct val="130000"/>
              </a:lnSpc>
            </a:pPr>
            <a:r>
              <a:rPr lang="en-US" altLang="zh-CN" sz="1700" dirty="0">
                <a:solidFill>
                  <a:prstClr val="black">
                    <a:lumMod val="75000"/>
                    <a:lumOff val="25000"/>
                  </a:prstClr>
                </a:solidFill>
                <a:latin typeface="微软雅黑" panose="020B0503020204020204" charset="-122"/>
                <a:ea typeface="微软雅黑" panose="020B0503020204020204" charset="-122"/>
              </a:rPr>
              <a:t>       </a:t>
            </a:r>
            <a:r>
              <a:rPr lang="zh-CN" altLang="en-US" sz="1700" dirty="0">
                <a:solidFill>
                  <a:prstClr val="black">
                    <a:lumMod val="75000"/>
                    <a:lumOff val="25000"/>
                  </a:prstClr>
                </a:solidFill>
                <a:latin typeface="微软雅黑" panose="020B0503020204020204" charset="-122"/>
                <a:ea typeface="微软雅黑" panose="020B0503020204020204" charset="-122"/>
              </a:rPr>
              <a:t>处理生产过程中的不确定性。通过对零配件次品率、成品质量等因素进行随机抽样，模拟不同情境下的生产过程，帮助评估每种决策策略的潜在利润和风险。这种方法允许我们反复进行实验，从而获得期望利润的分布，并量化不同策略的稳定性与效益，为优化决策提供数据支持。</a:t>
            </a:r>
            <a:endParaRPr lang="zh-CN" altLang="en-US" sz="1700" dirty="0">
              <a:solidFill>
                <a:prstClr val="black">
                  <a:lumMod val="75000"/>
                  <a:lumOff val="25000"/>
                </a:prstClr>
              </a:solidFill>
              <a:latin typeface="微软雅黑" panose="020B0503020204020204" charset="-122"/>
              <a:ea typeface="微软雅黑" panose="020B0503020204020204" charset="-122"/>
            </a:endParaRPr>
          </a:p>
        </p:txBody>
      </p:sp>
    </p:spTree>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实验结果与讨论</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3" name="矩形 2"/>
          <p:cNvSpPr/>
          <p:nvPr/>
        </p:nvSpPr>
        <p:spPr>
          <a:xfrm>
            <a:off x="5836920" y="1717040"/>
            <a:ext cx="5875655" cy="3888740"/>
          </a:xfrm>
          <a:prstGeom prst="rect">
            <a:avLst/>
          </a:prstGeom>
          <a:solidFill>
            <a:srgbClr val="FFFFFF"/>
          </a:solidFill>
          <a:ln w="635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lIns="108000" tIns="612000" rIns="108000" bIns="0" rtlCol="0" anchor="t"/>
          <a:lstStyle/>
          <a:p>
            <a:pPr indent="0" defTabSz="457200">
              <a:lnSpc>
                <a:spcPct val="120000"/>
              </a:lnSpc>
              <a:spcAft>
                <a:spcPts val="1200"/>
              </a:spcAft>
              <a:buClr>
                <a:srgbClr val="961318"/>
              </a:buClr>
              <a:buFont typeface="Arial" panose="020B0604020202020204" pitchFamily="34" charset="0"/>
              <a:buNone/>
            </a:pPr>
            <a:r>
              <a:rPr lang="en-US" altLang="zh-CN" kern="0" dirty="0">
                <a:solidFill>
                  <a:srgbClr val="000000">
                    <a:lumMod val="75000"/>
                    <a:lumOff val="25000"/>
                  </a:srgbClr>
                </a:solidFill>
                <a:latin typeface="Arial" panose="020B0604020202020204"/>
                <a:ea typeface="宋体" panose="02010600030101010101" pitchFamily="2" charset="-122"/>
                <a:cs typeface="+mn-ea"/>
                <a:sym typeface="+mn-lt"/>
              </a:rPr>
              <a:t>   </a:t>
            </a:r>
            <a:endParaRPr lang="en-US" altLang="zh-CN" kern="0" dirty="0">
              <a:solidFill>
                <a:srgbClr val="000000">
                  <a:lumMod val="75000"/>
                  <a:lumOff val="25000"/>
                </a:srgbClr>
              </a:solidFill>
              <a:latin typeface="Arial" panose="020B0604020202020204"/>
              <a:ea typeface="宋体" panose="02010600030101010101" pitchFamily="2" charset="-122"/>
              <a:cs typeface="+mn-ea"/>
              <a:sym typeface="+mn-lt"/>
            </a:endParaRPr>
          </a:p>
          <a:p>
            <a:pPr marL="285750" indent="-285750" defTabSz="457200">
              <a:lnSpc>
                <a:spcPct val="120000"/>
              </a:lnSpc>
              <a:spcAft>
                <a:spcPts val="1200"/>
              </a:spcAft>
              <a:buClr>
                <a:srgbClr val="961318"/>
              </a:buClr>
              <a:buFont typeface="Arial" panose="020B0604020202020204" pitchFamily="34" charset="0"/>
              <a:buChar char="•"/>
            </a:pPr>
            <a:endParaRPr lang="zh-CN" altLang="en-US" sz="2000" kern="0" dirty="0">
              <a:solidFill>
                <a:srgbClr val="000000">
                  <a:lumMod val="75000"/>
                  <a:lumOff val="25000"/>
                </a:srgbClr>
              </a:solidFill>
              <a:latin typeface="Arial" panose="020B0604020202020204"/>
              <a:ea typeface="宋体" panose="02010600030101010101" pitchFamily="2" charset="-122"/>
              <a:cs typeface="+mn-ea"/>
              <a:sym typeface="+mn-lt"/>
            </a:endParaRPr>
          </a:p>
        </p:txBody>
      </p:sp>
      <p:sp>
        <p:nvSpPr>
          <p:cNvPr id="4" name="矩形 3"/>
          <p:cNvSpPr/>
          <p:nvPr/>
        </p:nvSpPr>
        <p:spPr>
          <a:xfrm>
            <a:off x="5837020" y="1717133"/>
            <a:ext cx="5875555" cy="457200"/>
          </a:xfrm>
          <a:prstGeom prst="rect">
            <a:avLst/>
          </a:prstGeom>
          <a:solidFill>
            <a:srgbClr val="961318"/>
          </a:solidFill>
          <a:ln w="12700" cap="flat" cmpd="sng" algn="ctr">
            <a:noFill/>
            <a:prstDash val="solid"/>
            <a:miter lim="800000"/>
          </a:ln>
          <a:effectLst/>
        </p:spPr>
        <p:txBody>
          <a:bodyPr rtlCol="0" anchor="ctr"/>
          <a:lstStyle/>
          <a:p>
            <a:pPr algn="ctr" defTabSz="457200">
              <a:defRPr/>
            </a:pPr>
            <a:endParaRPr lang="en-US" sz="2000" b="1" kern="0" dirty="0">
              <a:solidFill>
                <a:srgbClr val="FFFFFF"/>
              </a:solidFill>
              <a:latin typeface="Arial" panose="020B0604020202020204"/>
              <a:sym typeface="+mn-lt"/>
            </a:endParaRPr>
          </a:p>
        </p:txBody>
      </p:sp>
      <p:sp>
        <p:nvSpPr>
          <p:cNvPr id="5" name="L 形 4"/>
          <p:cNvSpPr/>
          <p:nvPr/>
        </p:nvSpPr>
        <p:spPr bwMode="auto">
          <a:xfrm rot="5400000">
            <a:off x="467360" y="1282990"/>
            <a:ext cx="628535" cy="628535"/>
          </a:xfrm>
          <a:prstGeom prst="corner">
            <a:avLst>
              <a:gd name="adj1" fmla="val 11572"/>
              <a:gd name="adj2" fmla="val 11638"/>
            </a:avLst>
          </a:prstGeom>
          <a:solidFill>
            <a:srgbClr val="961318"/>
          </a:solidFill>
          <a:ln>
            <a:solidFill>
              <a:srgbClr val="961318"/>
            </a:solidFill>
          </a:ln>
        </p:spPr>
        <p:txBody>
          <a:bodyPr rot="0" spcFirstLastPara="0" vertOverflow="overflow" horzOverflow="overflow" vert="horz" wrap="square" lIns="91440" tIns="45720" rIns="91440" bIns="45720" numCol="1" spcCol="0" rtlCol="0" fromWordArt="0" anchor="ctr" anchorCtr="0" forceAA="0" compatLnSpc="1">
            <a:noAutofit/>
          </a:bodyPr>
          <a:lstStyle/>
          <a:p>
            <a:pPr algn="ctr">
              <a:buSzPct val="25000"/>
              <a:defRPr/>
            </a:pPr>
            <a:endParaRPr lang="en-US" b="1" kern="0" dirty="0">
              <a:solidFill>
                <a:srgbClr val="FFFFFF"/>
              </a:solidFill>
              <a:latin typeface="Arial" panose="020B0604020202020204"/>
              <a:sym typeface="+mn-lt"/>
            </a:endParaRPr>
          </a:p>
        </p:txBody>
      </p:sp>
      <p:pic>
        <p:nvPicPr>
          <p:cNvPr id="6" name="图片 5"/>
          <p:cNvPicPr>
            <a:picLocks noChangeAspect="1"/>
          </p:cNvPicPr>
          <p:nvPr/>
        </p:nvPicPr>
        <p:blipFill>
          <a:blip r:embed="rId1"/>
          <a:stretch>
            <a:fillRect/>
          </a:stretch>
        </p:blipFill>
        <p:spPr>
          <a:xfrm>
            <a:off x="392430" y="2519680"/>
            <a:ext cx="5262880" cy="2459355"/>
          </a:xfrm>
          <a:prstGeom prst="rect">
            <a:avLst/>
          </a:prstGeom>
        </p:spPr>
      </p:pic>
      <p:sp>
        <p:nvSpPr>
          <p:cNvPr id="12" name="文本框 11"/>
          <p:cNvSpPr txBox="1"/>
          <p:nvPr/>
        </p:nvSpPr>
        <p:spPr>
          <a:xfrm>
            <a:off x="6156325" y="2674620"/>
            <a:ext cx="5236845" cy="2304415"/>
          </a:xfrm>
          <a:prstGeom prst="rect">
            <a:avLst/>
          </a:prstGeom>
          <a:noFill/>
        </p:spPr>
        <p:txBody>
          <a:bodyPr wrap="square" rtlCol="0">
            <a:spAutoFit/>
          </a:bodyPr>
          <a:p>
            <a:pPr algn="just">
              <a:lnSpc>
                <a:spcPct val="140000"/>
              </a:lnSpc>
            </a:pPr>
            <a:r>
              <a:rPr lang="en-US" altLang="zh-CN" kern="0" dirty="0">
                <a:solidFill>
                  <a:srgbClr val="000000">
                    <a:lumMod val="75000"/>
                    <a:lumOff val="25000"/>
                  </a:srgbClr>
                </a:solidFill>
                <a:latin typeface="Arial" panose="020B0604020202020204"/>
                <a:ea typeface="宋体" panose="02010600030101010101" pitchFamily="2" charset="-122"/>
                <a:cs typeface="+mn-ea"/>
                <a:sym typeface="+mn-lt"/>
              </a:rPr>
              <a:t>       </a:t>
            </a:r>
            <a:r>
              <a:rPr lang="zh-CN" altLang="en-US" kern="0" dirty="0">
                <a:solidFill>
                  <a:srgbClr val="000000">
                    <a:lumMod val="75000"/>
                    <a:lumOff val="25000"/>
                  </a:srgbClr>
                </a:solidFill>
                <a:latin typeface="Arial" panose="020B0604020202020204"/>
                <a:ea typeface="宋体" panose="02010600030101010101" pitchFamily="2" charset="-122"/>
                <a:cs typeface="+mn-ea"/>
                <a:sym typeface="+mn-lt"/>
              </a:rPr>
              <a:t>基于蒙特卡洛仿真和遗传算法的综合模型，并综合考虑了零配件采购、检测、装配、拆解及库存反馈等各环节的不确定性，我们最终得到了</a:t>
            </a:r>
            <a:r>
              <a:rPr lang="en-US" altLang="zh-CN" kern="0" dirty="0">
                <a:solidFill>
                  <a:srgbClr val="000000">
                    <a:lumMod val="75000"/>
                    <a:lumOff val="25000"/>
                  </a:srgbClr>
                </a:solidFill>
                <a:latin typeface="Arial" panose="020B0604020202020204"/>
                <a:ea typeface="宋体" panose="02010600030101010101" pitchFamily="2" charset="-122"/>
                <a:cs typeface="+mn-ea"/>
                <a:sym typeface="+mn-lt"/>
              </a:rPr>
              <a:t>6</a:t>
            </a:r>
            <a:r>
              <a:rPr lang="zh-CN" altLang="en-US" kern="0" dirty="0">
                <a:solidFill>
                  <a:srgbClr val="000000">
                    <a:lumMod val="75000"/>
                    <a:lumOff val="25000"/>
                  </a:srgbClr>
                </a:solidFill>
                <a:latin typeface="Arial" panose="020B0604020202020204"/>
                <a:ea typeface="宋体" panose="02010600030101010101" pitchFamily="2" charset="-122"/>
                <a:cs typeface="+mn-ea"/>
                <a:sym typeface="+mn-lt"/>
              </a:rPr>
              <a:t>种情形下累计利润最大的最优决策策略，为企业制定经济高效的生产策略提供了科学依据。</a:t>
            </a:r>
            <a:endParaRPr lang="zh-CN" altLang="en-US" kern="0" dirty="0">
              <a:solidFill>
                <a:srgbClr val="000000">
                  <a:lumMod val="75000"/>
                  <a:lumOff val="25000"/>
                </a:srgbClr>
              </a:solidFill>
              <a:latin typeface="Arial" panose="020B0604020202020204"/>
              <a:ea typeface="宋体" panose="02010600030101010101" pitchFamily="2" charset="-122"/>
              <a:cs typeface="+mn-ea"/>
              <a:sym typeface="+mn-lt"/>
            </a:endParaRPr>
          </a:p>
          <a:p>
            <a:pPr algn="just"/>
            <a:endParaRPr lang="zh-CN" altLang="en-US"/>
          </a:p>
        </p:txBody>
      </p:sp>
      <p:sp>
        <p:nvSpPr>
          <p:cNvPr id="16" name="文本框 15"/>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b="13696"/>
          <a:stretch>
            <a:fillRect/>
          </a:stretch>
        </p:blipFill>
        <p:spPr>
          <a:xfrm>
            <a:off x="0" y="1"/>
            <a:ext cx="12204296" cy="3083074"/>
          </a:xfrm>
          <a:prstGeom prst="rect">
            <a:avLst/>
          </a:prstGeom>
        </p:spPr>
      </p:pic>
      <p:sp>
        <p:nvSpPr>
          <p:cNvPr id="5" name="矩形 4"/>
          <p:cNvSpPr/>
          <p:nvPr/>
        </p:nvSpPr>
        <p:spPr>
          <a:xfrm>
            <a:off x="0" y="0"/>
            <a:ext cx="12216765" cy="3083074"/>
          </a:xfrm>
          <a:prstGeom prst="rect">
            <a:avLst/>
          </a:prstGeom>
          <a:solidFill>
            <a:srgbClr val="961318">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charset="-122"/>
              <a:cs typeface="+mn-ea"/>
              <a:sym typeface="+mn-lt"/>
            </a:endParaRPr>
          </a:p>
        </p:txBody>
      </p:sp>
      <p:sp>
        <p:nvSpPr>
          <p:cNvPr id="6" name="文本占位符 8"/>
          <p:cNvSpPr txBox="1"/>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961318"/>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B0604020202020204"/>
              <a:ea typeface="微软雅黑" panose="020B0503020204020204" charset="-122"/>
              <a:cs typeface="+mn-ea"/>
              <a:sym typeface="+mn-lt"/>
            </a:endParaRPr>
          </a:p>
        </p:txBody>
      </p:sp>
      <p:sp>
        <p:nvSpPr>
          <p:cNvPr id="8" name="标题 4"/>
          <p:cNvSpPr txBox="1"/>
          <p:nvPr/>
        </p:nvSpPr>
        <p:spPr>
          <a:xfrm>
            <a:off x="2712085" y="4375150"/>
            <a:ext cx="7272655" cy="7467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a:r>
              <a:rPr lang="zh-CN" altLang="en-US" sz="5400" b="1" dirty="0">
                <a:solidFill>
                  <a:srgbClr val="961318"/>
                </a:solidFill>
                <a:latin typeface="微软雅黑" panose="020B0503020204020204" charset="-122"/>
                <a:ea typeface="微软雅黑" panose="020B0503020204020204" charset="-122"/>
              </a:rPr>
              <a:t>问题三模型建立与求解</a:t>
            </a:r>
            <a:endParaRPr lang="zh-CN" altLang="en-US" sz="5400" b="1" dirty="0">
              <a:solidFill>
                <a:srgbClr val="961318"/>
              </a:solidFill>
              <a:latin typeface="微软雅黑" panose="020B0503020204020204" charset="-122"/>
              <a:ea typeface="微软雅黑" panose="020B0503020204020204" charset="-122"/>
            </a:endParaRPr>
          </a:p>
        </p:txBody>
      </p:sp>
      <p:cxnSp>
        <p:nvCxnSpPr>
          <p:cNvPr id="9" name="直接连接符 8"/>
          <p:cNvCxnSpPr/>
          <p:nvPr/>
        </p:nvCxnSpPr>
        <p:spPr>
          <a:xfrm>
            <a:off x="3575720" y="5244190"/>
            <a:ext cx="4752528" cy="0"/>
          </a:xfrm>
          <a:prstGeom prst="line">
            <a:avLst/>
          </a:prstGeom>
          <a:noFill/>
          <a:ln w="28575" cap="flat" cmpd="sng" algn="ctr">
            <a:solidFill>
              <a:srgbClr val="961318"/>
            </a:solidFill>
            <a:prstDash val="solid"/>
            <a:headEnd type="oval" w="med" len="med"/>
            <a:tailEnd type="oval" w="med" len="med"/>
          </a:ln>
          <a:effectLst/>
        </p:spPr>
      </p:cxnSp>
      <p:sp>
        <p:nvSpPr>
          <p:cNvPr id="10" name="标题 4"/>
          <p:cNvSpPr txBox="1"/>
          <p:nvPr/>
        </p:nvSpPr>
        <p:spPr>
          <a:xfrm>
            <a:off x="2207565" y="5490719"/>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25000"/>
              </a:lnSpc>
            </a:pPr>
            <a:endParaRPr lang="zh-CN" altLang="en-US" sz="2000" dirty="0">
              <a:solidFill>
                <a:srgbClr val="961318"/>
              </a:solidFill>
              <a:latin typeface="微软雅黑" panose="020B0503020204020204" charset="-122"/>
              <a:ea typeface="微软雅黑" panose="020B0503020204020204" charset="-122"/>
            </a:endParaRPr>
          </a:p>
          <a:p>
            <a:pPr algn="l">
              <a:lnSpc>
                <a:spcPct val="125000"/>
              </a:lnSpc>
            </a:pPr>
            <a:endParaRPr lang="zh-CN" altLang="en-US" sz="2000" dirty="0">
              <a:solidFill>
                <a:srgbClr val="961318"/>
              </a:solidFill>
              <a:latin typeface="微软雅黑" panose="020B0503020204020204" charset="-122"/>
              <a:ea typeface="微软雅黑" panose="020B0503020204020204" charset="-122"/>
            </a:endParaRPr>
          </a:p>
        </p:txBody>
      </p:sp>
      <p:sp>
        <p:nvSpPr>
          <p:cNvPr id="11" name="文本框 10"/>
          <p:cNvSpPr txBox="1"/>
          <p:nvPr/>
        </p:nvSpPr>
        <p:spPr>
          <a:xfrm>
            <a:off x="10704512" y="6406826"/>
            <a:ext cx="1050925" cy="368300"/>
          </a:xfrm>
          <a:prstGeom prst="rect">
            <a:avLst/>
          </a:prstGeom>
          <a:noFill/>
        </p:spPr>
        <p:txBody>
          <a:bodyPr wrap="none" rtlCol="0">
            <a:spAutoFit/>
          </a:bodyPr>
          <a:lstStyle/>
          <a:p>
            <a:pPr>
              <a:defRPr/>
            </a:pPr>
            <a:r>
              <a:rPr lang="en-US" altLang="zh-CN" b="1" dirty="0">
                <a:solidFill>
                  <a:srgbClr val="961318">
                    <a:alpha val="70000"/>
                  </a:srgbClr>
                </a:solidFill>
                <a:latin typeface="Calibri" panose="020F0502020204030204"/>
                <a:ea typeface="宋体" panose="02010600030101010101" pitchFamily="2" charset="-122"/>
              </a:rPr>
              <a:t>A</a:t>
            </a:r>
            <a:r>
              <a:rPr lang="en-US" altLang="zh-CN" b="1" dirty="0">
                <a:solidFill>
                  <a:srgbClr val="961318">
                    <a:alpha val="70000"/>
                  </a:srgbClr>
                </a:solidFill>
                <a:latin typeface="Calibri" panose="020F0502020204030204"/>
                <a:ea typeface="宋体" panose="02010600030101010101" pitchFamily="2" charset="-122"/>
              </a:rPr>
              <a:t>pril 10</a:t>
            </a:r>
            <a:r>
              <a:rPr lang="en-US" altLang="zh-CN" b="1" baseline="30000" dirty="0">
                <a:solidFill>
                  <a:srgbClr val="961318">
                    <a:alpha val="70000"/>
                  </a:srgbClr>
                </a:solidFill>
                <a:latin typeface="Calibri" panose="020F0502020204030204"/>
                <a:ea typeface="宋体" panose="02010600030101010101" pitchFamily="2" charset="-122"/>
              </a:rPr>
              <a:t>th</a:t>
            </a:r>
            <a:endParaRPr lang="zh-CN" altLang="en-US" b="1" baseline="30000" dirty="0">
              <a:solidFill>
                <a:srgbClr val="961318">
                  <a:alpha val="70000"/>
                </a:srgbClr>
              </a:solidFill>
              <a:latin typeface="Calibri" panose="020F0502020204030204"/>
              <a:ea typeface="宋体" panose="02010600030101010101" pitchFamily="2" charset="-122"/>
            </a:endParaRPr>
          </a:p>
        </p:txBody>
      </p:sp>
      <p:sp>
        <p:nvSpPr>
          <p:cNvPr id="12" name="文本框 11"/>
          <p:cNvSpPr txBox="1"/>
          <p:nvPr/>
        </p:nvSpPr>
        <p:spPr>
          <a:xfrm>
            <a:off x="5250253" y="2386575"/>
            <a:ext cx="1675130" cy="144526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04</a:t>
            </a:r>
            <a:endParaRPr lang="zh-CN" altLang="en-US" sz="8800" b="1" dirty="0">
              <a:solidFill>
                <a:prstClr val="white"/>
              </a:solidFill>
              <a:latin typeface="Arial Black" panose="020B0A04020102020204" pitchFamily="34" charset="0"/>
              <a:ea typeface="宋体" panose="02010600030101010101" pitchFamily="2" charset="-122"/>
            </a:endParaRPr>
          </a:p>
        </p:txBody>
      </p:sp>
    </p:spTree>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93041"/>
            <a:chOff x="335361" y="116633"/>
            <a:chExt cx="11521279" cy="693041"/>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问题三：模型建立</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18" name="Oval 12"/>
          <p:cNvSpPr/>
          <p:nvPr>
            <p:custDataLst>
              <p:tags r:id="rId1"/>
            </p:custDataLst>
          </p:nvPr>
        </p:nvSpPr>
        <p:spPr>
          <a:xfrm>
            <a:off x="4217989" y="4554295"/>
            <a:ext cx="957263" cy="960439"/>
          </a:xfrm>
          <a:prstGeom prst="ellipse">
            <a:avLst/>
          </a:prstGeom>
          <a:solidFill>
            <a:srgbClr val="961318"/>
          </a:solidFill>
          <a:ln w="25400" cap="flat" cmpd="sng" algn="ctr">
            <a:solidFill>
              <a:srgbClr val="961318"/>
            </a:solidFill>
            <a:prstDash val="solid"/>
          </a:ln>
          <a:effectLst/>
        </p:spPr>
        <p:txBody>
          <a:bodyPr lIns="91440" tIns="45720" rIns="91440" bIns="4572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1735" b="0" i="0" u="none" strike="noStrike" kern="0" cap="none" spc="0" normalizeH="0" baseline="0" noProof="0">
              <a:ln>
                <a:noFill/>
              </a:ln>
              <a:solidFill>
                <a:prstClr val="black">
                  <a:lumMod val="65000"/>
                  <a:lumOff val="35000"/>
                </a:prstClr>
              </a:solidFill>
              <a:effectLst/>
              <a:uLnTx/>
              <a:uFillTx/>
              <a:latin typeface="Calibri" panose="020F0502020204030204"/>
              <a:ea typeface="+mn-ea"/>
              <a:cs typeface="+mn-cs"/>
            </a:endParaRPr>
          </a:p>
        </p:txBody>
      </p:sp>
      <p:sp>
        <p:nvSpPr>
          <p:cNvPr id="19" name="Oval 14"/>
          <p:cNvSpPr/>
          <p:nvPr>
            <p:custDataLst>
              <p:tags r:id="rId2"/>
            </p:custDataLst>
          </p:nvPr>
        </p:nvSpPr>
        <p:spPr>
          <a:xfrm>
            <a:off x="6858001" y="4554295"/>
            <a:ext cx="955675" cy="960439"/>
          </a:xfrm>
          <a:prstGeom prst="ellipse">
            <a:avLst/>
          </a:prstGeom>
          <a:solidFill>
            <a:srgbClr val="961318"/>
          </a:solidFill>
          <a:ln w="25400" cap="flat" cmpd="sng" algn="ctr">
            <a:solidFill>
              <a:srgbClr val="961318"/>
            </a:solidFill>
            <a:prstDash val="solid"/>
          </a:ln>
          <a:effectLst/>
        </p:spPr>
        <p:txBody>
          <a:bodyPr lIns="91440" tIns="45720" rIns="91440" bIns="4572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1735" b="0" i="0" u="none" strike="noStrike" kern="0" cap="none" spc="0" normalizeH="0" baseline="0" noProof="0">
              <a:ln>
                <a:noFill/>
              </a:ln>
              <a:solidFill>
                <a:prstClr val="black">
                  <a:lumMod val="65000"/>
                  <a:lumOff val="35000"/>
                </a:prstClr>
              </a:solidFill>
              <a:effectLst/>
              <a:uLnTx/>
              <a:uFillTx/>
              <a:latin typeface="Calibri" panose="020F0502020204030204"/>
              <a:ea typeface="+mn-ea"/>
              <a:cs typeface="+mn-cs"/>
            </a:endParaRPr>
          </a:p>
        </p:txBody>
      </p:sp>
      <p:grpSp>
        <p:nvGrpSpPr>
          <p:cNvPr id="24" name="Group 23"/>
          <p:cNvGrpSpPr/>
          <p:nvPr>
            <p:custDataLst>
              <p:tags r:id="rId3"/>
            </p:custDataLst>
          </p:nvPr>
        </p:nvGrpSpPr>
        <p:grpSpPr>
          <a:xfrm>
            <a:off x="4481095" y="4820530"/>
            <a:ext cx="519123" cy="452568"/>
            <a:chOff x="7540014" y="4306907"/>
            <a:chExt cx="389342" cy="339426"/>
          </a:xfrm>
          <a:solidFill>
            <a:sysClr val="window" lastClr="FFFFFF"/>
          </a:solidFill>
        </p:grpSpPr>
        <p:sp>
          <p:nvSpPr>
            <p:cNvPr id="25" name="Freeform 110"/>
            <p:cNvSpPr/>
            <p:nvPr>
              <p:custDataLst>
                <p:tags r:id="rId4"/>
              </p:custDataLst>
            </p:nvPr>
          </p:nvSpPr>
          <p:spPr bwMode="auto">
            <a:xfrm>
              <a:off x="7799575" y="4409234"/>
              <a:ext cx="102328" cy="102328"/>
            </a:xfrm>
            <a:custGeom>
              <a:avLst/>
              <a:gdLst>
                <a:gd name="T0" fmla="*/ 0 w 41"/>
                <a:gd name="T1" fmla="*/ 39 h 41"/>
                <a:gd name="T2" fmla="*/ 3 w 41"/>
                <a:gd name="T3" fmla="*/ 41 h 41"/>
                <a:gd name="T4" fmla="*/ 41 w 41"/>
                <a:gd name="T5" fmla="*/ 3 h 41"/>
                <a:gd name="T6" fmla="*/ 39 w 41"/>
                <a:gd name="T7" fmla="*/ 0 h 41"/>
                <a:gd name="T8" fmla="*/ 0 w 41"/>
                <a:gd name="T9" fmla="*/ 39 h 41"/>
              </a:gdLst>
              <a:ahLst/>
              <a:cxnLst>
                <a:cxn ang="0">
                  <a:pos x="T0" y="T1"/>
                </a:cxn>
                <a:cxn ang="0">
                  <a:pos x="T2" y="T3"/>
                </a:cxn>
                <a:cxn ang="0">
                  <a:pos x="T4" y="T5"/>
                </a:cxn>
                <a:cxn ang="0">
                  <a:pos x="T6" y="T7"/>
                </a:cxn>
                <a:cxn ang="0">
                  <a:pos x="T8" y="T9"/>
                </a:cxn>
              </a:cxnLst>
              <a:rect l="0" t="0" r="r" b="b"/>
              <a:pathLst>
                <a:path w="41" h="41">
                  <a:moveTo>
                    <a:pt x="0" y="39"/>
                  </a:moveTo>
                  <a:lnTo>
                    <a:pt x="3" y="41"/>
                  </a:lnTo>
                  <a:lnTo>
                    <a:pt x="41" y="3"/>
                  </a:lnTo>
                  <a:lnTo>
                    <a:pt x="39" y="0"/>
                  </a:lnTo>
                  <a:lnTo>
                    <a:pt x="0" y="39"/>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6" name="Freeform 111"/>
            <p:cNvSpPr/>
            <p:nvPr>
              <p:custDataLst>
                <p:tags r:id="rId5"/>
              </p:custDataLst>
            </p:nvPr>
          </p:nvSpPr>
          <p:spPr bwMode="auto">
            <a:xfrm>
              <a:off x="7777112" y="4381780"/>
              <a:ext cx="109814" cy="114806"/>
            </a:xfrm>
            <a:custGeom>
              <a:avLst/>
              <a:gdLst>
                <a:gd name="T0" fmla="*/ 37 w 44"/>
                <a:gd name="T1" fmla="*/ 0 h 46"/>
                <a:gd name="T2" fmla="*/ 0 w 44"/>
                <a:gd name="T3" fmla="*/ 39 h 46"/>
                <a:gd name="T4" fmla="*/ 6 w 44"/>
                <a:gd name="T5" fmla="*/ 46 h 46"/>
                <a:gd name="T6" fmla="*/ 44 w 44"/>
                <a:gd name="T7" fmla="*/ 8 h 46"/>
                <a:gd name="T8" fmla="*/ 37 w 44"/>
                <a:gd name="T9" fmla="*/ 0 h 46"/>
              </a:gdLst>
              <a:ahLst/>
              <a:cxnLst>
                <a:cxn ang="0">
                  <a:pos x="T0" y="T1"/>
                </a:cxn>
                <a:cxn ang="0">
                  <a:pos x="T2" y="T3"/>
                </a:cxn>
                <a:cxn ang="0">
                  <a:pos x="T4" y="T5"/>
                </a:cxn>
                <a:cxn ang="0">
                  <a:pos x="T6" y="T7"/>
                </a:cxn>
                <a:cxn ang="0">
                  <a:pos x="T8" y="T9"/>
                </a:cxn>
              </a:cxnLst>
              <a:rect l="0" t="0" r="r" b="b"/>
              <a:pathLst>
                <a:path w="44" h="46">
                  <a:moveTo>
                    <a:pt x="37" y="0"/>
                  </a:moveTo>
                  <a:lnTo>
                    <a:pt x="0" y="39"/>
                  </a:lnTo>
                  <a:lnTo>
                    <a:pt x="6" y="46"/>
                  </a:lnTo>
                  <a:lnTo>
                    <a:pt x="44" y="8"/>
                  </a:lnTo>
                  <a:lnTo>
                    <a:pt x="37"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7" name="Freeform 112"/>
            <p:cNvSpPr/>
            <p:nvPr>
              <p:custDataLst>
                <p:tags r:id="rId6"/>
              </p:custDataLst>
            </p:nvPr>
          </p:nvSpPr>
          <p:spPr bwMode="auto">
            <a:xfrm>
              <a:off x="7757146" y="4366805"/>
              <a:ext cx="104823" cy="104823"/>
            </a:xfrm>
            <a:custGeom>
              <a:avLst/>
              <a:gdLst>
                <a:gd name="T0" fmla="*/ 0 w 42"/>
                <a:gd name="T1" fmla="*/ 38 h 42"/>
                <a:gd name="T2" fmla="*/ 4 w 42"/>
                <a:gd name="T3" fmla="*/ 42 h 42"/>
                <a:gd name="T4" fmla="*/ 42 w 42"/>
                <a:gd name="T5" fmla="*/ 4 h 42"/>
                <a:gd name="T6" fmla="*/ 38 w 42"/>
                <a:gd name="T7" fmla="*/ 0 h 42"/>
                <a:gd name="T8" fmla="*/ 0 w 42"/>
                <a:gd name="T9" fmla="*/ 38 h 42"/>
              </a:gdLst>
              <a:ahLst/>
              <a:cxnLst>
                <a:cxn ang="0">
                  <a:pos x="T0" y="T1"/>
                </a:cxn>
                <a:cxn ang="0">
                  <a:pos x="T2" y="T3"/>
                </a:cxn>
                <a:cxn ang="0">
                  <a:pos x="T4" y="T5"/>
                </a:cxn>
                <a:cxn ang="0">
                  <a:pos x="T6" y="T7"/>
                </a:cxn>
                <a:cxn ang="0">
                  <a:pos x="T8" y="T9"/>
                </a:cxn>
              </a:cxnLst>
              <a:rect l="0" t="0" r="r" b="b"/>
              <a:pathLst>
                <a:path w="42" h="42">
                  <a:moveTo>
                    <a:pt x="0" y="38"/>
                  </a:moveTo>
                  <a:lnTo>
                    <a:pt x="4" y="42"/>
                  </a:lnTo>
                  <a:lnTo>
                    <a:pt x="42" y="4"/>
                  </a:lnTo>
                  <a:lnTo>
                    <a:pt x="38" y="0"/>
                  </a:lnTo>
                  <a:lnTo>
                    <a:pt x="0" y="38"/>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8" name="Freeform 113"/>
            <p:cNvSpPr/>
            <p:nvPr>
              <p:custDataLst>
                <p:tags r:id="rId7"/>
              </p:custDataLst>
            </p:nvPr>
          </p:nvSpPr>
          <p:spPr bwMode="auto">
            <a:xfrm>
              <a:off x="7729693" y="4469133"/>
              <a:ext cx="69882" cy="69882"/>
            </a:xfrm>
            <a:custGeom>
              <a:avLst/>
              <a:gdLst>
                <a:gd name="T0" fmla="*/ 28 w 28"/>
                <a:gd name="T1" fmla="*/ 20 h 28"/>
                <a:gd name="T2" fmla="*/ 8 w 28"/>
                <a:gd name="T3" fmla="*/ 0 h 28"/>
                <a:gd name="T4" fmla="*/ 0 w 28"/>
                <a:gd name="T5" fmla="*/ 20 h 28"/>
                <a:gd name="T6" fmla="*/ 9 w 28"/>
                <a:gd name="T7" fmla="*/ 28 h 28"/>
                <a:gd name="T8" fmla="*/ 28 w 28"/>
                <a:gd name="T9" fmla="*/ 20 h 28"/>
              </a:gdLst>
              <a:ahLst/>
              <a:cxnLst>
                <a:cxn ang="0">
                  <a:pos x="T0" y="T1"/>
                </a:cxn>
                <a:cxn ang="0">
                  <a:pos x="T2" y="T3"/>
                </a:cxn>
                <a:cxn ang="0">
                  <a:pos x="T4" y="T5"/>
                </a:cxn>
                <a:cxn ang="0">
                  <a:pos x="T6" y="T7"/>
                </a:cxn>
                <a:cxn ang="0">
                  <a:pos x="T8" y="T9"/>
                </a:cxn>
              </a:cxnLst>
              <a:rect l="0" t="0" r="r" b="b"/>
              <a:pathLst>
                <a:path w="28" h="28">
                  <a:moveTo>
                    <a:pt x="28" y="20"/>
                  </a:moveTo>
                  <a:lnTo>
                    <a:pt x="8" y="0"/>
                  </a:lnTo>
                  <a:lnTo>
                    <a:pt x="0" y="20"/>
                  </a:lnTo>
                  <a:lnTo>
                    <a:pt x="9" y="28"/>
                  </a:lnTo>
                  <a:lnTo>
                    <a:pt x="28" y="2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9" name="Freeform 114"/>
            <p:cNvSpPr/>
            <p:nvPr>
              <p:custDataLst>
                <p:tags r:id="rId8"/>
              </p:custDataLst>
            </p:nvPr>
          </p:nvSpPr>
          <p:spPr bwMode="auto">
            <a:xfrm>
              <a:off x="7712222" y="4526535"/>
              <a:ext cx="34941" cy="32446"/>
            </a:xfrm>
            <a:custGeom>
              <a:avLst/>
              <a:gdLst>
                <a:gd name="T0" fmla="*/ 0 w 14"/>
                <a:gd name="T1" fmla="*/ 13 h 13"/>
                <a:gd name="T2" fmla="*/ 14 w 14"/>
                <a:gd name="T3" fmla="*/ 6 h 13"/>
                <a:gd name="T4" fmla="*/ 6 w 14"/>
                <a:gd name="T5" fmla="*/ 0 h 13"/>
                <a:gd name="T6" fmla="*/ 0 w 14"/>
                <a:gd name="T7" fmla="*/ 13 h 13"/>
              </a:gdLst>
              <a:ahLst/>
              <a:cxnLst>
                <a:cxn ang="0">
                  <a:pos x="T0" y="T1"/>
                </a:cxn>
                <a:cxn ang="0">
                  <a:pos x="T2" y="T3"/>
                </a:cxn>
                <a:cxn ang="0">
                  <a:pos x="T4" y="T5"/>
                </a:cxn>
                <a:cxn ang="0">
                  <a:pos x="T6" y="T7"/>
                </a:cxn>
              </a:cxnLst>
              <a:rect l="0" t="0" r="r" b="b"/>
              <a:pathLst>
                <a:path w="14" h="13">
                  <a:moveTo>
                    <a:pt x="0" y="13"/>
                  </a:moveTo>
                  <a:lnTo>
                    <a:pt x="14" y="6"/>
                  </a:lnTo>
                  <a:lnTo>
                    <a:pt x="6" y="0"/>
                  </a:lnTo>
                  <a:lnTo>
                    <a:pt x="0" y="13"/>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0" name="Freeform 115"/>
            <p:cNvSpPr/>
            <p:nvPr>
              <p:custDataLst>
                <p:tags r:id="rId9"/>
              </p:custDataLst>
            </p:nvPr>
          </p:nvSpPr>
          <p:spPr bwMode="auto">
            <a:xfrm>
              <a:off x="7859474" y="4341848"/>
              <a:ext cx="69882" cy="69882"/>
            </a:xfrm>
            <a:custGeom>
              <a:avLst/>
              <a:gdLst>
                <a:gd name="T0" fmla="*/ 7 w 28"/>
                <a:gd name="T1" fmla="*/ 0 h 28"/>
                <a:gd name="T2" fmla="*/ 0 w 28"/>
                <a:gd name="T3" fmla="*/ 8 h 28"/>
                <a:gd name="T4" fmla="*/ 20 w 28"/>
                <a:gd name="T5" fmla="*/ 28 h 28"/>
                <a:gd name="T6" fmla="*/ 28 w 28"/>
                <a:gd name="T7" fmla="*/ 20 h 28"/>
                <a:gd name="T8" fmla="*/ 7 w 28"/>
                <a:gd name="T9" fmla="*/ 0 h 28"/>
              </a:gdLst>
              <a:ahLst/>
              <a:cxnLst>
                <a:cxn ang="0">
                  <a:pos x="T0" y="T1"/>
                </a:cxn>
                <a:cxn ang="0">
                  <a:pos x="T2" y="T3"/>
                </a:cxn>
                <a:cxn ang="0">
                  <a:pos x="T4" y="T5"/>
                </a:cxn>
                <a:cxn ang="0">
                  <a:pos x="T6" y="T7"/>
                </a:cxn>
                <a:cxn ang="0">
                  <a:pos x="T8" y="T9"/>
                </a:cxn>
              </a:cxnLst>
              <a:rect l="0" t="0" r="r" b="b"/>
              <a:pathLst>
                <a:path w="28" h="28">
                  <a:moveTo>
                    <a:pt x="7" y="0"/>
                  </a:moveTo>
                  <a:lnTo>
                    <a:pt x="0" y="8"/>
                  </a:lnTo>
                  <a:lnTo>
                    <a:pt x="20" y="28"/>
                  </a:lnTo>
                  <a:lnTo>
                    <a:pt x="28" y="20"/>
                  </a:lnTo>
                  <a:lnTo>
                    <a:pt x="7"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1" name="Freeform 116"/>
            <p:cNvSpPr/>
            <p:nvPr>
              <p:custDataLst>
                <p:tags r:id="rId10"/>
              </p:custDataLst>
            </p:nvPr>
          </p:nvSpPr>
          <p:spPr bwMode="auto">
            <a:xfrm>
              <a:off x="7540014" y="4306907"/>
              <a:ext cx="279527" cy="339426"/>
            </a:xfrm>
            <a:custGeom>
              <a:avLst/>
              <a:gdLst>
                <a:gd name="T0" fmla="*/ 104 w 112"/>
                <a:gd name="T1" fmla="*/ 101 h 136"/>
                <a:gd name="T2" fmla="*/ 83 w 112"/>
                <a:gd name="T3" fmla="*/ 101 h 136"/>
                <a:gd name="T4" fmla="*/ 83 w 112"/>
                <a:gd name="T5" fmla="*/ 129 h 136"/>
                <a:gd name="T6" fmla="*/ 7 w 112"/>
                <a:gd name="T7" fmla="*/ 129 h 136"/>
                <a:gd name="T8" fmla="*/ 7 w 112"/>
                <a:gd name="T9" fmla="*/ 32 h 136"/>
                <a:gd name="T10" fmla="*/ 104 w 112"/>
                <a:gd name="T11" fmla="*/ 32 h 136"/>
                <a:gd name="T12" fmla="*/ 104 w 112"/>
                <a:gd name="T13" fmla="*/ 40 h 136"/>
                <a:gd name="T14" fmla="*/ 112 w 112"/>
                <a:gd name="T15" fmla="*/ 32 h 136"/>
                <a:gd name="T16" fmla="*/ 112 w 112"/>
                <a:gd name="T17" fmla="*/ 6 h 136"/>
                <a:gd name="T18" fmla="*/ 97 w 112"/>
                <a:gd name="T19" fmla="*/ 6 h 136"/>
                <a:gd name="T20" fmla="*/ 97 w 112"/>
                <a:gd name="T21" fmla="*/ 20 h 136"/>
                <a:gd name="T22" fmla="*/ 95 w 112"/>
                <a:gd name="T23" fmla="*/ 20 h 136"/>
                <a:gd name="T24" fmla="*/ 95 w 112"/>
                <a:gd name="T25" fmla="*/ 0 h 136"/>
                <a:gd name="T26" fmla="*/ 89 w 112"/>
                <a:gd name="T27" fmla="*/ 0 h 136"/>
                <a:gd name="T28" fmla="*/ 89 w 112"/>
                <a:gd name="T29" fmla="*/ 20 h 136"/>
                <a:gd name="T30" fmla="*/ 87 w 112"/>
                <a:gd name="T31" fmla="*/ 20 h 136"/>
                <a:gd name="T32" fmla="*/ 87 w 112"/>
                <a:gd name="T33" fmla="*/ 6 h 136"/>
                <a:gd name="T34" fmla="*/ 79 w 112"/>
                <a:gd name="T35" fmla="*/ 6 h 136"/>
                <a:gd name="T36" fmla="*/ 79 w 112"/>
                <a:gd name="T37" fmla="*/ 20 h 136"/>
                <a:gd name="T38" fmla="*/ 76 w 112"/>
                <a:gd name="T39" fmla="*/ 20 h 136"/>
                <a:gd name="T40" fmla="*/ 76 w 112"/>
                <a:gd name="T41" fmla="*/ 0 h 136"/>
                <a:gd name="T42" fmla="*/ 72 w 112"/>
                <a:gd name="T43" fmla="*/ 0 h 136"/>
                <a:gd name="T44" fmla="*/ 72 w 112"/>
                <a:gd name="T45" fmla="*/ 20 h 136"/>
                <a:gd name="T46" fmla="*/ 68 w 112"/>
                <a:gd name="T47" fmla="*/ 20 h 136"/>
                <a:gd name="T48" fmla="*/ 68 w 112"/>
                <a:gd name="T49" fmla="*/ 6 h 136"/>
                <a:gd name="T50" fmla="*/ 60 w 112"/>
                <a:gd name="T51" fmla="*/ 6 h 136"/>
                <a:gd name="T52" fmla="*/ 60 w 112"/>
                <a:gd name="T53" fmla="*/ 20 h 136"/>
                <a:gd name="T54" fmla="*/ 57 w 112"/>
                <a:gd name="T55" fmla="*/ 20 h 136"/>
                <a:gd name="T56" fmla="*/ 57 w 112"/>
                <a:gd name="T57" fmla="*/ 0 h 136"/>
                <a:gd name="T58" fmla="*/ 53 w 112"/>
                <a:gd name="T59" fmla="*/ 0 h 136"/>
                <a:gd name="T60" fmla="*/ 53 w 112"/>
                <a:gd name="T61" fmla="*/ 20 h 136"/>
                <a:gd name="T62" fmla="*/ 51 w 112"/>
                <a:gd name="T63" fmla="*/ 20 h 136"/>
                <a:gd name="T64" fmla="*/ 51 w 112"/>
                <a:gd name="T65" fmla="*/ 6 h 136"/>
                <a:gd name="T66" fmla="*/ 43 w 112"/>
                <a:gd name="T67" fmla="*/ 6 h 136"/>
                <a:gd name="T68" fmla="*/ 43 w 112"/>
                <a:gd name="T69" fmla="*/ 20 h 136"/>
                <a:gd name="T70" fmla="*/ 40 w 112"/>
                <a:gd name="T71" fmla="*/ 20 h 136"/>
                <a:gd name="T72" fmla="*/ 40 w 112"/>
                <a:gd name="T73" fmla="*/ 0 h 136"/>
                <a:gd name="T74" fmla="*/ 35 w 112"/>
                <a:gd name="T75" fmla="*/ 0 h 136"/>
                <a:gd name="T76" fmla="*/ 35 w 112"/>
                <a:gd name="T77" fmla="*/ 20 h 136"/>
                <a:gd name="T78" fmla="*/ 32 w 112"/>
                <a:gd name="T79" fmla="*/ 20 h 136"/>
                <a:gd name="T80" fmla="*/ 32 w 112"/>
                <a:gd name="T81" fmla="*/ 6 h 136"/>
                <a:gd name="T82" fmla="*/ 25 w 112"/>
                <a:gd name="T83" fmla="*/ 6 h 136"/>
                <a:gd name="T84" fmla="*/ 25 w 112"/>
                <a:gd name="T85" fmla="*/ 20 h 136"/>
                <a:gd name="T86" fmla="*/ 23 w 112"/>
                <a:gd name="T87" fmla="*/ 20 h 136"/>
                <a:gd name="T88" fmla="*/ 23 w 112"/>
                <a:gd name="T89" fmla="*/ 0 h 136"/>
                <a:gd name="T90" fmla="*/ 17 w 112"/>
                <a:gd name="T91" fmla="*/ 0 h 136"/>
                <a:gd name="T92" fmla="*/ 17 w 112"/>
                <a:gd name="T93" fmla="*/ 20 h 136"/>
                <a:gd name="T94" fmla="*/ 15 w 112"/>
                <a:gd name="T95" fmla="*/ 20 h 136"/>
                <a:gd name="T96" fmla="*/ 15 w 112"/>
                <a:gd name="T97" fmla="*/ 6 h 136"/>
                <a:gd name="T98" fmla="*/ 0 w 112"/>
                <a:gd name="T99" fmla="*/ 6 h 136"/>
                <a:gd name="T100" fmla="*/ 0 w 112"/>
                <a:gd name="T101" fmla="*/ 24 h 136"/>
                <a:gd name="T102" fmla="*/ 0 w 112"/>
                <a:gd name="T103" fmla="*/ 28 h 136"/>
                <a:gd name="T104" fmla="*/ 0 w 112"/>
                <a:gd name="T105" fmla="*/ 136 h 136"/>
                <a:gd name="T106" fmla="*/ 89 w 112"/>
                <a:gd name="T107" fmla="*/ 136 h 136"/>
                <a:gd name="T108" fmla="*/ 112 w 112"/>
                <a:gd name="T109" fmla="*/ 110 h 136"/>
                <a:gd name="T110" fmla="*/ 112 w 112"/>
                <a:gd name="T111" fmla="*/ 84 h 136"/>
                <a:gd name="T112" fmla="*/ 104 w 112"/>
                <a:gd name="T113" fmla="*/ 92 h 136"/>
                <a:gd name="T114" fmla="*/ 104 w 112"/>
                <a:gd name="T115" fmla="*/ 10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2" name="Rectangle 117"/>
            <p:cNvSpPr>
              <a:spLocks noChangeArrowheads="1"/>
            </p:cNvSpPr>
            <p:nvPr>
              <p:custDataLst>
                <p:tags r:id="rId11"/>
              </p:custDataLst>
            </p:nvPr>
          </p:nvSpPr>
          <p:spPr bwMode="auto">
            <a:xfrm>
              <a:off x="7589930" y="4421713"/>
              <a:ext cx="109814" cy="17471"/>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8" name="Rectangle 118"/>
            <p:cNvSpPr>
              <a:spLocks noChangeArrowheads="1"/>
            </p:cNvSpPr>
            <p:nvPr>
              <p:custDataLst>
                <p:tags r:id="rId12"/>
              </p:custDataLst>
            </p:nvPr>
          </p:nvSpPr>
          <p:spPr bwMode="auto">
            <a:xfrm>
              <a:off x="7589930" y="4461645"/>
              <a:ext cx="109814" cy="17471"/>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9" name="Rectangle 119"/>
            <p:cNvSpPr>
              <a:spLocks noChangeArrowheads="1"/>
            </p:cNvSpPr>
            <p:nvPr>
              <p:custDataLst>
                <p:tags r:id="rId13"/>
              </p:custDataLst>
            </p:nvPr>
          </p:nvSpPr>
          <p:spPr bwMode="auto">
            <a:xfrm>
              <a:off x="7589930" y="4506569"/>
              <a:ext cx="109814" cy="14975"/>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40" name="Rectangle 120"/>
            <p:cNvSpPr>
              <a:spLocks noChangeArrowheads="1"/>
            </p:cNvSpPr>
            <p:nvPr>
              <p:custDataLst>
                <p:tags r:id="rId14"/>
              </p:custDataLst>
            </p:nvPr>
          </p:nvSpPr>
          <p:spPr bwMode="auto">
            <a:xfrm>
              <a:off x="7589930" y="4548998"/>
              <a:ext cx="109814" cy="17471"/>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grpSp>
      <p:grpSp>
        <p:nvGrpSpPr>
          <p:cNvPr id="60" name="Group 54"/>
          <p:cNvGrpSpPr/>
          <p:nvPr>
            <p:custDataLst>
              <p:tags r:id="rId15"/>
            </p:custDataLst>
          </p:nvPr>
        </p:nvGrpSpPr>
        <p:grpSpPr>
          <a:xfrm>
            <a:off x="7141207" y="4822864"/>
            <a:ext cx="399325" cy="519123"/>
            <a:chOff x="6421904" y="4798576"/>
            <a:chExt cx="299494" cy="389342"/>
          </a:xfrm>
          <a:solidFill>
            <a:sysClr val="window" lastClr="FFFFFF"/>
          </a:solidFill>
        </p:grpSpPr>
        <p:sp>
          <p:nvSpPr>
            <p:cNvPr id="61" name="Freeform 170"/>
            <p:cNvSpPr/>
            <p:nvPr>
              <p:custDataLst>
                <p:tags r:id="rId16"/>
              </p:custDataLst>
            </p:nvPr>
          </p:nvSpPr>
          <p:spPr bwMode="auto">
            <a:xfrm>
              <a:off x="6421904" y="4910886"/>
              <a:ext cx="299494" cy="277032"/>
            </a:xfrm>
            <a:custGeom>
              <a:avLst/>
              <a:gdLst>
                <a:gd name="T0" fmla="*/ 45 w 90"/>
                <a:gd name="T1" fmla="*/ 83 h 83"/>
                <a:gd name="T2" fmla="*/ 90 w 90"/>
                <a:gd name="T3" fmla="*/ 0 h 83"/>
                <a:gd name="T4" fmla="*/ 0 w 90"/>
                <a:gd name="T5" fmla="*/ 0 h 83"/>
                <a:gd name="T6" fmla="*/ 45 w 90"/>
                <a:gd name="T7" fmla="*/ 83 h 83"/>
              </a:gdLst>
              <a:ahLst/>
              <a:cxnLst>
                <a:cxn ang="0">
                  <a:pos x="T0" y="T1"/>
                </a:cxn>
                <a:cxn ang="0">
                  <a:pos x="T2" y="T3"/>
                </a:cxn>
                <a:cxn ang="0">
                  <a:pos x="T4" y="T5"/>
                </a:cxn>
                <a:cxn ang="0">
                  <a:pos x="T6" y="T7"/>
                </a:cxn>
              </a:cxnLst>
              <a:rect l="0" t="0" r="r" b="b"/>
              <a:pathLst>
                <a:path w="90" h="83">
                  <a:moveTo>
                    <a:pt x="45" y="83"/>
                  </a:moveTo>
                  <a:cubicBezTo>
                    <a:pt x="90" y="59"/>
                    <a:pt x="90" y="0"/>
                    <a:pt x="90" y="0"/>
                  </a:cubicBezTo>
                  <a:cubicBezTo>
                    <a:pt x="0" y="0"/>
                    <a:pt x="0" y="0"/>
                    <a:pt x="0" y="0"/>
                  </a:cubicBezTo>
                  <a:cubicBezTo>
                    <a:pt x="0" y="0"/>
                    <a:pt x="0" y="59"/>
                    <a:pt x="45" y="83"/>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62" name="Freeform 171"/>
            <p:cNvSpPr/>
            <p:nvPr>
              <p:custDataLst>
                <p:tags r:id="rId17"/>
              </p:custDataLst>
            </p:nvPr>
          </p:nvSpPr>
          <p:spPr bwMode="auto">
            <a:xfrm>
              <a:off x="6421904" y="4798576"/>
              <a:ext cx="299494" cy="94840"/>
            </a:xfrm>
            <a:custGeom>
              <a:avLst/>
              <a:gdLst>
                <a:gd name="T0" fmla="*/ 84 w 90"/>
                <a:gd name="T1" fmla="*/ 0 h 29"/>
                <a:gd name="T2" fmla="*/ 68 w 90"/>
                <a:gd name="T3" fmla="*/ 16 h 29"/>
                <a:gd name="T4" fmla="*/ 52 w 90"/>
                <a:gd name="T5" fmla="*/ 0 h 29"/>
                <a:gd name="T6" fmla="*/ 39 w 90"/>
                <a:gd name="T7" fmla="*/ 0 h 29"/>
                <a:gd name="T8" fmla="*/ 23 w 90"/>
                <a:gd name="T9" fmla="*/ 16 h 29"/>
                <a:gd name="T10" fmla="*/ 7 w 90"/>
                <a:gd name="T11" fmla="*/ 0 h 29"/>
                <a:gd name="T12" fmla="*/ 0 w 90"/>
                <a:gd name="T13" fmla="*/ 0 h 29"/>
                <a:gd name="T14" fmla="*/ 0 w 90"/>
                <a:gd name="T15" fmla="*/ 29 h 29"/>
                <a:gd name="T16" fmla="*/ 90 w 90"/>
                <a:gd name="T17" fmla="*/ 29 h 29"/>
                <a:gd name="T18" fmla="*/ 90 w 90"/>
                <a:gd name="T19" fmla="*/ 0 h 29"/>
                <a:gd name="T20" fmla="*/ 84 w 90"/>
                <a:gd name="T2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grpSp>
      <p:sp>
        <p:nvSpPr>
          <p:cNvPr id="67" name="矩形 66"/>
          <p:cNvSpPr>
            <a:spLocks noChangeArrowheads="1"/>
          </p:cNvSpPr>
          <p:nvPr>
            <p:custDataLst>
              <p:tags r:id="rId18"/>
            </p:custDataLst>
          </p:nvPr>
        </p:nvSpPr>
        <p:spPr bwMode="auto">
          <a:xfrm>
            <a:off x="3919539" y="5629034"/>
            <a:ext cx="1550987" cy="419100"/>
          </a:xfrm>
          <a:prstGeom prst="rect">
            <a:avLst/>
          </a:prstGeom>
          <a:noFill/>
          <a:ln w="9525">
            <a:noFill/>
            <a:miter lim="800000"/>
          </a:ln>
        </p:spPr>
        <p:txBody>
          <a:bodyPr lIns="91431" tIns="45716" rIns="91431" bIns="45716">
            <a:spAutoFit/>
          </a:bodyPr>
          <a:lstStyle/>
          <a:p>
            <a:pPr algn="ctr" defTabSz="1219200"/>
            <a:r>
              <a:rPr lang="zh-CN" altLang="en-US" sz="2135" b="1" dirty="0">
                <a:solidFill>
                  <a:prstClr val="black">
                    <a:lumMod val="65000"/>
                    <a:lumOff val="35000"/>
                  </a:prstClr>
                </a:solidFill>
                <a:latin typeface="微软雅黑" panose="020B0503020204020204" charset="-122"/>
                <a:ea typeface="微软雅黑" panose="020B0503020204020204" charset="-122"/>
              </a:rPr>
              <a:t>组件状态</a:t>
            </a:r>
            <a:endParaRPr lang="en-US" altLang="zh-CN" sz="2135" b="1" dirty="0">
              <a:solidFill>
                <a:prstClr val="black">
                  <a:lumMod val="65000"/>
                  <a:lumOff val="35000"/>
                </a:prstClr>
              </a:solidFill>
              <a:latin typeface="微软雅黑" panose="020B0503020204020204" charset="-122"/>
              <a:ea typeface="微软雅黑" panose="020B0503020204020204" charset="-122"/>
            </a:endParaRPr>
          </a:p>
        </p:txBody>
      </p:sp>
      <p:sp>
        <p:nvSpPr>
          <p:cNvPr id="71" name="矩形 70"/>
          <p:cNvSpPr>
            <a:spLocks noChangeArrowheads="1"/>
          </p:cNvSpPr>
          <p:nvPr>
            <p:custDataLst>
              <p:tags r:id="rId19"/>
            </p:custDataLst>
          </p:nvPr>
        </p:nvSpPr>
        <p:spPr bwMode="auto">
          <a:xfrm>
            <a:off x="5945505" y="5632450"/>
            <a:ext cx="2780030" cy="419100"/>
          </a:xfrm>
          <a:prstGeom prst="rect">
            <a:avLst/>
          </a:prstGeom>
          <a:noFill/>
          <a:ln w="9525">
            <a:noFill/>
            <a:miter lim="800000"/>
          </a:ln>
        </p:spPr>
        <p:txBody>
          <a:bodyPr wrap="square" lIns="91431" tIns="45716" rIns="91431" bIns="45716">
            <a:spAutoFit/>
          </a:bodyPr>
          <a:lstStyle/>
          <a:p>
            <a:pPr algn="ctr" defTabSz="1219200"/>
            <a:r>
              <a:rPr lang="zh-CN" altLang="en-US" sz="2135" b="1" dirty="0">
                <a:solidFill>
                  <a:prstClr val="black">
                    <a:lumMod val="65000"/>
                    <a:lumOff val="35000"/>
                  </a:prstClr>
                </a:solidFill>
                <a:latin typeface="微软雅黑" panose="020B0503020204020204" charset="-122"/>
                <a:ea typeface="微软雅黑" panose="020B0503020204020204" charset="-122"/>
              </a:rPr>
              <a:t>中间品与成品状态</a:t>
            </a:r>
            <a:endParaRPr lang="en-US" altLang="zh-CN" sz="2135" b="1" dirty="0">
              <a:solidFill>
                <a:prstClr val="black">
                  <a:lumMod val="65000"/>
                  <a:lumOff val="35000"/>
                </a:prstClr>
              </a:solidFill>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20">
            <a:clrChange>
              <a:clrFrom>
                <a:srgbClr val="FFFFFF">
                  <a:alpha val="100000"/>
                </a:srgbClr>
              </a:clrFrom>
              <a:clrTo>
                <a:srgbClr val="FFFFFF">
                  <a:alpha val="100000"/>
                  <a:alpha val="0"/>
                </a:srgbClr>
              </a:clrTo>
            </a:clrChange>
          </a:blip>
          <a:stretch>
            <a:fillRect/>
          </a:stretch>
        </p:blipFill>
        <p:spPr>
          <a:xfrm>
            <a:off x="965200" y="806450"/>
            <a:ext cx="10445750" cy="3808095"/>
          </a:xfrm>
          <a:prstGeom prst="rect">
            <a:avLst/>
          </a:prstGeom>
        </p:spPr>
      </p:pic>
      <p:pic>
        <p:nvPicPr>
          <p:cNvPr id="11" name="图片 10"/>
          <p:cNvPicPr>
            <a:picLocks noChangeAspect="1"/>
          </p:cNvPicPr>
          <p:nvPr/>
        </p:nvPicPr>
        <p:blipFill>
          <a:blip r:embed="rId21"/>
          <a:stretch>
            <a:fillRect/>
          </a:stretch>
        </p:blipFill>
        <p:spPr>
          <a:xfrm>
            <a:off x="3919855" y="6051550"/>
            <a:ext cx="1495425" cy="533400"/>
          </a:xfrm>
          <a:prstGeom prst="rect">
            <a:avLst/>
          </a:prstGeom>
        </p:spPr>
      </p:pic>
      <p:pic>
        <p:nvPicPr>
          <p:cNvPr id="12" name="图片 11"/>
          <p:cNvPicPr>
            <a:picLocks noChangeAspect="1"/>
          </p:cNvPicPr>
          <p:nvPr/>
        </p:nvPicPr>
        <p:blipFill>
          <a:blip r:embed="rId22"/>
          <a:stretch>
            <a:fillRect/>
          </a:stretch>
        </p:blipFill>
        <p:spPr>
          <a:xfrm>
            <a:off x="6061710" y="6051550"/>
            <a:ext cx="2981325" cy="381000"/>
          </a:xfrm>
          <a:prstGeom prst="rect">
            <a:avLst/>
          </a:prstGeom>
        </p:spPr>
      </p:pic>
      <p:sp>
        <p:nvSpPr>
          <p:cNvPr id="13" name="文本框 12"/>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93041"/>
            <a:chOff x="335361" y="116633"/>
            <a:chExt cx="11521279" cy="693041"/>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问题三：模型建立</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grpSp>
        <p:nvGrpSpPr>
          <p:cNvPr id="23" name="ïṡļíḓè"/>
          <p:cNvGrpSpPr/>
          <p:nvPr>
            <p:custDataLst>
              <p:tags r:id="rId1"/>
            </p:custDataLst>
          </p:nvPr>
        </p:nvGrpSpPr>
        <p:grpSpPr>
          <a:xfrm>
            <a:off x="3498850" y="4806950"/>
            <a:ext cx="1029335" cy="1003935"/>
            <a:chOff x="4392540" y="3822226"/>
            <a:chExt cx="658024" cy="658024"/>
          </a:xfrm>
          <a:solidFill>
            <a:srgbClr val="004593"/>
          </a:solidFill>
        </p:grpSpPr>
        <p:sp>
          <p:nvSpPr>
            <p:cNvPr id="24" name="î$ḷïḍê"/>
            <p:cNvSpPr/>
            <p:nvPr>
              <p:custDataLst>
                <p:tags r:id="rId2"/>
              </p:custDataLst>
            </p:nvPr>
          </p:nvSpPr>
          <p:spPr>
            <a:xfrm>
              <a:off x="4392540" y="3822226"/>
              <a:ext cx="658024" cy="658024"/>
            </a:xfrm>
            <a:prstGeom prst="ellipse">
              <a:avLst/>
            </a:prstGeom>
            <a:solidFill>
              <a:srgbClr val="961318"/>
            </a:solidFill>
            <a:ln w="28575" cap="rnd"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lnSpcReduction="10000"/>
            </a:bodyPr>
            <a:lstStyle/>
            <a:p>
              <a:pPr algn="ctr" defTabSz="914400">
                <a:defRPr/>
              </a:pPr>
              <a:endParaRPr lang="zh-CN" altLang="en-US" sz="2000" b="1" kern="0" dirty="0">
                <a:solidFill>
                  <a:prstClr val="white"/>
                </a:solidFill>
                <a:latin typeface="Arial" panose="020B0604020202020204"/>
                <a:ea typeface="微软雅黑 Light" panose="020B0502040204020203" pitchFamily="34" charset="-122"/>
              </a:endParaRPr>
            </a:p>
          </p:txBody>
        </p:sp>
        <p:sp>
          <p:nvSpPr>
            <p:cNvPr id="25" name="íṧľïḓê"/>
            <p:cNvSpPr/>
            <p:nvPr>
              <p:custDataLst>
                <p:tags r:id="rId3"/>
              </p:custDataLst>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9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defRPr/>
              </a:pPr>
              <a:endParaRPr lang="zh-CN" altLang="en-US" sz="2000" b="1" dirty="0">
                <a:solidFill>
                  <a:prstClr val="white"/>
                </a:solidFill>
                <a:latin typeface="Arial" panose="020B0604020202020204"/>
                <a:ea typeface="微软雅黑 Light" panose="020B0502040204020203" pitchFamily="34" charset="-122"/>
              </a:endParaRPr>
            </a:p>
          </p:txBody>
        </p:sp>
      </p:grpSp>
      <p:grpSp>
        <p:nvGrpSpPr>
          <p:cNvPr id="26" name="îṣľíḑe"/>
          <p:cNvGrpSpPr/>
          <p:nvPr/>
        </p:nvGrpSpPr>
        <p:grpSpPr>
          <a:xfrm>
            <a:off x="1127760" y="4506595"/>
            <a:ext cx="2371725" cy="1483995"/>
            <a:chOff x="1959360" y="3895171"/>
            <a:chExt cx="1627197" cy="993046"/>
          </a:xfrm>
        </p:grpSpPr>
        <p:sp>
          <p:nvSpPr>
            <p:cNvPr id="27" name="ïṥļïḋe"/>
            <p:cNvSpPr txBox="1"/>
            <p:nvPr/>
          </p:nvSpPr>
          <p:spPr>
            <a:xfrm>
              <a:off x="1959360" y="3895171"/>
              <a:ext cx="1627197" cy="42182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913765">
                <a:buSzPct val="25000"/>
                <a:defRPr/>
              </a:pPr>
              <a:r>
                <a:rPr lang="zh-CN" altLang="de-DE" sz="2800" b="1" dirty="0">
                  <a:solidFill>
                    <a:prstClr val="black"/>
                  </a:solidFill>
                  <a:latin typeface="微软雅黑" panose="020B0503020204020204" charset="-122"/>
                  <a:ea typeface="微软雅黑" panose="020B0503020204020204" charset="-122"/>
                </a:rPr>
                <a:t>检测决策</a:t>
              </a:r>
              <a:endParaRPr lang="zh-CN" altLang="de-DE" sz="2800" b="1" dirty="0">
                <a:solidFill>
                  <a:prstClr val="black"/>
                </a:solidFill>
                <a:latin typeface="微软雅黑" panose="020B0503020204020204" charset="-122"/>
                <a:ea typeface="微软雅黑" panose="020B0503020204020204" charset="-122"/>
              </a:endParaRPr>
            </a:p>
          </p:txBody>
        </p:sp>
        <p:sp>
          <p:nvSpPr>
            <p:cNvPr id="28" name="ïş1iḑê"/>
            <p:cNvSpPr txBox="1"/>
            <p:nvPr>
              <p:custDataLst>
                <p:tags r:id="rId4"/>
              </p:custDataLst>
            </p:nvPr>
          </p:nvSpPr>
          <p:spPr>
            <a:xfrm>
              <a:off x="1959360" y="4316992"/>
              <a:ext cx="1627197" cy="57122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spcBef>
                  <a:spcPct val="0"/>
                </a:spcBef>
                <a:defRPr/>
              </a:pPr>
              <a:r>
                <a:rPr lang="en-US" altLang="zh-CN" sz="3600" dirty="0">
                  <a:solidFill>
                    <a:prstClr val="black"/>
                  </a:solidFill>
                  <a:latin typeface="Cambria" panose="02040503050406030204" charset="0"/>
                  <a:ea typeface="微软雅黑 Light" panose="020B0502040204020203" pitchFamily="34" charset="-122"/>
                  <a:cs typeface="Cambria" panose="02040503050406030204" charset="0"/>
                </a:rPr>
                <a:t>isp</a:t>
              </a:r>
              <a:endParaRPr lang="en-US" altLang="zh-CN" sz="3600" dirty="0">
                <a:solidFill>
                  <a:prstClr val="black"/>
                </a:solidFill>
                <a:latin typeface="Cambria" panose="02040503050406030204" charset="0"/>
                <a:ea typeface="微软雅黑 Light" panose="020B0502040204020203" pitchFamily="34" charset="-122"/>
                <a:cs typeface="Cambria" panose="02040503050406030204" charset="0"/>
              </a:endParaRPr>
            </a:p>
          </p:txBody>
        </p:sp>
      </p:grpSp>
      <p:grpSp>
        <p:nvGrpSpPr>
          <p:cNvPr id="35" name="íśľiďê"/>
          <p:cNvGrpSpPr/>
          <p:nvPr/>
        </p:nvGrpSpPr>
        <p:grpSpPr>
          <a:xfrm>
            <a:off x="8166100" y="4795520"/>
            <a:ext cx="1003935" cy="1020445"/>
            <a:chOff x="4392540" y="3822226"/>
            <a:chExt cx="658024" cy="658024"/>
          </a:xfrm>
        </p:grpSpPr>
        <p:sp>
          <p:nvSpPr>
            <p:cNvPr id="36" name="îṩľîḓé"/>
            <p:cNvSpPr/>
            <p:nvPr>
              <p:custDataLst>
                <p:tags r:id="rId5"/>
              </p:custDataLst>
            </p:nvPr>
          </p:nvSpPr>
          <p:spPr>
            <a:xfrm>
              <a:off x="4392540" y="3822226"/>
              <a:ext cx="658024" cy="658024"/>
            </a:xfrm>
            <a:prstGeom prst="ellipse">
              <a:avLst/>
            </a:prstGeom>
            <a:solidFill>
              <a:srgbClr val="961318"/>
            </a:solidFill>
            <a:ln w="28575" cap="rnd"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lnSpcReduction="10000"/>
            </a:bodyPr>
            <a:lstStyle/>
            <a:p>
              <a:pPr algn="ctr" defTabSz="914400">
                <a:defRPr/>
              </a:pPr>
              <a:endParaRPr lang="zh-CN" altLang="en-US" sz="2000" b="1" kern="0" dirty="0">
                <a:solidFill>
                  <a:prstClr val="white"/>
                </a:solidFill>
                <a:latin typeface="Arial" panose="020B0604020202020204"/>
                <a:ea typeface="微软雅黑 Light" panose="020B0502040204020203" pitchFamily="34" charset="-122"/>
              </a:endParaRPr>
            </a:p>
          </p:txBody>
        </p:sp>
        <p:sp>
          <p:nvSpPr>
            <p:cNvPr id="37" name="îṡļïḑê"/>
            <p:cNvSpPr/>
            <p:nvPr>
              <p:custDataLst>
                <p:tags r:id="rId6"/>
              </p:custDataLst>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9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defRPr/>
              </a:pPr>
              <a:endParaRPr lang="zh-CN" altLang="en-US" sz="2000" b="1" dirty="0">
                <a:solidFill>
                  <a:prstClr val="white"/>
                </a:solidFill>
                <a:latin typeface="Arial" panose="020B0604020202020204"/>
                <a:ea typeface="微软雅黑 Light" panose="020B0502040204020203" pitchFamily="34" charset="-122"/>
              </a:endParaRPr>
            </a:p>
          </p:txBody>
        </p:sp>
      </p:grpSp>
      <p:grpSp>
        <p:nvGrpSpPr>
          <p:cNvPr id="38" name="îślîḓé"/>
          <p:cNvGrpSpPr/>
          <p:nvPr>
            <p:custDataLst>
              <p:tags r:id="rId7"/>
            </p:custDataLst>
          </p:nvPr>
        </p:nvGrpSpPr>
        <p:grpSpPr>
          <a:xfrm>
            <a:off x="9617710" y="4474210"/>
            <a:ext cx="2109470" cy="1669415"/>
            <a:chOff x="8645557" y="1416657"/>
            <a:chExt cx="2307365" cy="993046"/>
          </a:xfrm>
        </p:grpSpPr>
        <p:sp>
          <p:nvSpPr>
            <p:cNvPr id="39" name="ï$lîḑè"/>
            <p:cNvSpPr txBox="1"/>
            <p:nvPr/>
          </p:nvSpPr>
          <p:spPr>
            <a:xfrm>
              <a:off x="8645557" y="1416657"/>
              <a:ext cx="2307365" cy="421821"/>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3765">
                <a:buSzPct val="25000"/>
                <a:defRPr/>
              </a:pPr>
              <a:r>
                <a:rPr lang="zh-CN" altLang="en-US" sz="2800" b="1" dirty="0">
                  <a:solidFill>
                    <a:prstClr val="black"/>
                  </a:solidFill>
                  <a:latin typeface="微软雅黑" panose="020B0503020204020204" charset="-122"/>
                  <a:ea typeface="微软雅黑" panose="020B0503020204020204" charset="-122"/>
                </a:rPr>
                <a:t>拆解决策</a:t>
              </a:r>
              <a:endParaRPr lang="zh-CN" altLang="en-US" sz="2800" b="1" dirty="0">
                <a:solidFill>
                  <a:prstClr val="black"/>
                </a:solidFill>
                <a:latin typeface="微软雅黑" panose="020B0503020204020204" charset="-122"/>
                <a:ea typeface="微软雅黑" panose="020B0503020204020204" charset="-122"/>
              </a:endParaRPr>
            </a:p>
          </p:txBody>
        </p:sp>
        <p:sp>
          <p:nvSpPr>
            <p:cNvPr id="40" name="ïṡḷïḑé"/>
            <p:cNvSpPr txBox="1"/>
            <p:nvPr>
              <p:custDataLst>
                <p:tags r:id="rId8"/>
              </p:custDataLst>
            </p:nvPr>
          </p:nvSpPr>
          <p:spPr>
            <a:xfrm>
              <a:off x="8645557" y="1838478"/>
              <a:ext cx="2307365" cy="571225"/>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spcBef>
                  <a:spcPct val="0"/>
                </a:spcBef>
                <a:defRPr/>
              </a:pPr>
              <a:r>
                <a:rPr lang="en-US" altLang="zh-CN" sz="3600" dirty="0">
                  <a:solidFill>
                    <a:prstClr val="black"/>
                  </a:solidFill>
                  <a:latin typeface="Cambria" panose="02040503050406030204" charset="0"/>
                  <a:ea typeface="微软雅黑 Light" panose="020B0502040204020203" pitchFamily="34" charset="-122"/>
                  <a:cs typeface="Cambria" panose="02040503050406030204" charset="0"/>
                </a:rPr>
                <a:t>dasm</a:t>
              </a:r>
              <a:endParaRPr lang="en-US" altLang="zh-CN" sz="3600" dirty="0">
                <a:solidFill>
                  <a:prstClr val="black"/>
                </a:solidFill>
                <a:latin typeface="Cambria" panose="02040503050406030204" charset="0"/>
                <a:ea typeface="微软雅黑 Light" panose="020B0502040204020203" pitchFamily="34" charset="-122"/>
                <a:cs typeface="Cambria" panose="02040503050406030204" charset="0"/>
              </a:endParaRPr>
            </a:p>
          </p:txBody>
        </p:sp>
      </p:grpSp>
      <p:pic>
        <p:nvPicPr>
          <p:cNvPr id="7" name="图片 6"/>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965200" y="953770"/>
            <a:ext cx="10381615" cy="2797175"/>
          </a:xfrm>
          <a:prstGeom prst="rect">
            <a:avLst/>
          </a:prstGeom>
        </p:spPr>
      </p:pic>
      <p:sp>
        <p:nvSpPr>
          <p:cNvPr id="13" name="文本框 12"/>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93041"/>
            <a:chOff x="335361" y="116633"/>
            <a:chExt cx="11521279" cy="693041"/>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问题三：模型建立</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17" name="TextBox 5"/>
          <p:cNvSpPr txBox="1"/>
          <p:nvPr/>
        </p:nvSpPr>
        <p:spPr>
          <a:xfrm>
            <a:off x="8981930" y="1990473"/>
            <a:ext cx="4110553" cy="473710"/>
          </a:xfrm>
          <a:prstGeom prst="rect">
            <a:avLst/>
          </a:prstGeom>
          <a:noFill/>
        </p:spPr>
        <p:txBody>
          <a:bodyPr vert="horz" wrap="square" lIns="0" tIns="0" rIns="0" bIns="0" rtlCol="0">
            <a:spAutoFit/>
          </a:bodyPr>
          <a:lstStyle/>
          <a:p>
            <a:pPr>
              <a:lnSpc>
                <a:spcPct val="110000"/>
              </a:lnSpc>
              <a:defRPr/>
            </a:pPr>
            <a:r>
              <a:rPr lang="zh-CN" altLang="en-US" sz="2800" b="1" dirty="0">
                <a:solidFill>
                  <a:prstClr val="black"/>
                </a:solidFill>
                <a:latin typeface="微软雅黑" panose="020B0503020204020204" charset="-122"/>
                <a:ea typeface="微软雅黑" panose="020B0503020204020204" charset="-122"/>
                <a:cs typeface="Segoe UI Semibold" panose="020B0702040204020203" pitchFamily="34" charset="0"/>
              </a:rPr>
              <a:t>成本函数</a:t>
            </a:r>
            <a:endParaRPr lang="zh-CN" altLang="en-US" sz="2800" b="1" dirty="0">
              <a:solidFill>
                <a:prstClr val="black"/>
              </a:solidFill>
              <a:latin typeface="微软雅黑" panose="020B0503020204020204" charset="-122"/>
              <a:ea typeface="微软雅黑" panose="020B0503020204020204" charset="-122"/>
              <a:cs typeface="Segoe UI Semibold" panose="020B0702040204020203" pitchFamily="34" charset="0"/>
            </a:endParaRPr>
          </a:p>
        </p:txBody>
      </p:sp>
      <p:sp>
        <p:nvSpPr>
          <p:cNvPr id="18" name="文本框 17"/>
          <p:cNvSpPr txBox="1"/>
          <p:nvPr/>
        </p:nvSpPr>
        <p:spPr>
          <a:xfrm>
            <a:off x="9157563" y="2853363"/>
            <a:ext cx="3302000" cy="2968625"/>
          </a:xfrm>
          <a:prstGeom prst="rect">
            <a:avLst/>
          </a:prstGeom>
          <a:noFill/>
        </p:spPr>
        <p:txBody>
          <a:bodyPr wrap="square" rtlCol="0">
            <a:spAutoFit/>
          </a:bodyPr>
          <a:lstStyle/>
          <a:p>
            <a:pPr>
              <a:lnSpc>
                <a:spcPct val="130000"/>
              </a:lnSpc>
              <a:defRPr/>
            </a:pPr>
            <a:r>
              <a:rPr lang="zh-CN" altLang="en-US" sz="2400" dirty="0">
                <a:solidFill>
                  <a:prstClr val="black"/>
                </a:solidFill>
                <a:latin typeface="Arial" panose="020B0604020202020204"/>
                <a:ea typeface="微软雅黑 Light" panose="020B0502040204020203" pitchFamily="34" charset="-122"/>
              </a:rPr>
              <a:t>▲采购成本。</a:t>
            </a:r>
            <a:endParaRPr lang="zh-CN" altLang="en-US" sz="2400" dirty="0">
              <a:solidFill>
                <a:prstClr val="black"/>
              </a:solidFill>
              <a:latin typeface="Arial" panose="020B0604020202020204"/>
              <a:ea typeface="微软雅黑 Light" panose="020B0502040204020203" pitchFamily="34" charset="-122"/>
            </a:endParaRPr>
          </a:p>
          <a:p>
            <a:pPr>
              <a:lnSpc>
                <a:spcPct val="130000"/>
              </a:lnSpc>
              <a:defRPr/>
            </a:pPr>
            <a:r>
              <a:rPr lang="zh-CN" altLang="en-US" sz="2400" dirty="0">
                <a:solidFill>
                  <a:prstClr val="black"/>
                </a:solidFill>
                <a:latin typeface="Arial" panose="020B0604020202020204"/>
                <a:ea typeface="微软雅黑 Light" panose="020B0502040204020203" pitchFamily="34" charset="-122"/>
                <a:sym typeface="+mn-ea"/>
              </a:rPr>
              <a:t>▲检测成本。</a:t>
            </a:r>
            <a:endParaRPr lang="en-US" altLang="zh-CN" sz="2400" dirty="0">
              <a:solidFill>
                <a:prstClr val="black"/>
              </a:solidFill>
              <a:latin typeface="Arial" panose="020B0604020202020204"/>
              <a:ea typeface="微软雅黑 Light" panose="020B0502040204020203" pitchFamily="34" charset="-122"/>
            </a:endParaRPr>
          </a:p>
          <a:p>
            <a:pPr>
              <a:lnSpc>
                <a:spcPct val="130000"/>
              </a:lnSpc>
              <a:defRPr/>
            </a:pPr>
            <a:r>
              <a:rPr lang="zh-CN" altLang="en-US" sz="2400" dirty="0">
                <a:solidFill>
                  <a:prstClr val="black"/>
                </a:solidFill>
                <a:latin typeface="Arial" panose="020B0604020202020204"/>
                <a:ea typeface="微软雅黑 Light" panose="020B0502040204020203" pitchFamily="34" charset="-122"/>
                <a:sym typeface="+mn-ea"/>
              </a:rPr>
              <a:t>▲装配成本。</a:t>
            </a:r>
            <a:endParaRPr lang="en-US" altLang="zh-CN" sz="2400" dirty="0">
              <a:solidFill>
                <a:prstClr val="black"/>
              </a:solidFill>
              <a:latin typeface="Arial" panose="020B0604020202020204"/>
              <a:ea typeface="微软雅黑 Light" panose="020B0502040204020203" pitchFamily="34" charset="-122"/>
            </a:endParaRPr>
          </a:p>
          <a:p>
            <a:pPr>
              <a:lnSpc>
                <a:spcPct val="130000"/>
              </a:lnSpc>
              <a:defRPr/>
            </a:pPr>
            <a:r>
              <a:rPr lang="zh-CN" altLang="en-US" sz="2400" dirty="0">
                <a:solidFill>
                  <a:prstClr val="black"/>
                </a:solidFill>
                <a:latin typeface="Arial" panose="020B0604020202020204"/>
                <a:ea typeface="微软雅黑 Light" panose="020B0502040204020203" pitchFamily="34" charset="-122"/>
                <a:sym typeface="+mn-ea"/>
              </a:rPr>
              <a:t>▲拆解成本</a:t>
            </a:r>
            <a:endParaRPr lang="en-US" altLang="zh-CN" sz="2400" dirty="0">
              <a:solidFill>
                <a:prstClr val="black"/>
              </a:solidFill>
              <a:latin typeface="Arial" panose="020B0604020202020204"/>
              <a:ea typeface="微软雅黑 Light" panose="020B0502040204020203" pitchFamily="34" charset="-122"/>
            </a:endParaRPr>
          </a:p>
          <a:p>
            <a:pPr>
              <a:lnSpc>
                <a:spcPct val="130000"/>
              </a:lnSpc>
              <a:defRPr/>
            </a:pPr>
            <a:endParaRPr lang="en-US" altLang="zh-CN" sz="2400" dirty="0">
              <a:solidFill>
                <a:prstClr val="black"/>
              </a:solidFill>
              <a:latin typeface="Arial" panose="020B0604020202020204"/>
              <a:ea typeface="微软雅黑 Light" panose="020B0502040204020203" pitchFamily="34" charset="-122"/>
            </a:endParaRPr>
          </a:p>
          <a:p>
            <a:pPr>
              <a:lnSpc>
                <a:spcPct val="130000"/>
              </a:lnSpc>
              <a:defRPr/>
            </a:pPr>
            <a:endParaRPr lang="en-US" altLang="zh-CN" sz="2400" dirty="0">
              <a:solidFill>
                <a:prstClr val="black"/>
              </a:solidFill>
              <a:latin typeface="Arial" panose="020B0604020202020204"/>
              <a:ea typeface="微软雅黑 Light" panose="020B0502040204020203" pitchFamily="34" charset="-122"/>
            </a:endParaRPr>
          </a:p>
        </p:txBody>
      </p:sp>
      <p:cxnSp>
        <p:nvCxnSpPr>
          <p:cNvPr id="19" name="Straight Connector 80"/>
          <p:cNvCxnSpPr/>
          <p:nvPr/>
        </p:nvCxnSpPr>
        <p:spPr>
          <a:xfrm flipH="1">
            <a:off x="7343848" y="2658520"/>
            <a:ext cx="4428000" cy="0"/>
          </a:xfrm>
          <a:prstGeom prst="line">
            <a:avLst/>
          </a:prstGeom>
          <a:noFill/>
          <a:ln w="19050" cap="flat" cmpd="sng" algn="ctr">
            <a:solidFill>
              <a:srgbClr val="961318"/>
            </a:solidFill>
            <a:prstDash val="sysDot"/>
            <a:miter lim="800000"/>
            <a:headEnd type="none"/>
            <a:tailEnd type="oval" w="med" len="med"/>
          </a:ln>
          <a:effectLst/>
        </p:spPr>
      </p:cxnSp>
      <p:pic>
        <p:nvPicPr>
          <p:cNvPr id="10" name="图片 9"/>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0" y="1020445"/>
            <a:ext cx="8837295" cy="4671060"/>
          </a:xfrm>
          <a:prstGeom prst="rect">
            <a:avLst/>
          </a:prstGeom>
        </p:spPr>
      </p:pic>
      <p:sp>
        <p:nvSpPr>
          <p:cNvPr id="13" name="文本框 12"/>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93041"/>
            <a:chOff x="335361" y="116633"/>
            <a:chExt cx="11521279" cy="693041"/>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问题三：模型建立</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17" name="îš1iḑê"/>
          <p:cNvSpPr/>
          <p:nvPr/>
        </p:nvSpPr>
        <p:spPr>
          <a:xfrm>
            <a:off x="669925" y="1276349"/>
            <a:ext cx="104775" cy="3060000"/>
          </a:xfrm>
          <a:prstGeom prst="rect">
            <a:avLst/>
          </a:prstGeom>
          <a:solidFill>
            <a:srgbClr val="961318"/>
          </a:solidFill>
          <a:ln w="12700" cap="flat" cmpd="sng" algn="ctr">
            <a:solidFill>
              <a:srgbClr val="961318"/>
            </a:solidFill>
            <a:prstDash val="solid"/>
            <a:miter lim="800000"/>
          </a:ln>
          <a:effectLst/>
        </p:spPr>
        <p:txBody>
          <a:bodyPr wrap="square" lIns="91440" tIns="45720" rIns="91440" bIns="45720" rtlCol="0" anchor="ctr">
            <a:normAutofit/>
          </a:bodyPr>
          <a:lstStyle/>
          <a:p>
            <a:pPr algn="ctr">
              <a:defRPr/>
            </a:pPr>
            <a:endParaRPr lang="zh-CN" altLang="en-US" kern="0">
              <a:solidFill>
                <a:prstClr val="white"/>
              </a:solidFill>
              <a:latin typeface="Arial" panose="020B0604020202020204"/>
              <a:ea typeface="微软雅黑 Light" panose="020B0502040204020203" pitchFamily="34" charset="-122"/>
            </a:endParaRPr>
          </a:p>
        </p:txBody>
      </p:sp>
      <p:sp>
        <p:nvSpPr>
          <p:cNvPr id="21" name="íş1íḓé"/>
          <p:cNvSpPr txBox="1"/>
          <p:nvPr/>
        </p:nvSpPr>
        <p:spPr bwMode="auto">
          <a:xfrm>
            <a:off x="2440940" y="5547360"/>
            <a:ext cx="3330575" cy="455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defRPr/>
            </a:pPr>
            <a:r>
              <a:rPr lang="zh-CN" altLang="en-US" sz="2000" b="1" dirty="0">
                <a:solidFill>
                  <a:prstClr val="black"/>
                </a:solidFill>
                <a:latin typeface="微软雅黑" panose="020B0503020204020204" charset="-122"/>
                <a:ea typeface="微软雅黑" panose="020B0503020204020204" charset="-122"/>
              </a:rPr>
              <a:t>销售收益</a:t>
            </a:r>
            <a:endParaRPr lang="zh-CN" altLang="en-US" sz="2000" b="1" dirty="0">
              <a:solidFill>
                <a:prstClr val="black"/>
              </a:solidFill>
              <a:latin typeface="微软雅黑" panose="020B0503020204020204" charset="-122"/>
              <a:ea typeface="微软雅黑" panose="020B0503020204020204" charset="-122"/>
            </a:endParaRPr>
          </a:p>
        </p:txBody>
      </p:sp>
      <p:grpSp>
        <p:nvGrpSpPr>
          <p:cNvPr id="31" name="ïşḻïďê"/>
          <p:cNvGrpSpPr/>
          <p:nvPr/>
        </p:nvGrpSpPr>
        <p:grpSpPr>
          <a:xfrm>
            <a:off x="774700" y="3823131"/>
            <a:ext cx="581025" cy="1304925"/>
            <a:chOff x="774700" y="3823131"/>
            <a:chExt cx="581025" cy="1304925"/>
          </a:xfrm>
          <a:solidFill>
            <a:srgbClr val="004593"/>
          </a:solidFill>
        </p:grpSpPr>
        <p:sp>
          <p:nvSpPr>
            <p:cNvPr id="32" name="î$ļïḋè"/>
            <p:cNvSpPr/>
            <p:nvPr/>
          </p:nvSpPr>
          <p:spPr>
            <a:xfrm>
              <a:off x="774700" y="4547031"/>
              <a:ext cx="581025" cy="581025"/>
            </a:xfrm>
            <a:prstGeom prst="ellipse">
              <a:avLst/>
            </a:prstGeom>
            <a:solidFill>
              <a:srgbClr val="961318"/>
            </a:solidFill>
            <a:ln w="12700" cap="flat" cmpd="sng" algn="ctr">
              <a:noFill/>
              <a:prstDash val="solid"/>
              <a:miter lim="800000"/>
            </a:ln>
            <a:effectLst/>
          </p:spPr>
          <p:txBody>
            <a:bodyPr wrap="square" lIns="91440" tIns="45720" rIns="91440" bIns="45720" rtlCol="0" anchor="t" anchorCtr="0">
              <a:normAutofit/>
            </a:bodyPr>
            <a:lstStyle/>
            <a:p>
              <a:pPr algn="ctr">
                <a:defRPr/>
              </a:pPr>
              <a:endParaRPr lang="zh-CN" altLang="en-US" sz="1600" b="1" kern="0" dirty="0">
                <a:solidFill>
                  <a:prstClr val="white"/>
                </a:solidFill>
                <a:latin typeface="Arial" panose="020B0604020202020204"/>
                <a:ea typeface="微软雅黑 Light" panose="020B0502040204020203" pitchFamily="34" charset="-122"/>
              </a:endParaRPr>
            </a:p>
          </p:txBody>
        </p:sp>
        <p:cxnSp>
          <p:nvCxnSpPr>
            <p:cNvPr id="33" name="直接连接符 32"/>
            <p:cNvCxnSpPr>
              <a:stCxn id="32" idx="0"/>
            </p:cNvCxnSpPr>
            <p:nvPr/>
          </p:nvCxnSpPr>
          <p:spPr>
            <a:xfrm flipV="1">
              <a:off x="1065213" y="3823131"/>
              <a:ext cx="0" cy="723900"/>
            </a:xfrm>
            <a:prstGeom prst="line">
              <a:avLst/>
            </a:prstGeom>
            <a:grpFill/>
            <a:ln w="3175" cap="rnd" cmpd="sng" algn="ctr">
              <a:solidFill>
                <a:srgbClr val="961318"/>
              </a:solidFill>
              <a:prstDash val="solid"/>
              <a:round/>
              <a:tailEnd type="oval"/>
            </a:ln>
            <a:effectLst/>
          </p:spPr>
        </p:cxnSp>
      </p:gr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74700" y="944880"/>
            <a:ext cx="10107295" cy="3628390"/>
          </a:xfrm>
          <a:prstGeom prst="rect">
            <a:avLst/>
          </a:prstGeom>
        </p:spPr>
      </p:pic>
      <p:sp>
        <p:nvSpPr>
          <p:cNvPr id="3" name="íş1íḓé"/>
          <p:cNvSpPr txBox="1"/>
          <p:nvPr/>
        </p:nvSpPr>
        <p:spPr bwMode="auto">
          <a:xfrm>
            <a:off x="7774940" y="5484495"/>
            <a:ext cx="3330575" cy="455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defRPr/>
            </a:pPr>
            <a:r>
              <a:rPr lang="zh-CN" altLang="en-US" sz="2000" b="1" dirty="0">
                <a:solidFill>
                  <a:prstClr val="black"/>
                </a:solidFill>
                <a:latin typeface="微软雅黑" panose="020B0503020204020204" charset="-122"/>
                <a:ea typeface="微软雅黑" panose="020B0503020204020204" charset="-122"/>
              </a:rPr>
              <a:t>回收收益</a:t>
            </a:r>
            <a:endParaRPr lang="zh-CN" altLang="en-US" sz="2000" b="1" dirty="0">
              <a:solidFill>
                <a:prstClr val="black"/>
              </a:solidFill>
              <a:latin typeface="微软雅黑" panose="020B0503020204020204" charset="-122"/>
              <a:ea typeface="微软雅黑" panose="020B0503020204020204" charset="-122"/>
            </a:endParaRPr>
          </a:p>
        </p:txBody>
      </p:sp>
      <p:sp>
        <p:nvSpPr>
          <p:cNvPr id="5" name="î$ļïḋè"/>
          <p:cNvSpPr/>
          <p:nvPr/>
        </p:nvSpPr>
        <p:spPr>
          <a:xfrm>
            <a:off x="1715770" y="5484291"/>
            <a:ext cx="581025" cy="581025"/>
          </a:xfrm>
          <a:prstGeom prst="ellipse">
            <a:avLst/>
          </a:prstGeom>
          <a:solidFill>
            <a:srgbClr val="961318"/>
          </a:solidFill>
          <a:ln w="12700" cap="flat" cmpd="sng" algn="ctr">
            <a:noFill/>
            <a:prstDash val="solid"/>
            <a:miter lim="800000"/>
          </a:ln>
          <a:effectLst/>
        </p:spPr>
        <p:txBody>
          <a:bodyPr wrap="square" lIns="91440" tIns="45720" rIns="91440" bIns="45720" rtlCol="0" anchor="t" anchorCtr="0">
            <a:normAutofit/>
          </a:bodyPr>
          <a:p>
            <a:pPr algn="ctr">
              <a:defRPr/>
            </a:pPr>
            <a:r>
              <a:rPr lang="en-US" altLang="zh-CN" sz="1600" b="1" kern="0" dirty="0">
                <a:solidFill>
                  <a:prstClr val="white"/>
                </a:solidFill>
                <a:latin typeface="Arial" panose="020B0604020202020204"/>
                <a:ea typeface="微软雅黑 Light" panose="020B0502040204020203" pitchFamily="34" charset="-122"/>
              </a:rPr>
              <a:t>01</a:t>
            </a:r>
            <a:endParaRPr lang="en-US" altLang="zh-CN" sz="1600" b="1" kern="0" dirty="0">
              <a:solidFill>
                <a:prstClr val="white"/>
              </a:solidFill>
              <a:latin typeface="Arial" panose="020B0604020202020204"/>
              <a:ea typeface="微软雅黑 Light" panose="020B0502040204020203" pitchFamily="34" charset="-122"/>
            </a:endParaRPr>
          </a:p>
        </p:txBody>
      </p:sp>
      <p:sp>
        <p:nvSpPr>
          <p:cNvPr id="12" name="î$ļïḋè"/>
          <p:cNvSpPr/>
          <p:nvPr/>
        </p:nvSpPr>
        <p:spPr>
          <a:xfrm>
            <a:off x="7031355" y="5484291"/>
            <a:ext cx="581025" cy="581025"/>
          </a:xfrm>
          <a:prstGeom prst="ellipse">
            <a:avLst/>
          </a:prstGeom>
          <a:solidFill>
            <a:srgbClr val="961318"/>
          </a:solidFill>
          <a:ln w="12700" cap="flat" cmpd="sng" algn="ctr">
            <a:noFill/>
            <a:prstDash val="solid"/>
            <a:miter lim="800000"/>
          </a:ln>
          <a:effectLst/>
        </p:spPr>
        <p:txBody>
          <a:bodyPr wrap="square" lIns="91440" tIns="45720" rIns="91440" bIns="45720" rtlCol="0" anchor="t" anchorCtr="0">
            <a:normAutofit/>
          </a:bodyPr>
          <a:lstStyle/>
          <a:p>
            <a:pPr algn="ctr">
              <a:defRPr/>
            </a:pPr>
            <a:r>
              <a:rPr lang="en-US" altLang="zh-CN" sz="1600" b="1" kern="0" dirty="0">
                <a:solidFill>
                  <a:prstClr val="white"/>
                </a:solidFill>
                <a:latin typeface="Arial" panose="020B0604020202020204"/>
                <a:ea typeface="微软雅黑 Light" panose="020B0502040204020203" pitchFamily="34" charset="-122"/>
              </a:rPr>
              <a:t>02</a:t>
            </a:r>
            <a:endParaRPr lang="en-US" altLang="zh-CN" sz="1600" b="1" kern="0" dirty="0">
              <a:solidFill>
                <a:prstClr val="white"/>
              </a:solidFill>
              <a:latin typeface="Arial" panose="020B0604020202020204"/>
              <a:ea typeface="微软雅黑 Light" panose="020B0502040204020203" pitchFamily="34" charset="-122"/>
            </a:endParaRPr>
          </a:p>
        </p:txBody>
      </p:sp>
      <p:sp>
        <p:nvSpPr>
          <p:cNvPr id="4" name="文本框 3"/>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9770" y="2142148"/>
            <a:ext cx="4098214" cy="3072307"/>
          </a:xfrm>
          <a:prstGeom prst="rect">
            <a:avLst/>
          </a:prstGeom>
        </p:spPr>
      </p:pic>
      <p:grpSp>
        <p:nvGrpSpPr>
          <p:cNvPr id="7" name="组合 6"/>
          <p:cNvGrpSpPr/>
          <p:nvPr/>
        </p:nvGrpSpPr>
        <p:grpSpPr>
          <a:xfrm>
            <a:off x="335361" y="116633"/>
            <a:ext cx="11521279" cy="693041"/>
            <a:chOff x="335361" y="116633"/>
            <a:chExt cx="11521279" cy="693041"/>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问题三：动态规划</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3" name="文本框 2"/>
          <p:cNvSpPr txBox="1"/>
          <p:nvPr/>
        </p:nvSpPr>
        <p:spPr>
          <a:xfrm>
            <a:off x="6717665" y="812800"/>
            <a:ext cx="4697730" cy="3256915"/>
          </a:xfrm>
          <a:prstGeom prst="rect">
            <a:avLst/>
          </a:prstGeom>
          <a:noFill/>
        </p:spPr>
        <p:txBody>
          <a:bodyPr wrap="square" rtlCol="0">
            <a:noAutofit/>
          </a:bodyPr>
          <a:lstStyle/>
          <a:p>
            <a:pPr algn="just"/>
            <a:r>
              <a:rPr lang="en-US" altLang="zh-CN" sz="2400" dirty="0">
                <a:solidFill>
                  <a:srgbClr val="768394"/>
                </a:solidFill>
                <a:latin typeface="Arial" panose="020B0604020202020204"/>
                <a:ea typeface="微软雅黑" panose="020B0503020204020204" charset="-122"/>
                <a:cs typeface="+mn-ea"/>
                <a:sym typeface="+mn-lt"/>
              </a:rPr>
              <a:t>1. </a:t>
            </a:r>
            <a:r>
              <a:rPr lang="zh-CN" altLang="en-US" sz="2400" dirty="0">
                <a:solidFill>
                  <a:srgbClr val="768394"/>
                </a:solidFill>
                <a:latin typeface="Arial" panose="020B0604020202020204"/>
                <a:ea typeface="微软雅黑" panose="020B0503020204020204" charset="-122"/>
                <a:cs typeface="+mn-ea"/>
                <a:sym typeface="+mn-lt"/>
              </a:rPr>
              <a:t>检测过程：检测后更新组件</a:t>
            </a:r>
            <a:r>
              <a:rPr lang="en-US" altLang="zh-CN" sz="2400" dirty="0">
                <a:solidFill>
                  <a:srgbClr val="768394"/>
                </a:solidFill>
                <a:latin typeface="Arial" panose="020B0604020202020204"/>
                <a:ea typeface="微软雅黑" panose="020B0503020204020204" charset="-122"/>
                <a:cs typeface="+mn-ea"/>
                <a:sym typeface="+mn-lt"/>
              </a:rPr>
              <a:t>/</a:t>
            </a:r>
            <a:r>
              <a:rPr lang="zh-CN" altLang="en-US" sz="2400" dirty="0">
                <a:solidFill>
                  <a:srgbClr val="768394"/>
                </a:solidFill>
                <a:latin typeface="Arial" panose="020B0604020202020204"/>
                <a:ea typeface="微软雅黑" panose="020B0503020204020204" charset="-122"/>
                <a:cs typeface="+mn-ea"/>
                <a:sym typeface="+mn-lt"/>
              </a:rPr>
              <a:t>中间品</a:t>
            </a:r>
            <a:r>
              <a:rPr lang="en-US" altLang="zh-CN" sz="2400" dirty="0">
                <a:solidFill>
                  <a:srgbClr val="768394"/>
                </a:solidFill>
                <a:latin typeface="Arial" panose="020B0604020202020204"/>
                <a:ea typeface="微软雅黑" panose="020B0503020204020204" charset="-122"/>
                <a:cs typeface="+mn-ea"/>
                <a:sym typeface="+mn-lt"/>
              </a:rPr>
              <a:t>/</a:t>
            </a:r>
            <a:r>
              <a:rPr lang="zh-CN" altLang="en-US" sz="2400" dirty="0">
                <a:solidFill>
                  <a:srgbClr val="768394"/>
                </a:solidFill>
                <a:latin typeface="Arial" panose="020B0604020202020204"/>
                <a:ea typeface="微软雅黑" panose="020B0503020204020204" charset="-122"/>
                <a:cs typeface="+mn-ea"/>
                <a:sym typeface="+mn-lt"/>
              </a:rPr>
              <a:t>成品的质量状态为确定值（合格或次品）。</a:t>
            </a:r>
            <a:endParaRPr lang="zh-CN" altLang="en-US" sz="2400" dirty="0">
              <a:solidFill>
                <a:srgbClr val="768394"/>
              </a:solidFill>
              <a:latin typeface="Arial" panose="020B0604020202020204"/>
              <a:ea typeface="微软雅黑" panose="020B0503020204020204" charset="-122"/>
              <a:cs typeface="+mn-ea"/>
              <a:sym typeface="+mn-lt"/>
            </a:endParaRPr>
          </a:p>
          <a:p>
            <a:pPr algn="just"/>
            <a:endParaRPr lang="en-US" altLang="zh-CN" sz="2400" dirty="0">
              <a:solidFill>
                <a:srgbClr val="768394"/>
              </a:solidFill>
              <a:latin typeface="Arial" panose="020B0604020202020204"/>
              <a:ea typeface="微软雅黑" panose="020B0503020204020204" charset="-122"/>
              <a:cs typeface="+mn-ea"/>
              <a:sym typeface="+mn-lt"/>
            </a:endParaRPr>
          </a:p>
          <a:p>
            <a:pPr algn="just"/>
            <a:r>
              <a:rPr lang="en-US" altLang="zh-CN" sz="2400" dirty="0">
                <a:solidFill>
                  <a:srgbClr val="768394"/>
                </a:solidFill>
                <a:latin typeface="Arial" panose="020B0604020202020204"/>
                <a:ea typeface="微软雅黑" panose="020B0503020204020204" charset="-122"/>
                <a:cs typeface="+mn-ea"/>
                <a:sym typeface="+mn-lt"/>
              </a:rPr>
              <a:t>2. </a:t>
            </a:r>
            <a:r>
              <a:rPr lang="zh-CN" altLang="en-US" sz="2400" dirty="0">
                <a:solidFill>
                  <a:srgbClr val="768394"/>
                </a:solidFill>
                <a:latin typeface="Arial" panose="020B0604020202020204"/>
                <a:ea typeface="微软雅黑" panose="020B0503020204020204" charset="-122"/>
                <a:cs typeface="+mn-ea"/>
                <a:sym typeface="+mn-lt"/>
              </a:rPr>
              <a:t>装配过程：若组件均合格，装配后的中间品</a:t>
            </a:r>
            <a:r>
              <a:rPr lang="en-US" altLang="zh-CN" sz="2400" dirty="0">
                <a:solidFill>
                  <a:srgbClr val="768394"/>
                </a:solidFill>
                <a:latin typeface="Arial" panose="020B0604020202020204"/>
                <a:ea typeface="微软雅黑" panose="020B0503020204020204" charset="-122"/>
                <a:cs typeface="+mn-ea"/>
                <a:sym typeface="+mn-lt"/>
              </a:rPr>
              <a:t>/</a:t>
            </a:r>
            <a:r>
              <a:rPr lang="zh-CN" altLang="en-US" sz="2400" dirty="0">
                <a:solidFill>
                  <a:srgbClr val="768394"/>
                </a:solidFill>
                <a:latin typeface="Arial" panose="020B0604020202020204"/>
                <a:ea typeface="微软雅黑" panose="020B0503020204020204" charset="-122"/>
                <a:cs typeface="+mn-ea"/>
                <a:sym typeface="+mn-lt"/>
              </a:rPr>
              <a:t>成品以</a:t>
            </a:r>
            <a:r>
              <a:rPr lang="en-US" altLang="zh-CN" sz="2400" dirty="0">
                <a:solidFill>
                  <a:srgbClr val="768394"/>
                </a:solidFill>
                <a:latin typeface="Arial" panose="020B0604020202020204"/>
                <a:ea typeface="微软雅黑" panose="020B0503020204020204" charset="-122"/>
                <a:cs typeface="+mn-ea"/>
                <a:sym typeface="+mn-lt"/>
              </a:rPr>
              <a:t>10%</a:t>
            </a:r>
            <a:r>
              <a:rPr lang="zh-CN" altLang="en-US" sz="2400" dirty="0">
                <a:solidFill>
                  <a:srgbClr val="768394"/>
                </a:solidFill>
                <a:latin typeface="Arial" panose="020B0604020202020204"/>
                <a:ea typeface="微软雅黑" panose="020B0503020204020204" charset="-122"/>
                <a:cs typeface="+mn-ea"/>
                <a:sym typeface="+mn-lt"/>
              </a:rPr>
              <a:t>概率为次品（未检测时）；若存在次品组件，直接判定为次品。</a:t>
            </a:r>
            <a:endParaRPr lang="zh-CN" altLang="en-US" sz="2400" dirty="0">
              <a:solidFill>
                <a:srgbClr val="768394"/>
              </a:solidFill>
              <a:latin typeface="Arial" panose="020B0604020202020204"/>
              <a:ea typeface="微软雅黑" panose="020B0503020204020204" charset="-122"/>
              <a:cs typeface="+mn-ea"/>
              <a:sym typeface="+mn-lt"/>
            </a:endParaRPr>
          </a:p>
          <a:p>
            <a:pPr algn="just"/>
            <a:endParaRPr lang="en-US" altLang="zh-CN" sz="2400" dirty="0">
              <a:solidFill>
                <a:srgbClr val="768394"/>
              </a:solidFill>
              <a:latin typeface="Arial" panose="020B0604020202020204"/>
              <a:ea typeface="微软雅黑" panose="020B0503020204020204" charset="-122"/>
              <a:cs typeface="+mn-ea"/>
              <a:sym typeface="+mn-lt"/>
            </a:endParaRPr>
          </a:p>
          <a:p>
            <a:pPr algn="just"/>
            <a:r>
              <a:rPr lang="en-US" altLang="zh-CN" sz="2400" dirty="0">
                <a:solidFill>
                  <a:srgbClr val="768394"/>
                </a:solidFill>
                <a:latin typeface="Arial" panose="020B0604020202020204"/>
                <a:ea typeface="微软雅黑" panose="020B0503020204020204" charset="-122"/>
                <a:cs typeface="+mn-ea"/>
                <a:sym typeface="+mn-lt"/>
              </a:rPr>
              <a:t>3. </a:t>
            </a:r>
            <a:r>
              <a:rPr lang="zh-CN" altLang="en-US" sz="2400" dirty="0">
                <a:solidFill>
                  <a:srgbClr val="768394"/>
                </a:solidFill>
                <a:latin typeface="Arial" panose="020B0604020202020204"/>
                <a:ea typeface="微软雅黑" panose="020B0503020204020204" charset="-122"/>
                <a:cs typeface="+mn-ea"/>
                <a:sym typeface="+mn-lt"/>
              </a:rPr>
              <a:t>拆解过程：对不合格品执行拆解后，标记拆解状态为</a:t>
            </a:r>
            <a:r>
              <a:rPr lang="en-US" altLang="zh-CN" sz="2400" dirty="0">
                <a:solidFill>
                  <a:srgbClr val="768394"/>
                </a:solidFill>
                <a:latin typeface="Arial" panose="020B0604020202020204"/>
                <a:ea typeface="微软雅黑" panose="020B0503020204020204" charset="-122"/>
                <a:cs typeface="+mn-ea"/>
                <a:sym typeface="+mn-lt"/>
              </a:rPr>
              <a:t>1</a:t>
            </a:r>
            <a:r>
              <a:rPr lang="zh-CN" altLang="en-US" sz="2400" dirty="0">
                <a:solidFill>
                  <a:srgbClr val="768394"/>
                </a:solidFill>
                <a:latin typeface="Arial" panose="020B0604020202020204"/>
                <a:ea typeface="微软雅黑" panose="020B0503020204020204" charset="-122"/>
                <a:cs typeface="+mn-ea"/>
                <a:sym typeface="+mn-lt"/>
              </a:rPr>
              <a:t>，并触发组件回收流程。</a:t>
            </a:r>
            <a:endParaRPr lang="zh-CN" altLang="en-US" sz="2400" dirty="0">
              <a:solidFill>
                <a:srgbClr val="768394"/>
              </a:solidFill>
              <a:latin typeface="Arial" panose="020B0604020202020204"/>
              <a:ea typeface="微软雅黑" panose="020B0503020204020204" charset="-122"/>
              <a:cs typeface="+mn-ea"/>
              <a:sym typeface="+mn-lt"/>
            </a:endParaRPr>
          </a:p>
        </p:txBody>
      </p:sp>
      <p:sp>
        <p:nvSpPr>
          <p:cNvPr id="4" name="椭圆 3"/>
          <p:cNvSpPr/>
          <p:nvPr>
            <p:custDataLst>
              <p:tags r:id="rId2"/>
            </p:custDataLst>
          </p:nvPr>
        </p:nvSpPr>
        <p:spPr>
          <a:xfrm>
            <a:off x="6684531" y="5313714"/>
            <a:ext cx="832023" cy="832023"/>
          </a:xfrm>
          <a:prstGeom prst="ellipse">
            <a:avLst/>
          </a:prstGeom>
          <a:noFill/>
          <a:ln w="38100" cap="flat" cmpd="sng" algn="ctr">
            <a:solidFill>
              <a:srgbClr val="961318"/>
            </a:soli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 name="椭圆 4"/>
          <p:cNvSpPr/>
          <p:nvPr>
            <p:custDataLst>
              <p:tags r:id="rId3"/>
            </p:custDataLst>
          </p:nvPr>
        </p:nvSpPr>
        <p:spPr>
          <a:xfrm>
            <a:off x="6804918" y="5434101"/>
            <a:ext cx="591249" cy="591249"/>
          </a:xfrm>
          <a:prstGeom prst="ellipse">
            <a:avLst/>
          </a:prstGeom>
          <a:solidFill>
            <a:srgbClr val="961318"/>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6" name="文本框 5"/>
          <p:cNvSpPr txBox="1"/>
          <p:nvPr>
            <p:custDataLst>
              <p:tags r:id="rId4"/>
            </p:custDataLst>
          </p:nvPr>
        </p:nvSpPr>
        <p:spPr>
          <a:xfrm>
            <a:off x="6402394" y="6310428"/>
            <a:ext cx="1396297" cy="368300"/>
          </a:xfrm>
          <a:prstGeom prst="rect">
            <a:avLst/>
          </a:prstGeom>
          <a:noFill/>
        </p:spPr>
        <p:txBody>
          <a:bodyPr wrap="square" rtlCol="0">
            <a:spAutoFit/>
          </a:bodyPr>
          <a:lstStyle/>
          <a:p>
            <a:pPr algn="ctr"/>
            <a:r>
              <a:rPr lang="zh-CN" altLang="en-US" dirty="0">
                <a:solidFill>
                  <a:srgbClr val="768394"/>
                </a:solidFill>
                <a:latin typeface="Arial" panose="020B0604020202020204"/>
                <a:ea typeface="微软雅黑" panose="020B0503020204020204" charset="-122"/>
                <a:cs typeface="+mn-ea"/>
                <a:sym typeface="+mn-lt"/>
              </a:rPr>
              <a:t>检测</a:t>
            </a:r>
            <a:endParaRPr lang="zh-CN" altLang="en-US" dirty="0">
              <a:solidFill>
                <a:srgbClr val="768394"/>
              </a:solidFill>
              <a:latin typeface="Arial" panose="020B0604020202020204"/>
              <a:ea typeface="微软雅黑" panose="020B0503020204020204" charset="-122"/>
              <a:cs typeface="+mn-ea"/>
              <a:sym typeface="+mn-lt"/>
            </a:endParaRPr>
          </a:p>
        </p:txBody>
      </p:sp>
      <p:sp>
        <p:nvSpPr>
          <p:cNvPr id="39" name="椭圆 38"/>
          <p:cNvSpPr/>
          <p:nvPr>
            <p:custDataLst>
              <p:tags r:id="rId5"/>
            </p:custDataLst>
          </p:nvPr>
        </p:nvSpPr>
        <p:spPr>
          <a:xfrm>
            <a:off x="8540153" y="5313714"/>
            <a:ext cx="832023" cy="832023"/>
          </a:xfrm>
          <a:prstGeom prst="ellipse">
            <a:avLst/>
          </a:prstGeom>
          <a:noFill/>
          <a:ln w="38100" cap="flat" cmpd="sng" algn="ctr">
            <a:solidFill>
              <a:srgbClr val="961318"/>
            </a:soli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41" name="椭圆 40"/>
          <p:cNvSpPr/>
          <p:nvPr>
            <p:custDataLst>
              <p:tags r:id="rId6"/>
            </p:custDataLst>
          </p:nvPr>
        </p:nvSpPr>
        <p:spPr>
          <a:xfrm>
            <a:off x="8660540" y="5434101"/>
            <a:ext cx="591249" cy="591249"/>
          </a:xfrm>
          <a:prstGeom prst="ellipse">
            <a:avLst/>
          </a:prstGeom>
          <a:solidFill>
            <a:srgbClr val="961318"/>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3" name="文本框 52"/>
          <p:cNvSpPr txBox="1"/>
          <p:nvPr>
            <p:custDataLst>
              <p:tags r:id="rId7"/>
            </p:custDataLst>
          </p:nvPr>
        </p:nvSpPr>
        <p:spPr>
          <a:xfrm flipH="1">
            <a:off x="8258016" y="6310428"/>
            <a:ext cx="1396297" cy="368300"/>
          </a:xfrm>
          <a:prstGeom prst="rect">
            <a:avLst/>
          </a:prstGeom>
          <a:noFill/>
        </p:spPr>
        <p:txBody>
          <a:bodyPr wrap="square" rtlCol="0">
            <a:spAutoFit/>
          </a:bodyPr>
          <a:lstStyle/>
          <a:p>
            <a:pPr algn="ctr"/>
            <a:r>
              <a:rPr lang="zh-CN" dirty="0">
                <a:solidFill>
                  <a:srgbClr val="768394"/>
                </a:solidFill>
                <a:latin typeface="Arial" panose="020B0604020202020204"/>
                <a:ea typeface="微软雅黑" panose="020B0503020204020204" charset="-122"/>
                <a:cs typeface="+mn-ea"/>
                <a:sym typeface="+mn-lt"/>
              </a:rPr>
              <a:t>装配</a:t>
            </a:r>
            <a:endParaRPr lang="zh-CN" dirty="0">
              <a:solidFill>
                <a:srgbClr val="768394"/>
              </a:solidFill>
              <a:latin typeface="Arial" panose="020B0604020202020204"/>
              <a:ea typeface="微软雅黑" panose="020B0503020204020204" charset="-122"/>
              <a:cs typeface="+mn-ea"/>
              <a:sym typeface="+mn-lt"/>
            </a:endParaRPr>
          </a:p>
        </p:txBody>
      </p:sp>
      <p:sp>
        <p:nvSpPr>
          <p:cNvPr id="55" name="椭圆 54"/>
          <p:cNvSpPr/>
          <p:nvPr>
            <p:custDataLst>
              <p:tags r:id="rId8"/>
            </p:custDataLst>
          </p:nvPr>
        </p:nvSpPr>
        <p:spPr>
          <a:xfrm>
            <a:off x="10395775" y="5313714"/>
            <a:ext cx="832023" cy="832023"/>
          </a:xfrm>
          <a:prstGeom prst="ellipse">
            <a:avLst/>
          </a:prstGeom>
          <a:noFill/>
          <a:ln w="38100" cap="flat" cmpd="sng" algn="ctr">
            <a:solidFill>
              <a:srgbClr val="961318"/>
            </a:soli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7" name="椭圆 56"/>
          <p:cNvSpPr/>
          <p:nvPr>
            <p:custDataLst>
              <p:tags r:id="rId9"/>
            </p:custDataLst>
          </p:nvPr>
        </p:nvSpPr>
        <p:spPr>
          <a:xfrm>
            <a:off x="10516163" y="5434101"/>
            <a:ext cx="591249" cy="591249"/>
          </a:xfrm>
          <a:prstGeom prst="ellipse">
            <a:avLst/>
          </a:prstGeom>
          <a:solidFill>
            <a:srgbClr val="961318"/>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charset="-122"/>
              <a:cs typeface="+mn-ea"/>
              <a:sym typeface="+mn-lt"/>
            </a:endParaRPr>
          </a:p>
        </p:txBody>
      </p:sp>
      <p:sp>
        <p:nvSpPr>
          <p:cNvPr id="59" name="文本框 58"/>
          <p:cNvSpPr txBox="1"/>
          <p:nvPr>
            <p:custDataLst>
              <p:tags r:id="rId10"/>
            </p:custDataLst>
          </p:nvPr>
        </p:nvSpPr>
        <p:spPr>
          <a:xfrm>
            <a:off x="10113638" y="6310428"/>
            <a:ext cx="1396297" cy="368300"/>
          </a:xfrm>
          <a:prstGeom prst="rect">
            <a:avLst/>
          </a:prstGeom>
          <a:noFill/>
        </p:spPr>
        <p:txBody>
          <a:bodyPr wrap="square" rtlCol="0">
            <a:spAutoFit/>
          </a:bodyPr>
          <a:lstStyle/>
          <a:p>
            <a:pPr algn="ctr"/>
            <a:r>
              <a:rPr lang="zh-CN" dirty="0">
                <a:solidFill>
                  <a:srgbClr val="768394"/>
                </a:solidFill>
                <a:latin typeface="Arial" panose="020B0604020202020204"/>
                <a:ea typeface="微软雅黑" panose="020B0503020204020204" charset="-122"/>
                <a:cs typeface="+mn-ea"/>
                <a:sym typeface="+mn-lt"/>
              </a:rPr>
              <a:t>拆解</a:t>
            </a:r>
            <a:endParaRPr lang="zh-CN" dirty="0">
              <a:solidFill>
                <a:srgbClr val="768394"/>
              </a:solidFill>
              <a:latin typeface="Arial" panose="020B0604020202020204"/>
              <a:ea typeface="微软雅黑" panose="020B0503020204020204" charset="-122"/>
              <a:cs typeface="+mn-ea"/>
              <a:sym typeface="+mn-lt"/>
            </a:endParaRPr>
          </a:p>
        </p:txBody>
      </p:sp>
      <p:sp>
        <p:nvSpPr>
          <p:cNvPr id="61" name="文本框 60"/>
          <p:cNvSpPr txBox="1"/>
          <p:nvPr/>
        </p:nvSpPr>
        <p:spPr>
          <a:xfrm>
            <a:off x="673100" y="1076796"/>
            <a:ext cx="5422900" cy="460375"/>
          </a:xfrm>
          <a:prstGeom prst="rect">
            <a:avLst/>
          </a:prstGeom>
          <a:noFill/>
        </p:spPr>
        <p:txBody>
          <a:bodyPr wrap="square" rtlCol="0">
            <a:spAutoFit/>
          </a:bodyPr>
          <a:lstStyle/>
          <a:p>
            <a:r>
              <a:rPr lang="en-US" altLang="zh-CN" sz="2400" b="1" dirty="0">
                <a:solidFill>
                  <a:srgbClr val="961318"/>
                </a:solidFill>
                <a:latin typeface="Arial" panose="020B0604020202020204"/>
                <a:ea typeface="微软雅黑" panose="020B0503020204020204" charset="-122"/>
                <a:cs typeface="+mn-ea"/>
                <a:sym typeface="+mn-lt"/>
              </a:rPr>
              <a:t>1</a:t>
            </a:r>
            <a:r>
              <a:rPr lang="zh-CN" altLang="en-US" sz="2400" b="1" dirty="0">
                <a:solidFill>
                  <a:srgbClr val="961318"/>
                </a:solidFill>
                <a:latin typeface="Arial" panose="020B0604020202020204"/>
                <a:ea typeface="微软雅黑" panose="020B0503020204020204" charset="-122"/>
                <a:cs typeface="+mn-ea"/>
                <a:sym typeface="+mn-lt"/>
              </a:rPr>
              <a:t>、状态转移机制</a:t>
            </a:r>
            <a:endParaRPr lang="zh-CN" altLang="en-US" sz="2400" b="1" dirty="0">
              <a:solidFill>
                <a:srgbClr val="961318"/>
              </a:solidFill>
              <a:latin typeface="Arial" panose="020B0604020202020204"/>
              <a:ea typeface="微软雅黑" panose="020B0503020204020204" charset="-122"/>
              <a:cs typeface="+mn-ea"/>
              <a:sym typeface="+mn-lt"/>
            </a:endParaRPr>
          </a:p>
        </p:txBody>
      </p:sp>
      <p:sp>
        <p:nvSpPr>
          <p:cNvPr id="65" name="iconfont-1187-868319"/>
          <p:cNvSpPr>
            <a:spLocks noChangeAspect="1"/>
          </p:cNvSpPr>
          <p:nvPr>
            <p:custDataLst>
              <p:tags r:id="rId11"/>
            </p:custDataLst>
          </p:nvPr>
        </p:nvSpPr>
        <p:spPr bwMode="auto">
          <a:xfrm>
            <a:off x="10633939" y="5552024"/>
            <a:ext cx="355696" cy="355402"/>
          </a:xfrm>
          <a:custGeom>
            <a:avLst/>
            <a:gdLst>
              <a:gd name="T0" fmla="*/ 11212 w 12607"/>
              <a:gd name="T1" fmla="*/ 4855 h 12594"/>
              <a:gd name="T2" fmla="*/ 11019 w 12607"/>
              <a:gd name="T3" fmla="*/ 4855 h 12594"/>
              <a:gd name="T4" fmla="*/ 10644 w 12607"/>
              <a:gd name="T5" fmla="*/ 3981 h 12594"/>
              <a:gd name="T6" fmla="*/ 10796 w 12607"/>
              <a:gd name="T7" fmla="*/ 3830 h 12594"/>
              <a:gd name="T8" fmla="*/ 10796 w 12607"/>
              <a:gd name="T9" fmla="*/ 1864 h 12594"/>
              <a:gd name="T10" fmla="*/ 10755 w 12607"/>
              <a:gd name="T11" fmla="*/ 1823 h 12594"/>
              <a:gd name="T12" fmla="*/ 8781 w 12607"/>
              <a:gd name="T13" fmla="*/ 1823 h 12594"/>
              <a:gd name="T14" fmla="*/ 8611 w 12607"/>
              <a:gd name="T15" fmla="*/ 1992 h 12594"/>
              <a:gd name="T16" fmla="*/ 7729 w 12607"/>
              <a:gd name="T17" fmla="*/ 1634 h 12594"/>
              <a:gd name="T18" fmla="*/ 7729 w 12607"/>
              <a:gd name="T19" fmla="*/ 1390 h 12594"/>
              <a:gd name="T20" fmla="*/ 6333 w 12607"/>
              <a:gd name="T21" fmla="*/ 0 h 12594"/>
              <a:gd name="T22" fmla="*/ 6274 w 12607"/>
              <a:gd name="T23" fmla="*/ 0 h 12594"/>
              <a:gd name="T24" fmla="*/ 4878 w 12607"/>
              <a:gd name="T25" fmla="*/ 1390 h 12594"/>
              <a:gd name="T26" fmla="*/ 4878 w 12607"/>
              <a:gd name="T27" fmla="*/ 1652 h 12594"/>
              <a:gd name="T28" fmla="*/ 4033 w 12607"/>
              <a:gd name="T29" fmla="*/ 2003 h 12594"/>
              <a:gd name="T30" fmla="*/ 3852 w 12607"/>
              <a:gd name="T31" fmla="*/ 1823 h 12594"/>
              <a:gd name="T32" fmla="*/ 1878 w 12607"/>
              <a:gd name="T33" fmla="*/ 1823 h 12594"/>
              <a:gd name="T34" fmla="*/ 1837 w 12607"/>
              <a:gd name="T35" fmla="*/ 1864 h 12594"/>
              <a:gd name="T36" fmla="*/ 1837 w 12607"/>
              <a:gd name="T37" fmla="*/ 3830 h 12594"/>
              <a:gd name="T38" fmla="*/ 2012 w 12607"/>
              <a:gd name="T39" fmla="*/ 4004 h 12594"/>
              <a:gd name="T40" fmla="*/ 1650 w 12607"/>
              <a:gd name="T41" fmla="*/ 4855 h 12594"/>
              <a:gd name="T42" fmla="*/ 1396 w 12607"/>
              <a:gd name="T43" fmla="*/ 4855 h 12594"/>
              <a:gd name="T44" fmla="*/ 0 w 12607"/>
              <a:gd name="T45" fmla="*/ 6245 h 12594"/>
              <a:gd name="T46" fmla="*/ 0 w 12607"/>
              <a:gd name="T47" fmla="*/ 6304 h 12594"/>
              <a:gd name="T48" fmla="*/ 1396 w 12607"/>
              <a:gd name="T49" fmla="*/ 7694 h 12594"/>
              <a:gd name="T50" fmla="*/ 1618 w 12607"/>
              <a:gd name="T51" fmla="*/ 7694 h 12594"/>
              <a:gd name="T52" fmla="*/ 1983 w 12607"/>
              <a:gd name="T53" fmla="*/ 8593 h 12594"/>
              <a:gd name="T54" fmla="*/ 1814 w 12607"/>
              <a:gd name="T55" fmla="*/ 8761 h 12594"/>
              <a:gd name="T56" fmla="*/ 1814 w 12607"/>
              <a:gd name="T57" fmla="*/ 10728 h 12594"/>
              <a:gd name="T58" fmla="*/ 1855 w 12607"/>
              <a:gd name="T59" fmla="*/ 10769 h 12594"/>
              <a:gd name="T60" fmla="*/ 3829 w 12607"/>
              <a:gd name="T61" fmla="*/ 10769 h 12594"/>
              <a:gd name="T62" fmla="*/ 3981 w 12607"/>
              <a:gd name="T63" fmla="*/ 10618 h 12594"/>
              <a:gd name="T64" fmla="*/ 4878 w 12607"/>
              <a:gd name="T65" fmla="*/ 10999 h 12594"/>
              <a:gd name="T66" fmla="*/ 4878 w 12607"/>
              <a:gd name="T67" fmla="*/ 11204 h 12594"/>
              <a:gd name="T68" fmla="*/ 6274 w 12607"/>
              <a:gd name="T69" fmla="*/ 12594 h 12594"/>
              <a:gd name="T70" fmla="*/ 6333 w 12607"/>
              <a:gd name="T71" fmla="*/ 12594 h 12594"/>
              <a:gd name="T72" fmla="*/ 7729 w 12607"/>
              <a:gd name="T73" fmla="*/ 11204 h 12594"/>
              <a:gd name="T74" fmla="*/ 7729 w 12607"/>
              <a:gd name="T75" fmla="*/ 11016 h 12594"/>
              <a:gd name="T76" fmla="*/ 8664 w 12607"/>
              <a:gd name="T77" fmla="*/ 10630 h 12594"/>
              <a:gd name="T78" fmla="*/ 8803 w 12607"/>
              <a:gd name="T79" fmla="*/ 10769 h 12594"/>
              <a:gd name="T80" fmla="*/ 10777 w 12607"/>
              <a:gd name="T81" fmla="*/ 10769 h 12594"/>
              <a:gd name="T82" fmla="*/ 10819 w 12607"/>
              <a:gd name="T83" fmla="*/ 10728 h 12594"/>
              <a:gd name="T84" fmla="*/ 10819 w 12607"/>
              <a:gd name="T85" fmla="*/ 8761 h 12594"/>
              <a:gd name="T86" fmla="*/ 10673 w 12607"/>
              <a:gd name="T87" fmla="*/ 8616 h 12594"/>
              <a:gd name="T88" fmla="*/ 11051 w 12607"/>
              <a:gd name="T89" fmla="*/ 7694 h 12594"/>
              <a:gd name="T90" fmla="*/ 11211 w 12607"/>
              <a:gd name="T91" fmla="*/ 7694 h 12594"/>
              <a:gd name="T92" fmla="*/ 12607 w 12607"/>
              <a:gd name="T93" fmla="*/ 6304 h 12594"/>
              <a:gd name="T94" fmla="*/ 12607 w 12607"/>
              <a:gd name="T95" fmla="*/ 6245 h 12594"/>
              <a:gd name="T96" fmla="*/ 11212 w 12607"/>
              <a:gd name="T97" fmla="*/ 4855 h 12594"/>
              <a:gd name="T98" fmla="*/ 6337 w 12607"/>
              <a:gd name="T99" fmla="*/ 8498 h 12594"/>
              <a:gd name="T100" fmla="*/ 4152 w 12607"/>
              <a:gd name="T101" fmla="*/ 6323 h 12594"/>
              <a:gd name="T102" fmla="*/ 6337 w 12607"/>
              <a:gd name="T103" fmla="*/ 4146 h 12594"/>
              <a:gd name="T104" fmla="*/ 8521 w 12607"/>
              <a:gd name="T105" fmla="*/ 6323 h 12594"/>
              <a:gd name="T106" fmla="*/ 6337 w 12607"/>
              <a:gd name="T107" fmla="*/ 8498 h 12594"/>
              <a:gd name="T108" fmla="*/ 6337 w 12607"/>
              <a:gd name="T109" fmla="*/ 8498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07" h="12594">
                <a:moveTo>
                  <a:pt x="11212" y="4855"/>
                </a:moveTo>
                <a:lnTo>
                  <a:pt x="11019" y="4855"/>
                </a:lnTo>
                <a:cubicBezTo>
                  <a:pt x="10923" y="4550"/>
                  <a:pt x="10796" y="4258"/>
                  <a:pt x="10644" y="3981"/>
                </a:cubicBezTo>
                <a:lnTo>
                  <a:pt x="10796" y="3830"/>
                </a:lnTo>
                <a:cubicBezTo>
                  <a:pt x="11341" y="3287"/>
                  <a:pt x="11341" y="2407"/>
                  <a:pt x="10796" y="1864"/>
                </a:cubicBezTo>
                <a:lnTo>
                  <a:pt x="10755" y="1823"/>
                </a:lnTo>
                <a:cubicBezTo>
                  <a:pt x="10209" y="1279"/>
                  <a:pt x="9326" y="1279"/>
                  <a:pt x="8781" y="1823"/>
                </a:cubicBezTo>
                <a:lnTo>
                  <a:pt x="8611" y="1992"/>
                </a:lnTo>
                <a:cubicBezTo>
                  <a:pt x="8332" y="1846"/>
                  <a:pt x="8037" y="1725"/>
                  <a:pt x="7729" y="1634"/>
                </a:cubicBezTo>
                <a:lnTo>
                  <a:pt x="7729" y="1390"/>
                </a:lnTo>
                <a:cubicBezTo>
                  <a:pt x="7729" y="622"/>
                  <a:pt x="7104" y="0"/>
                  <a:pt x="6333" y="0"/>
                </a:cubicBezTo>
                <a:lnTo>
                  <a:pt x="6274" y="0"/>
                </a:lnTo>
                <a:cubicBezTo>
                  <a:pt x="5503" y="0"/>
                  <a:pt x="4878" y="622"/>
                  <a:pt x="4878" y="1390"/>
                </a:cubicBezTo>
                <a:lnTo>
                  <a:pt x="4878" y="1652"/>
                </a:lnTo>
                <a:cubicBezTo>
                  <a:pt x="4584" y="1742"/>
                  <a:pt x="4301" y="1861"/>
                  <a:pt x="4033" y="2003"/>
                </a:cubicBezTo>
                <a:lnTo>
                  <a:pt x="3852" y="1823"/>
                </a:lnTo>
                <a:cubicBezTo>
                  <a:pt x="3307" y="1280"/>
                  <a:pt x="2423" y="1280"/>
                  <a:pt x="1878" y="1823"/>
                </a:cubicBezTo>
                <a:lnTo>
                  <a:pt x="1837" y="1864"/>
                </a:lnTo>
                <a:cubicBezTo>
                  <a:pt x="1292" y="2407"/>
                  <a:pt x="1292" y="3287"/>
                  <a:pt x="1837" y="3830"/>
                </a:cubicBezTo>
                <a:lnTo>
                  <a:pt x="2012" y="4004"/>
                </a:lnTo>
                <a:cubicBezTo>
                  <a:pt x="1865" y="4274"/>
                  <a:pt x="1743" y="4558"/>
                  <a:pt x="1650" y="4855"/>
                </a:cubicBezTo>
                <a:lnTo>
                  <a:pt x="1396" y="4855"/>
                </a:lnTo>
                <a:cubicBezTo>
                  <a:pt x="625" y="4855"/>
                  <a:pt x="0" y="5478"/>
                  <a:pt x="0" y="6245"/>
                </a:cubicBezTo>
                <a:lnTo>
                  <a:pt x="0" y="6304"/>
                </a:lnTo>
                <a:cubicBezTo>
                  <a:pt x="0" y="7072"/>
                  <a:pt x="625" y="7694"/>
                  <a:pt x="1396" y="7694"/>
                </a:cubicBezTo>
                <a:lnTo>
                  <a:pt x="1618" y="7694"/>
                </a:lnTo>
                <a:cubicBezTo>
                  <a:pt x="1710" y="8008"/>
                  <a:pt x="1833" y="8308"/>
                  <a:pt x="1983" y="8593"/>
                </a:cubicBezTo>
                <a:lnTo>
                  <a:pt x="1814" y="8761"/>
                </a:lnTo>
                <a:cubicBezTo>
                  <a:pt x="1269" y="9304"/>
                  <a:pt x="1269" y="10185"/>
                  <a:pt x="1814" y="10728"/>
                </a:cubicBezTo>
                <a:lnTo>
                  <a:pt x="1855" y="10769"/>
                </a:lnTo>
                <a:cubicBezTo>
                  <a:pt x="2400" y="11312"/>
                  <a:pt x="3284" y="11312"/>
                  <a:pt x="3829" y="10769"/>
                </a:cubicBezTo>
                <a:lnTo>
                  <a:pt x="3981" y="10618"/>
                </a:lnTo>
                <a:cubicBezTo>
                  <a:pt x="4264" y="10773"/>
                  <a:pt x="4564" y="10902"/>
                  <a:pt x="4878" y="10999"/>
                </a:cubicBezTo>
                <a:lnTo>
                  <a:pt x="4878" y="11204"/>
                </a:lnTo>
                <a:cubicBezTo>
                  <a:pt x="4878" y="11972"/>
                  <a:pt x="5503" y="12594"/>
                  <a:pt x="6274" y="12594"/>
                </a:cubicBezTo>
                <a:lnTo>
                  <a:pt x="6333" y="12594"/>
                </a:lnTo>
                <a:cubicBezTo>
                  <a:pt x="7104" y="12594"/>
                  <a:pt x="7729" y="11972"/>
                  <a:pt x="7729" y="11204"/>
                </a:cubicBezTo>
                <a:lnTo>
                  <a:pt x="7729" y="11016"/>
                </a:lnTo>
                <a:cubicBezTo>
                  <a:pt x="8056" y="10920"/>
                  <a:pt x="8368" y="10788"/>
                  <a:pt x="8664" y="10630"/>
                </a:cubicBezTo>
                <a:lnTo>
                  <a:pt x="8803" y="10769"/>
                </a:lnTo>
                <a:cubicBezTo>
                  <a:pt x="9348" y="11312"/>
                  <a:pt x="10233" y="11312"/>
                  <a:pt x="10777" y="10769"/>
                </a:cubicBezTo>
                <a:lnTo>
                  <a:pt x="10819" y="10728"/>
                </a:lnTo>
                <a:cubicBezTo>
                  <a:pt x="11364" y="10185"/>
                  <a:pt x="11364" y="9304"/>
                  <a:pt x="10819" y="8761"/>
                </a:cubicBezTo>
                <a:lnTo>
                  <a:pt x="10673" y="8616"/>
                </a:lnTo>
                <a:cubicBezTo>
                  <a:pt x="10828" y="8324"/>
                  <a:pt x="10956" y="8017"/>
                  <a:pt x="11051" y="7694"/>
                </a:cubicBezTo>
                <a:lnTo>
                  <a:pt x="11211" y="7694"/>
                </a:lnTo>
                <a:cubicBezTo>
                  <a:pt x="11982" y="7694"/>
                  <a:pt x="12607" y="7071"/>
                  <a:pt x="12607" y="6304"/>
                </a:cubicBezTo>
                <a:lnTo>
                  <a:pt x="12607" y="6245"/>
                </a:lnTo>
                <a:cubicBezTo>
                  <a:pt x="12607" y="5477"/>
                  <a:pt x="11982" y="4855"/>
                  <a:pt x="11212" y="4855"/>
                </a:cubicBezTo>
                <a:close/>
                <a:moveTo>
                  <a:pt x="6337" y="8498"/>
                </a:moveTo>
                <a:cubicBezTo>
                  <a:pt x="5130" y="8498"/>
                  <a:pt x="4152" y="7524"/>
                  <a:pt x="4152" y="6323"/>
                </a:cubicBezTo>
                <a:cubicBezTo>
                  <a:pt x="4152" y="5120"/>
                  <a:pt x="5130" y="4146"/>
                  <a:pt x="6337" y="4146"/>
                </a:cubicBezTo>
                <a:cubicBezTo>
                  <a:pt x="7544" y="4146"/>
                  <a:pt x="8521" y="5120"/>
                  <a:pt x="8521" y="6323"/>
                </a:cubicBezTo>
                <a:cubicBezTo>
                  <a:pt x="8521" y="7524"/>
                  <a:pt x="7544" y="8498"/>
                  <a:pt x="6337" y="8498"/>
                </a:cubicBezTo>
                <a:close/>
                <a:moveTo>
                  <a:pt x="6337" y="8498"/>
                </a:moveTo>
                <a:close/>
              </a:path>
            </a:pathLst>
          </a:custGeom>
          <a:solidFill>
            <a:srgbClr val="FFFFFF"/>
          </a:solidFill>
          <a:ln>
            <a:noFill/>
          </a:ln>
        </p:spPr>
        <p:txBody>
          <a:bodyPr/>
          <a:lstStyle/>
          <a:p>
            <a:endParaRPr lang="zh-CN" altLang="en-US"/>
          </a:p>
        </p:txBody>
      </p:sp>
      <p:sp>
        <p:nvSpPr>
          <p:cNvPr id="67" name="iconfont-11899-5650873"/>
          <p:cNvSpPr>
            <a:spLocks noChangeAspect="1"/>
          </p:cNvSpPr>
          <p:nvPr>
            <p:custDataLst>
              <p:tags r:id="rId12"/>
            </p:custDataLst>
          </p:nvPr>
        </p:nvSpPr>
        <p:spPr bwMode="auto">
          <a:xfrm>
            <a:off x="6944943" y="5551878"/>
            <a:ext cx="311198" cy="355694"/>
          </a:xfrm>
          <a:custGeom>
            <a:avLst/>
            <a:gdLst>
              <a:gd name="T0" fmla="*/ 8582 w 9077"/>
              <a:gd name="T1" fmla="*/ 4538 h 10373"/>
              <a:gd name="T2" fmla="*/ 9077 w 9077"/>
              <a:gd name="T3" fmla="*/ 4538 h 10373"/>
              <a:gd name="T4" fmla="*/ 9077 w 9077"/>
              <a:gd name="T5" fmla="*/ 9151 h 10373"/>
              <a:gd name="T6" fmla="*/ 7855 w 9077"/>
              <a:gd name="T7" fmla="*/ 10373 h 10373"/>
              <a:gd name="T8" fmla="*/ 4789 w 9077"/>
              <a:gd name="T9" fmla="*/ 10373 h 10373"/>
              <a:gd name="T10" fmla="*/ 4539 w 9077"/>
              <a:gd name="T11" fmla="*/ 10123 h 10373"/>
              <a:gd name="T12" fmla="*/ 4539 w 9077"/>
              <a:gd name="T13" fmla="*/ 9562 h 10373"/>
              <a:gd name="T14" fmla="*/ 4789 w 9077"/>
              <a:gd name="T15" fmla="*/ 9312 h 10373"/>
              <a:gd name="T16" fmla="*/ 7532 w 9077"/>
              <a:gd name="T17" fmla="*/ 9312 h 10373"/>
              <a:gd name="T18" fmla="*/ 8106 w 9077"/>
              <a:gd name="T19" fmla="*/ 8738 h 10373"/>
              <a:gd name="T20" fmla="*/ 8106 w 9077"/>
              <a:gd name="T21" fmla="*/ 7780 h 10373"/>
              <a:gd name="T22" fmla="*/ 6734 w 9077"/>
              <a:gd name="T23" fmla="*/ 7780 h 10373"/>
              <a:gd name="T24" fmla="*/ 6484 w 9077"/>
              <a:gd name="T25" fmla="*/ 7530 h 10373"/>
              <a:gd name="T26" fmla="*/ 6484 w 9077"/>
              <a:gd name="T27" fmla="*/ 4788 h 10373"/>
              <a:gd name="T28" fmla="*/ 6734 w 9077"/>
              <a:gd name="T29" fmla="*/ 4538 h 10373"/>
              <a:gd name="T30" fmla="*/ 8582 w 9077"/>
              <a:gd name="T31" fmla="*/ 4538 h 10373"/>
              <a:gd name="T32" fmla="*/ 8087 w 9077"/>
              <a:gd name="T33" fmla="*/ 4538 h 10373"/>
              <a:gd name="T34" fmla="*/ 8087 w 9077"/>
              <a:gd name="T35" fmla="*/ 4520 h 10373"/>
              <a:gd name="T36" fmla="*/ 4521 w 9077"/>
              <a:gd name="T37" fmla="*/ 972 h 10373"/>
              <a:gd name="T38" fmla="*/ 955 w 9077"/>
              <a:gd name="T39" fmla="*/ 4520 h 10373"/>
              <a:gd name="T40" fmla="*/ 955 w 9077"/>
              <a:gd name="T41" fmla="*/ 4538 h 10373"/>
              <a:gd name="T42" fmla="*/ 0 w 9077"/>
              <a:gd name="T43" fmla="*/ 4538 h 10373"/>
              <a:gd name="T44" fmla="*/ 0 w 9077"/>
              <a:gd name="T45" fmla="*/ 6558 h 10373"/>
              <a:gd name="T46" fmla="*/ 1222 w 9077"/>
              <a:gd name="T47" fmla="*/ 7781 h 10373"/>
              <a:gd name="T48" fmla="*/ 2343 w 9077"/>
              <a:gd name="T49" fmla="*/ 7781 h 10373"/>
              <a:gd name="T50" fmla="*/ 2593 w 9077"/>
              <a:gd name="T51" fmla="*/ 7531 h 10373"/>
              <a:gd name="T52" fmla="*/ 2593 w 9077"/>
              <a:gd name="T53" fmla="*/ 4788 h 10373"/>
              <a:gd name="T54" fmla="*/ 2343 w 9077"/>
              <a:gd name="T55" fmla="*/ 4538 h 10373"/>
              <a:gd name="T56" fmla="*/ 0 w 9077"/>
              <a:gd name="T57" fmla="*/ 4538 h 10373"/>
              <a:gd name="T58" fmla="*/ 0 w 9077"/>
              <a:gd name="T59" fmla="*/ 4516 h 10373"/>
              <a:gd name="T60" fmla="*/ 4539 w 9077"/>
              <a:gd name="T61" fmla="*/ 0 h 10373"/>
              <a:gd name="T62" fmla="*/ 9077 w 9077"/>
              <a:gd name="T63" fmla="*/ 4516 h 10373"/>
              <a:gd name="T64" fmla="*/ 9077 w 9077"/>
              <a:gd name="T65" fmla="*/ 4538 h 10373"/>
              <a:gd name="T66" fmla="*/ 8582 w 9077"/>
              <a:gd name="T67" fmla="*/ 4538 h 10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77" h="10373">
                <a:moveTo>
                  <a:pt x="8582" y="4538"/>
                </a:moveTo>
                <a:lnTo>
                  <a:pt x="9077" y="4538"/>
                </a:lnTo>
                <a:lnTo>
                  <a:pt x="9077" y="9151"/>
                </a:lnTo>
                <a:cubicBezTo>
                  <a:pt x="9077" y="9826"/>
                  <a:pt x="8530" y="10373"/>
                  <a:pt x="7855" y="10373"/>
                </a:cubicBezTo>
                <a:lnTo>
                  <a:pt x="4789" y="10373"/>
                </a:lnTo>
                <a:cubicBezTo>
                  <a:pt x="4651" y="10373"/>
                  <a:pt x="4539" y="10261"/>
                  <a:pt x="4539" y="10123"/>
                </a:cubicBezTo>
                <a:lnTo>
                  <a:pt x="4539" y="9562"/>
                </a:lnTo>
                <a:cubicBezTo>
                  <a:pt x="4539" y="9425"/>
                  <a:pt x="4651" y="9312"/>
                  <a:pt x="4789" y="9312"/>
                </a:cubicBezTo>
                <a:lnTo>
                  <a:pt x="7532" y="9312"/>
                </a:lnTo>
                <a:cubicBezTo>
                  <a:pt x="7850" y="9312"/>
                  <a:pt x="8106" y="9055"/>
                  <a:pt x="8106" y="8738"/>
                </a:cubicBezTo>
                <a:lnTo>
                  <a:pt x="8106" y="7780"/>
                </a:lnTo>
                <a:lnTo>
                  <a:pt x="6734" y="7780"/>
                </a:lnTo>
                <a:cubicBezTo>
                  <a:pt x="6596" y="7780"/>
                  <a:pt x="6484" y="7667"/>
                  <a:pt x="6484" y="7530"/>
                </a:cubicBezTo>
                <a:lnTo>
                  <a:pt x="6484" y="4788"/>
                </a:lnTo>
                <a:cubicBezTo>
                  <a:pt x="6484" y="4651"/>
                  <a:pt x="6596" y="4538"/>
                  <a:pt x="6734" y="4538"/>
                </a:cubicBezTo>
                <a:lnTo>
                  <a:pt x="8582" y="4538"/>
                </a:lnTo>
                <a:lnTo>
                  <a:pt x="8087" y="4538"/>
                </a:lnTo>
                <a:lnTo>
                  <a:pt x="8087" y="4520"/>
                </a:lnTo>
                <a:cubicBezTo>
                  <a:pt x="8087" y="2560"/>
                  <a:pt x="6491" y="972"/>
                  <a:pt x="4521" y="972"/>
                </a:cubicBezTo>
                <a:cubicBezTo>
                  <a:pt x="2552" y="972"/>
                  <a:pt x="955" y="2561"/>
                  <a:pt x="955" y="4520"/>
                </a:cubicBezTo>
                <a:lnTo>
                  <a:pt x="955" y="4538"/>
                </a:lnTo>
                <a:lnTo>
                  <a:pt x="0" y="4538"/>
                </a:lnTo>
                <a:lnTo>
                  <a:pt x="0" y="6558"/>
                </a:lnTo>
                <a:cubicBezTo>
                  <a:pt x="0" y="7233"/>
                  <a:pt x="547" y="7781"/>
                  <a:pt x="1222" y="7781"/>
                </a:cubicBezTo>
                <a:lnTo>
                  <a:pt x="2343" y="7781"/>
                </a:lnTo>
                <a:cubicBezTo>
                  <a:pt x="2481" y="7781"/>
                  <a:pt x="2593" y="7668"/>
                  <a:pt x="2593" y="7531"/>
                </a:cubicBezTo>
                <a:lnTo>
                  <a:pt x="2593" y="4788"/>
                </a:lnTo>
                <a:cubicBezTo>
                  <a:pt x="2593" y="4651"/>
                  <a:pt x="2481" y="4538"/>
                  <a:pt x="2343" y="4538"/>
                </a:cubicBezTo>
                <a:lnTo>
                  <a:pt x="0" y="4538"/>
                </a:lnTo>
                <a:lnTo>
                  <a:pt x="0" y="4516"/>
                </a:lnTo>
                <a:cubicBezTo>
                  <a:pt x="0" y="2022"/>
                  <a:pt x="2032" y="0"/>
                  <a:pt x="4539" y="0"/>
                </a:cubicBezTo>
                <a:cubicBezTo>
                  <a:pt x="7045" y="0"/>
                  <a:pt x="9077" y="2021"/>
                  <a:pt x="9077" y="4516"/>
                </a:cubicBezTo>
                <a:lnTo>
                  <a:pt x="9077" y="4538"/>
                </a:lnTo>
                <a:lnTo>
                  <a:pt x="8582" y="4538"/>
                </a:lnTo>
                <a:close/>
              </a:path>
            </a:pathLst>
          </a:custGeom>
          <a:solidFill>
            <a:srgbClr val="FFFFFF"/>
          </a:solidFill>
          <a:ln>
            <a:noFill/>
          </a:ln>
        </p:spPr>
        <p:txBody>
          <a:bodyPr/>
          <a:lstStyle/>
          <a:p>
            <a:endParaRPr lang="zh-CN" altLang="en-US"/>
          </a:p>
        </p:txBody>
      </p:sp>
      <p:sp>
        <p:nvSpPr>
          <p:cNvPr id="69" name="iconfont-1191-801506"/>
          <p:cNvSpPr>
            <a:spLocks noChangeAspect="1"/>
          </p:cNvSpPr>
          <p:nvPr>
            <p:custDataLst>
              <p:tags r:id="rId13"/>
            </p:custDataLst>
          </p:nvPr>
        </p:nvSpPr>
        <p:spPr bwMode="auto">
          <a:xfrm>
            <a:off x="8791845" y="5551878"/>
            <a:ext cx="328638" cy="355694"/>
          </a:xfrm>
          <a:custGeom>
            <a:avLst/>
            <a:gdLst>
              <a:gd name="T0" fmla="*/ 5844 w 7439"/>
              <a:gd name="T1" fmla="*/ 8051 h 8051"/>
              <a:gd name="T2" fmla="*/ 5844 w 7439"/>
              <a:gd name="T3" fmla="*/ 8051 h 8051"/>
              <a:gd name="T4" fmla="*/ 5803 w 7439"/>
              <a:gd name="T5" fmla="*/ 8050 h 8051"/>
              <a:gd name="T6" fmla="*/ 2311 w 7439"/>
              <a:gd name="T7" fmla="*/ 5617 h 8051"/>
              <a:gd name="T8" fmla="*/ 1860 w 7439"/>
              <a:gd name="T9" fmla="*/ 5072 h 8051"/>
              <a:gd name="T10" fmla="*/ 150 w 7439"/>
              <a:gd name="T11" fmla="*/ 1220 h 8051"/>
              <a:gd name="T12" fmla="*/ 1801 w 7439"/>
              <a:gd name="T13" fmla="*/ 0 h 8051"/>
              <a:gd name="T14" fmla="*/ 2213 w 7439"/>
              <a:gd name="T15" fmla="*/ 220 h 8051"/>
              <a:gd name="T16" fmla="*/ 2927 w 7439"/>
              <a:gd name="T17" fmla="*/ 2121 h 8051"/>
              <a:gd name="T18" fmla="*/ 2927 w 7439"/>
              <a:gd name="T19" fmla="*/ 2146 h 8051"/>
              <a:gd name="T20" fmla="*/ 2918 w 7439"/>
              <a:gd name="T21" fmla="*/ 2170 h 8051"/>
              <a:gd name="T22" fmla="*/ 2552 w 7439"/>
              <a:gd name="T23" fmla="*/ 2522 h 8051"/>
              <a:gd name="T24" fmla="*/ 2253 w 7439"/>
              <a:gd name="T25" fmla="*/ 2888 h 8051"/>
              <a:gd name="T26" fmla="*/ 3106 w 7439"/>
              <a:gd name="T27" fmla="*/ 4209 h 8051"/>
              <a:gd name="T28" fmla="*/ 3450 w 7439"/>
              <a:gd name="T29" fmla="*/ 4624 h 8051"/>
              <a:gd name="T30" fmla="*/ 4571 w 7439"/>
              <a:gd name="T31" fmla="*/ 5688 h 8051"/>
              <a:gd name="T32" fmla="*/ 4997 w 7439"/>
              <a:gd name="T33" fmla="*/ 5476 h 8051"/>
              <a:gd name="T34" fmla="*/ 5424 w 7439"/>
              <a:gd name="T35" fmla="*/ 5198 h 8051"/>
              <a:gd name="T36" fmla="*/ 5449 w 7439"/>
              <a:gd name="T37" fmla="*/ 5194 h 8051"/>
              <a:gd name="T38" fmla="*/ 5474 w 7439"/>
              <a:gd name="T39" fmla="*/ 5199 h 8051"/>
              <a:gd name="T40" fmla="*/ 7236 w 7439"/>
              <a:gd name="T41" fmla="*/ 6284 h 8051"/>
              <a:gd name="T42" fmla="*/ 7337 w 7439"/>
              <a:gd name="T43" fmla="*/ 6799 h 8051"/>
              <a:gd name="T44" fmla="*/ 5844 w 7439"/>
              <a:gd name="T45" fmla="*/ 8051 h 8051"/>
              <a:gd name="T46" fmla="*/ 5844 w 7439"/>
              <a:gd name="T47" fmla="*/ 8051 h 8051"/>
              <a:gd name="T48" fmla="*/ 5844 w 7439"/>
              <a:gd name="T49" fmla="*/ 8051 h 8051"/>
              <a:gd name="T50" fmla="*/ 5844 w 7439"/>
              <a:gd name="T51" fmla="*/ 8051 h 8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439" h="8051">
                <a:moveTo>
                  <a:pt x="5844" y="8051"/>
                </a:moveTo>
                <a:lnTo>
                  <a:pt x="5844" y="8051"/>
                </a:lnTo>
                <a:lnTo>
                  <a:pt x="5803" y="8050"/>
                </a:lnTo>
                <a:cubicBezTo>
                  <a:pt x="4836" y="8001"/>
                  <a:pt x="3531" y="7091"/>
                  <a:pt x="2311" y="5617"/>
                </a:cubicBezTo>
                <a:lnTo>
                  <a:pt x="1860" y="5072"/>
                </a:lnTo>
                <a:cubicBezTo>
                  <a:pt x="640" y="3598"/>
                  <a:pt x="0" y="2157"/>
                  <a:pt x="150" y="1220"/>
                </a:cubicBezTo>
                <a:cubicBezTo>
                  <a:pt x="255" y="558"/>
                  <a:pt x="1239" y="0"/>
                  <a:pt x="1801" y="0"/>
                </a:cubicBezTo>
                <a:cubicBezTo>
                  <a:pt x="2078" y="0"/>
                  <a:pt x="2178" y="137"/>
                  <a:pt x="2213" y="220"/>
                </a:cubicBezTo>
                <a:cubicBezTo>
                  <a:pt x="2531" y="785"/>
                  <a:pt x="2925" y="1768"/>
                  <a:pt x="2927" y="2121"/>
                </a:cubicBezTo>
                <a:lnTo>
                  <a:pt x="2927" y="2146"/>
                </a:lnTo>
                <a:lnTo>
                  <a:pt x="2918" y="2170"/>
                </a:lnTo>
                <a:cubicBezTo>
                  <a:pt x="2848" y="2355"/>
                  <a:pt x="2691" y="2444"/>
                  <a:pt x="2552" y="2522"/>
                </a:cubicBezTo>
                <a:cubicBezTo>
                  <a:pt x="2370" y="2625"/>
                  <a:pt x="2266" y="2693"/>
                  <a:pt x="2253" y="2888"/>
                </a:cubicBezTo>
                <a:cubicBezTo>
                  <a:pt x="2250" y="2947"/>
                  <a:pt x="2301" y="3216"/>
                  <a:pt x="3106" y="4209"/>
                </a:cubicBezTo>
                <a:lnTo>
                  <a:pt x="3450" y="4624"/>
                </a:lnTo>
                <a:cubicBezTo>
                  <a:pt x="4257" y="5577"/>
                  <a:pt x="4511" y="5680"/>
                  <a:pt x="4571" y="5688"/>
                </a:cubicBezTo>
                <a:cubicBezTo>
                  <a:pt x="4765" y="5715"/>
                  <a:pt x="4857" y="5630"/>
                  <a:pt x="4997" y="5476"/>
                </a:cubicBezTo>
                <a:cubicBezTo>
                  <a:pt x="5104" y="5359"/>
                  <a:pt x="5224" y="5227"/>
                  <a:pt x="5424" y="5198"/>
                </a:cubicBezTo>
                <a:lnTo>
                  <a:pt x="5449" y="5194"/>
                </a:lnTo>
                <a:lnTo>
                  <a:pt x="5474" y="5199"/>
                </a:lnTo>
                <a:cubicBezTo>
                  <a:pt x="5826" y="5273"/>
                  <a:pt x="6725" y="5853"/>
                  <a:pt x="7236" y="6284"/>
                </a:cubicBezTo>
                <a:cubicBezTo>
                  <a:pt x="7310" y="6333"/>
                  <a:pt x="7439" y="6478"/>
                  <a:pt x="7337" y="6799"/>
                </a:cubicBezTo>
                <a:cubicBezTo>
                  <a:pt x="7177" y="7303"/>
                  <a:pt x="6480" y="8051"/>
                  <a:pt x="5844" y="8051"/>
                </a:cubicBezTo>
                <a:lnTo>
                  <a:pt x="5844" y="8051"/>
                </a:lnTo>
                <a:lnTo>
                  <a:pt x="5844" y="8051"/>
                </a:lnTo>
                <a:close/>
                <a:moveTo>
                  <a:pt x="5844" y="8051"/>
                </a:moveTo>
                <a:close/>
              </a:path>
            </a:pathLst>
          </a:custGeom>
          <a:solidFill>
            <a:srgbClr val="FFFFFF"/>
          </a:solidFill>
          <a:ln>
            <a:noFill/>
          </a:ln>
        </p:spPr>
        <p:txBody>
          <a:bodyPr/>
          <a:lstStyle/>
          <a:p>
            <a:endParaRPr lang="zh-CN" altLang="en-US"/>
          </a:p>
        </p:txBody>
      </p:sp>
      <p:sp>
        <p:nvSpPr>
          <p:cNvPr id="71" name="直角三角形 70"/>
          <p:cNvSpPr/>
          <p:nvPr/>
        </p:nvSpPr>
        <p:spPr>
          <a:xfrm>
            <a:off x="829945" y="3826941"/>
            <a:ext cx="2183681" cy="2183681"/>
          </a:xfrm>
          <a:prstGeom prst="rtTriangle">
            <a:avLst/>
          </a:prstGeom>
          <a:solidFill>
            <a:srgbClr val="961318"/>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indent="504190" algn="just">
              <a:lnSpc>
                <a:spcPct val="120000"/>
              </a:lnSpc>
              <a:defRPr/>
            </a:pPr>
            <a:endParaRPr lang="zh-CN" altLang="en-US" sz="2000" kern="0" dirty="0">
              <a:solidFill>
                <a:srgbClr val="768394"/>
              </a:solidFill>
              <a:latin typeface="Arial" panose="020B0604020202020204"/>
              <a:ea typeface="微软雅黑" panose="020B0503020204020204" charset="-122"/>
            </a:endParaRPr>
          </a:p>
        </p:txBody>
      </p:sp>
      <p:sp>
        <p:nvSpPr>
          <p:cNvPr id="2" name="文本框 1"/>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93041"/>
            <a:chOff x="335361" y="116633"/>
            <a:chExt cx="11521279" cy="693041"/>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a:t>
              </a:r>
              <a:r>
                <a:rPr kumimoji="0" lang="en-US" altLang="zh-CN"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动态规划</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3" name="矩形 2"/>
          <p:cNvSpPr/>
          <p:nvPr/>
        </p:nvSpPr>
        <p:spPr>
          <a:xfrm>
            <a:off x="5837020" y="1717133"/>
            <a:ext cx="5875555" cy="4156363"/>
          </a:xfrm>
          <a:prstGeom prst="rect">
            <a:avLst/>
          </a:prstGeom>
          <a:solidFill>
            <a:srgbClr val="FFFFFF"/>
          </a:solidFill>
          <a:ln w="635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lIns="108000" tIns="612000" rIns="108000" bIns="0" rtlCol="0" anchor="t"/>
          <a:lstStyle/>
          <a:p>
            <a:pPr marL="285750" indent="-285750" defTabSz="457200">
              <a:lnSpc>
                <a:spcPct val="120000"/>
              </a:lnSpc>
              <a:spcAft>
                <a:spcPts val="1200"/>
              </a:spcAft>
              <a:buClr>
                <a:srgbClr val="961318"/>
              </a:buClr>
              <a:buFont typeface="Arial" panose="020B0604020202020204" pitchFamily="34" charset="0"/>
              <a:buChar char="•"/>
            </a:pPr>
            <a:r>
              <a:rPr lang="zh-CN" altLang="en-US" kern="0" dirty="0">
                <a:solidFill>
                  <a:srgbClr val="000000">
                    <a:lumMod val="75000"/>
                    <a:lumOff val="25000"/>
                  </a:srgbClr>
                </a:solidFill>
                <a:latin typeface="Arial" panose="020B0604020202020204"/>
                <a:ea typeface="宋体" panose="02010600030101010101" pitchFamily="2" charset="-122"/>
                <a:cs typeface="+mn-ea"/>
                <a:sym typeface="+mn-lt"/>
              </a:rPr>
              <a:t>将组件、半成品、成品状态定义为哈希元组，方便存储最大利润</a:t>
            </a:r>
            <a:endParaRPr lang="en-US" altLang="zh-CN" kern="0" dirty="0">
              <a:solidFill>
                <a:srgbClr val="000000">
                  <a:lumMod val="75000"/>
                  <a:lumOff val="25000"/>
                </a:srgbClr>
              </a:solidFill>
              <a:latin typeface="Arial" panose="020B0604020202020204"/>
              <a:ea typeface="宋体" panose="02010600030101010101" pitchFamily="2" charset="-122"/>
              <a:cs typeface="+mn-ea"/>
              <a:sym typeface="+mn-lt"/>
            </a:endParaRPr>
          </a:p>
          <a:p>
            <a:pPr marL="285750" indent="-285750" defTabSz="457200">
              <a:lnSpc>
                <a:spcPct val="120000"/>
              </a:lnSpc>
              <a:spcAft>
                <a:spcPts val="1200"/>
              </a:spcAft>
              <a:buClr>
                <a:srgbClr val="961318"/>
              </a:buClr>
              <a:buFont typeface="Arial" panose="020B0604020202020204" pitchFamily="34" charset="0"/>
              <a:buChar char="•"/>
            </a:pPr>
            <a:r>
              <a:rPr lang="zh-CN" altLang="en-US" kern="0" dirty="0">
                <a:solidFill>
                  <a:srgbClr val="000000">
                    <a:lumMod val="75000"/>
                    <a:lumOff val="25000"/>
                  </a:srgbClr>
                </a:solidFill>
                <a:latin typeface="Arial" panose="020B0604020202020204"/>
                <a:ea typeface="宋体" panose="02010600030101010101" pitchFamily="2" charset="-122"/>
                <a:cs typeface="+mn-ea"/>
                <a:sym typeface="+mn-lt"/>
              </a:rPr>
              <a:t>终止条件：①成品合格并已完成销售</a:t>
            </a:r>
            <a:endParaRPr lang="zh-CN" altLang="en-US" kern="0" dirty="0">
              <a:solidFill>
                <a:srgbClr val="000000">
                  <a:lumMod val="75000"/>
                  <a:lumOff val="25000"/>
                </a:srgbClr>
              </a:solidFill>
              <a:latin typeface="Arial" panose="020B0604020202020204"/>
              <a:ea typeface="宋体" panose="02010600030101010101" pitchFamily="2" charset="-122"/>
              <a:cs typeface="+mn-ea"/>
              <a:sym typeface="+mn-lt"/>
            </a:endParaRPr>
          </a:p>
          <a:p>
            <a:pPr indent="0" defTabSz="457200">
              <a:lnSpc>
                <a:spcPct val="120000"/>
              </a:lnSpc>
              <a:spcAft>
                <a:spcPts val="1200"/>
              </a:spcAft>
              <a:buClr>
                <a:srgbClr val="961318"/>
              </a:buClr>
              <a:buFont typeface="Arial" panose="020B0604020202020204" pitchFamily="34" charset="0"/>
              <a:buNone/>
            </a:pPr>
            <a:r>
              <a:rPr lang="en-US" altLang="zh-CN" kern="0" dirty="0">
                <a:solidFill>
                  <a:srgbClr val="000000">
                    <a:lumMod val="75000"/>
                    <a:lumOff val="25000"/>
                  </a:srgbClr>
                </a:solidFill>
                <a:latin typeface="Arial" panose="020B0604020202020204"/>
                <a:ea typeface="宋体" panose="02010600030101010101" pitchFamily="2" charset="-122"/>
                <a:cs typeface="+mn-ea"/>
                <a:sym typeface="+mn-lt"/>
              </a:rPr>
              <a:t>                       </a:t>
            </a:r>
            <a:r>
              <a:rPr lang="zh-CN" altLang="en-US" kern="0" dirty="0">
                <a:solidFill>
                  <a:srgbClr val="000000">
                    <a:lumMod val="75000"/>
                    <a:lumOff val="25000"/>
                  </a:srgbClr>
                </a:solidFill>
                <a:latin typeface="Arial" panose="020B0604020202020204"/>
                <a:ea typeface="宋体" panose="02010600030101010101" pitchFamily="2" charset="-122"/>
                <a:cs typeface="+mn-ea"/>
                <a:sym typeface="+mn-lt"/>
              </a:rPr>
              <a:t>②不合格品已拆解并完成回收</a:t>
            </a:r>
            <a:endParaRPr lang="zh-CN" altLang="en-US" kern="0" dirty="0">
              <a:solidFill>
                <a:srgbClr val="000000">
                  <a:lumMod val="75000"/>
                  <a:lumOff val="25000"/>
                </a:srgbClr>
              </a:solidFill>
              <a:latin typeface="Arial" panose="020B0604020202020204"/>
              <a:ea typeface="宋体" panose="02010600030101010101" pitchFamily="2" charset="-122"/>
              <a:cs typeface="+mn-ea"/>
              <a:sym typeface="+mn-lt"/>
            </a:endParaRPr>
          </a:p>
          <a:p>
            <a:pPr marL="285750" indent="-285750" defTabSz="457200">
              <a:lnSpc>
                <a:spcPct val="120000"/>
              </a:lnSpc>
              <a:spcAft>
                <a:spcPts val="1200"/>
              </a:spcAft>
              <a:buClr>
                <a:srgbClr val="961318"/>
              </a:buClr>
              <a:buFont typeface="Arial" panose="020B0604020202020204" pitchFamily="34" charset="0"/>
              <a:buChar char="•"/>
            </a:pPr>
            <a:r>
              <a:rPr lang="zh-CN" altLang="en-US" kern="0" dirty="0">
                <a:solidFill>
                  <a:srgbClr val="000000">
                    <a:lumMod val="75000"/>
                    <a:lumOff val="25000"/>
                  </a:srgbClr>
                </a:solidFill>
                <a:latin typeface="Arial" panose="020B0604020202020204"/>
                <a:ea typeface="宋体" panose="02010600030101010101" pitchFamily="2" charset="-122"/>
                <a:cs typeface="+mn-ea"/>
                <a:sym typeface="+mn-lt"/>
              </a:rPr>
              <a:t>从初始状态（所有组件未检测，未装配）记录好，回溯生成决策序列，例如：</a:t>
            </a:r>
            <a:endParaRPr lang="zh-CN" altLang="en-US" kern="0" dirty="0">
              <a:solidFill>
                <a:srgbClr val="000000">
                  <a:lumMod val="75000"/>
                  <a:lumOff val="25000"/>
                </a:srgbClr>
              </a:solidFill>
              <a:latin typeface="Arial" panose="020B0604020202020204"/>
              <a:ea typeface="宋体" panose="02010600030101010101" pitchFamily="2" charset="-122"/>
              <a:cs typeface="+mn-ea"/>
              <a:sym typeface="+mn-lt"/>
            </a:endParaRPr>
          </a:p>
          <a:p>
            <a:pPr indent="0" defTabSz="457200">
              <a:lnSpc>
                <a:spcPct val="120000"/>
              </a:lnSpc>
              <a:spcAft>
                <a:spcPts val="1200"/>
              </a:spcAft>
              <a:buClr>
                <a:srgbClr val="961318"/>
              </a:buClr>
              <a:buFont typeface="Arial" panose="020B0604020202020204" pitchFamily="34" charset="0"/>
              <a:buNone/>
            </a:pPr>
            <a:endParaRPr lang="zh-CN" altLang="en-US" kern="0" dirty="0">
              <a:solidFill>
                <a:srgbClr val="000000">
                  <a:lumMod val="75000"/>
                  <a:lumOff val="25000"/>
                </a:srgbClr>
              </a:solidFill>
              <a:latin typeface="Arial" panose="020B0604020202020204"/>
              <a:ea typeface="宋体" panose="02010600030101010101" pitchFamily="2" charset="-122"/>
              <a:cs typeface="+mn-ea"/>
              <a:sym typeface="+mn-lt"/>
            </a:endParaRPr>
          </a:p>
          <a:p>
            <a:pPr indent="0" defTabSz="457200">
              <a:lnSpc>
                <a:spcPct val="120000"/>
              </a:lnSpc>
              <a:spcAft>
                <a:spcPts val="1200"/>
              </a:spcAft>
              <a:buClr>
                <a:srgbClr val="961318"/>
              </a:buClr>
              <a:buFont typeface="Arial" panose="020B0604020202020204" pitchFamily="34" charset="0"/>
              <a:buNone/>
            </a:pPr>
            <a:r>
              <a:rPr lang="en-US" altLang="zh-CN" kern="0" dirty="0">
                <a:solidFill>
                  <a:srgbClr val="000000">
                    <a:lumMod val="75000"/>
                    <a:lumOff val="25000"/>
                  </a:srgbClr>
                </a:solidFill>
                <a:latin typeface="Arial" panose="020B0604020202020204"/>
                <a:ea typeface="宋体" panose="02010600030101010101" pitchFamily="2" charset="-122"/>
                <a:cs typeface="+mn-ea"/>
                <a:sym typeface="+mn-lt"/>
              </a:rPr>
              <a:t>                      </a:t>
            </a:r>
            <a:endParaRPr lang="en-US" altLang="zh-CN" kern="0" dirty="0">
              <a:solidFill>
                <a:srgbClr val="000000">
                  <a:lumMod val="75000"/>
                  <a:lumOff val="25000"/>
                </a:srgbClr>
              </a:solidFill>
              <a:latin typeface="Arial" panose="020B0604020202020204"/>
              <a:ea typeface="宋体" panose="02010600030101010101" pitchFamily="2" charset="-122"/>
              <a:cs typeface="+mn-ea"/>
              <a:sym typeface="+mn-lt"/>
            </a:endParaRPr>
          </a:p>
        </p:txBody>
      </p:sp>
      <p:sp>
        <p:nvSpPr>
          <p:cNvPr id="4" name="矩形 3"/>
          <p:cNvSpPr/>
          <p:nvPr/>
        </p:nvSpPr>
        <p:spPr>
          <a:xfrm>
            <a:off x="5837020" y="1717133"/>
            <a:ext cx="5875555" cy="457200"/>
          </a:xfrm>
          <a:prstGeom prst="rect">
            <a:avLst/>
          </a:prstGeom>
          <a:solidFill>
            <a:srgbClr val="961318"/>
          </a:solidFill>
          <a:ln w="12700" cap="flat" cmpd="sng" algn="ctr">
            <a:noFill/>
            <a:prstDash val="solid"/>
            <a:miter lim="800000"/>
          </a:ln>
          <a:effectLst/>
        </p:spPr>
        <p:txBody>
          <a:bodyPr rtlCol="0" anchor="ctr"/>
          <a:lstStyle/>
          <a:p>
            <a:pPr algn="ctr" defTabSz="457200">
              <a:defRPr/>
            </a:pPr>
            <a:r>
              <a:rPr lang="zh-CN" altLang="en-US" sz="2000" b="1" kern="0" dirty="0">
                <a:solidFill>
                  <a:srgbClr val="FFFFFF"/>
                </a:solidFill>
                <a:latin typeface="Arial" panose="020B0604020202020204"/>
                <a:sym typeface="+mn-lt"/>
              </a:rPr>
              <a:t>递归与回溯</a:t>
            </a:r>
            <a:endParaRPr lang="zh-CN" altLang="en-US" sz="2000" b="1" kern="0" dirty="0">
              <a:solidFill>
                <a:srgbClr val="FFFFFF"/>
              </a:solidFill>
              <a:latin typeface="Arial" panose="020B0604020202020204"/>
              <a:sym typeface="+mn-lt"/>
            </a:endParaRPr>
          </a:p>
        </p:txBody>
      </p:sp>
      <p:sp>
        <p:nvSpPr>
          <p:cNvPr id="5" name="L 形 4"/>
          <p:cNvSpPr/>
          <p:nvPr/>
        </p:nvSpPr>
        <p:spPr bwMode="auto">
          <a:xfrm rot="5400000">
            <a:off x="467360" y="1282990"/>
            <a:ext cx="628535" cy="628535"/>
          </a:xfrm>
          <a:prstGeom prst="corner">
            <a:avLst>
              <a:gd name="adj1" fmla="val 11572"/>
              <a:gd name="adj2" fmla="val 11638"/>
            </a:avLst>
          </a:prstGeom>
          <a:solidFill>
            <a:srgbClr val="961318"/>
          </a:solidFill>
          <a:ln>
            <a:solidFill>
              <a:srgbClr val="961318"/>
            </a:solidFill>
          </a:ln>
        </p:spPr>
        <p:txBody>
          <a:bodyPr rot="0" spcFirstLastPara="0" vertOverflow="overflow" horzOverflow="overflow" vert="horz" wrap="square" lIns="91440" tIns="45720" rIns="91440" bIns="45720" numCol="1" spcCol="0" rtlCol="0" fromWordArt="0" anchor="ctr" anchorCtr="0" forceAA="0" compatLnSpc="1">
            <a:noAutofit/>
          </a:bodyPr>
          <a:lstStyle/>
          <a:p>
            <a:pPr algn="ctr">
              <a:buSzPct val="25000"/>
              <a:defRPr/>
            </a:pPr>
            <a:endParaRPr lang="en-US" b="1" kern="0" dirty="0">
              <a:solidFill>
                <a:srgbClr val="FFFFFF"/>
              </a:solidFill>
              <a:latin typeface="Arial" panose="020B0604020202020204"/>
              <a:sym typeface="+mn-lt"/>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1627" y="2312928"/>
            <a:ext cx="4646332" cy="3149129"/>
          </a:xfrm>
          <a:prstGeom prst="rect">
            <a:avLst/>
          </a:prstGeom>
        </p:spPr>
      </p:pic>
      <p:pic>
        <p:nvPicPr>
          <p:cNvPr id="6" name="图片 5"/>
          <p:cNvPicPr>
            <a:picLocks noChangeAspect="1"/>
          </p:cNvPicPr>
          <p:nvPr/>
        </p:nvPicPr>
        <p:blipFill>
          <a:blip r:embed="rId2"/>
          <a:srcRect l="7283" r="10908" b="-15579"/>
          <a:stretch>
            <a:fillRect/>
          </a:stretch>
        </p:blipFill>
        <p:spPr>
          <a:xfrm>
            <a:off x="5829935" y="4854575"/>
            <a:ext cx="5882640" cy="1000760"/>
          </a:xfrm>
          <a:prstGeom prst="rect">
            <a:avLst/>
          </a:prstGeom>
        </p:spPr>
      </p:pic>
      <p:sp>
        <p:nvSpPr>
          <p:cNvPr id="12" name="文本框 11"/>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93041"/>
            <a:chOff x="335361" y="116633"/>
            <a:chExt cx="11521279" cy="693041"/>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问题三：最优决策</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15" name="矩形 14"/>
          <p:cNvSpPr/>
          <p:nvPr/>
        </p:nvSpPr>
        <p:spPr>
          <a:xfrm>
            <a:off x="212130" y="1858918"/>
            <a:ext cx="11513006" cy="422075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16" name="组合 15"/>
          <p:cNvGrpSpPr/>
          <p:nvPr/>
        </p:nvGrpSpPr>
        <p:grpSpPr>
          <a:xfrm>
            <a:off x="598112" y="2204864"/>
            <a:ext cx="10867785" cy="3121556"/>
            <a:chOff x="598112" y="2302016"/>
            <a:chExt cx="10867785" cy="3121556"/>
          </a:xfrm>
        </p:grpSpPr>
        <p:sp>
          <p:nvSpPr>
            <p:cNvPr id="17" name="文本框 16"/>
            <p:cNvSpPr txBox="1"/>
            <p:nvPr/>
          </p:nvSpPr>
          <p:spPr>
            <a:xfrm>
              <a:off x="2037974" y="2302016"/>
              <a:ext cx="9427923" cy="3121556"/>
            </a:xfrm>
            <a:prstGeom prst="rect">
              <a:avLst/>
            </a:prstGeom>
            <a:noFill/>
          </p:spPr>
          <p:txBody>
            <a:bodyPr wrap="square" rtlCol="0">
              <a:normAutofit/>
            </a:bodyPr>
            <a:lstStyle/>
            <a:p>
              <a:pPr algn="just">
                <a:lnSpc>
                  <a:spcPct val="130000"/>
                </a:lnSpc>
                <a:spcBef>
                  <a:spcPts val="600"/>
                </a:spcBef>
                <a:defRPr/>
              </a:pPr>
              <a:endParaRPr lang="zh-CN" altLang="en-US" sz="1600" kern="0" dirty="0">
                <a:solidFill>
                  <a:srgbClr val="222222"/>
                </a:solidFill>
                <a:ea typeface="阿里巴巴普惠体 R"/>
                <a:cs typeface="阿里巴巴普惠体 M" panose="00020600040101010101" pitchFamily="18" charset="-122"/>
              </a:endParaRPr>
            </a:p>
          </p:txBody>
        </p:sp>
        <p:grpSp>
          <p:nvGrpSpPr>
            <p:cNvPr id="18" name="组合 17"/>
            <p:cNvGrpSpPr/>
            <p:nvPr/>
          </p:nvGrpSpPr>
          <p:grpSpPr>
            <a:xfrm>
              <a:off x="598112" y="2302016"/>
              <a:ext cx="1176713" cy="514645"/>
              <a:chOff x="10068105" y="1734537"/>
              <a:chExt cx="1690700" cy="514645"/>
            </a:xfrm>
          </p:grpSpPr>
          <p:grpSp>
            <p:nvGrpSpPr>
              <p:cNvPr id="19" name="组合 18"/>
              <p:cNvGrpSpPr/>
              <p:nvPr/>
            </p:nvGrpSpPr>
            <p:grpSpPr>
              <a:xfrm>
                <a:off x="10068105" y="1734537"/>
                <a:ext cx="1690700" cy="514645"/>
                <a:chOff x="10068105" y="1734537"/>
                <a:chExt cx="1690700" cy="514645"/>
              </a:xfrm>
            </p:grpSpPr>
            <p:sp>
              <p:nvSpPr>
                <p:cNvPr id="21" name="平行四边形 20"/>
                <p:cNvSpPr/>
                <p:nvPr/>
              </p:nvSpPr>
              <p:spPr>
                <a:xfrm>
                  <a:off x="10136045" y="1734537"/>
                  <a:ext cx="1622760" cy="461665"/>
                </a:xfrm>
                <a:prstGeom prst="parallelogram">
                  <a:avLst>
                    <a:gd name="adj" fmla="val 0"/>
                  </a:avLst>
                </a:prstGeom>
                <a:noFill/>
                <a:ln w="9525" cap="flat" cmpd="sng" algn="ctr">
                  <a:solidFill>
                    <a:srgbClr val="961318"/>
                  </a:solid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sp>
              <p:nvSpPr>
                <p:cNvPr id="22" name="平行四边形 21"/>
                <p:cNvSpPr/>
                <p:nvPr/>
              </p:nvSpPr>
              <p:spPr>
                <a:xfrm>
                  <a:off x="10068105" y="1787517"/>
                  <a:ext cx="1622760" cy="461665"/>
                </a:xfrm>
                <a:prstGeom prst="parallelogram">
                  <a:avLst>
                    <a:gd name="adj" fmla="val 0"/>
                  </a:avLst>
                </a:prstGeom>
                <a:solidFill>
                  <a:srgbClr val="961318"/>
                </a:solidFill>
                <a:ln w="12700" cap="flat" cmpd="sng" algn="ctr">
                  <a:no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grpSp>
          <p:sp>
            <p:nvSpPr>
              <p:cNvPr id="20" name="文本框 19"/>
              <p:cNvSpPr txBox="1"/>
              <p:nvPr/>
            </p:nvSpPr>
            <p:spPr>
              <a:xfrm>
                <a:off x="10627637" y="1805090"/>
                <a:ext cx="445235" cy="423545"/>
              </a:xfrm>
              <a:prstGeom prst="rect">
                <a:avLst/>
              </a:prstGeom>
              <a:noFill/>
            </p:spPr>
            <p:txBody>
              <a:bodyPr wrap="none" rtlCol="0">
                <a:spAutoFit/>
              </a:bodyPr>
              <a:lstStyle/>
              <a:p>
                <a:pPr algn="ctr">
                  <a:lnSpc>
                    <a:spcPct val="120000"/>
                  </a:lnSpc>
                  <a:defRPr/>
                </a:pPr>
                <a:endParaRPr lang="zh-CN" altLang="en-US" kern="0" dirty="0">
                  <a:solidFill>
                    <a:prstClr val="white"/>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endParaRPr>
              </a:p>
            </p:txBody>
          </p:sp>
        </p:grpSp>
      </p:grpSp>
      <p:sp>
        <p:nvSpPr>
          <p:cNvPr id="36" name="圆角矩形 6"/>
          <p:cNvSpPr/>
          <p:nvPr/>
        </p:nvSpPr>
        <p:spPr>
          <a:xfrm>
            <a:off x="413878" y="1019284"/>
            <a:ext cx="3177540" cy="490220"/>
          </a:xfrm>
          <a:prstGeom prst="roundRect">
            <a:avLst>
              <a:gd name="adj" fmla="val 37046"/>
            </a:avLst>
          </a:prstGeom>
          <a:gradFill>
            <a:gsLst>
              <a:gs pos="53000">
                <a:srgbClr val="961318"/>
              </a:gs>
              <a:gs pos="95000">
                <a:srgbClr val="961318">
                  <a:alpha val="0"/>
                </a:srgbClr>
              </a:gs>
              <a:gs pos="0">
                <a:srgbClr val="961318"/>
              </a:gs>
            </a:gsLst>
            <a:lin ang="20700000" scaled="0"/>
          </a:gradFill>
          <a:ln w="12700" cap="flat" cmpd="sng" algn="ctr">
            <a:noFill/>
            <a:prstDash val="solid"/>
            <a:miter lim="800000"/>
          </a:ln>
          <a:effectLst/>
        </p:spPr>
        <p:txBody>
          <a:bodyPr rtlCol="0" anchor="ctr"/>
          <a:lstStyle/>
          <a:p>
            <a:pPr algn="ctr">
              <a:defRPr/>
            </a:pPr>
            <a:r>
              <a:rPr lang="zh-CN" altLang="en-US" kern="0">
                <a:solidFill>
                  <a:prstClr val="white"/>
                </a:solidFill>
                <a:latin typeface="微软雅黑" panose="020B0503020204020204" charset="-122"/>
                <a:ea typeface="微软雅黑" panose="020B0503020204020204" charset="-122"/>
              </a:rPr>
              <a:t>最优决策方案</a:t>
            </a:r>
            <a:endParaRPr lang="zh-CN" altLang="en-US" kern="0">
              <a:solidFill>
                <a:prstClr val="white"/>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2601595" y="2719705"/>
            <a:ext cx="7038975" cy="3028950"/>
          </a:xfrm>
          <a:prstGeom prst="rect">
            <a:avLst/>
          </a:prstGeom>
        </p:spPr>
      </p:pic>
      <p:sp>
        <p:nvSpPr>
          <p:cNvPr id="3" name="文本框 2"/>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93041"/>
            <a:chOff x="335361" y="116633"/>
            <a:chExt cx="11521279" cy="693041"/>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问题三：最优决策</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sp>
        <p:nvSpPr>
          <p:cNvPr id="15" name="矩形 14"/>
          <p:cNvSpPr/>
          <p:nvPr/>
        </p:nvSpPr>
        <p:spPr>
          <a:xfrm>
            <a:off x="212130" y="1858918"/>
            <a:ext cx="11513006" cy="422075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16" name="组合 15"/>
          <p:cNvGrpSpPr/>
          <p:nvPr/>
        </p:nvGrpSpPr>
        <p:grpSpPr>
          <a:xfrm>
            <a:off x="598112" y="2204864"/>
            <a:ext cx="10867785" cy="3121556"/>
            <a:chOff x="598112" y="2302016"/>
            <a:chExt cx="10867785" cy="3121556"/>
          </a:xfrm>
        </p:grpSpPr>
        <p:sp>
          <p:nvSpPr>
            <p:cNvPr id="17" name="文本框 16"/>
            <p:cNvSpPr txBox="1"/>
            <p:nvPr/>
          </p:nvSpPr>
          <p:spPr>
            <a:xfrm>
              <a:off x="2037974" y="2302016"/>
              <a:ext cx="9427923" cy="3121556"/>
            </a:xfrm>
            <a:prstGeom prst="rect">
              <a:avLst/>
            </a:prstGeom>
            <a:noFill/>
          </p:spPr>
          <p:txBody>
            <a:bodyPr wrap="square" rtlCol="0">
              <a:normAutofit/>
            </a:bodyPr>
            <a:lstStyle/>
            <a:p>
              <a:pPr algn="just">
                <a:lnSpc>
                  <a:spcPct val="130000"/>
                </a:lnSpc>
                <a:spcBef>
                  <a:spcPts val="600"/>
                </a:spcBef>
                <a:defRPr/>
              </a:pPr>
              <a:endParaRPr lang="zh-CN" altLang="en-US" sz="1600" kern="0" dirty="0">
                <a:solidFill>
                  <a:srgbClr val="222222"/>
                </a:solidFill>
                <a:ea typeface="阿里巴巴普惠体 R"/>
                <a:cs typeface="阿里巴巴普惠体 M" panose="00020600040101010101" pitchFamily="18" charset="-122"/>
              </a:endParaRPr>
            </a:p>
          </p:txBody>
        </p:sp>
        <p:grpSp>
          <p:nvGrpSpPr>
            <p:cNvPr id="18" name="组合 17"/>
            <p:cNvGrpSpPr/>
            <p:nvPr/>
          </p:nvGrpSpPr>
          <p:grpSpPr>
            <a:xfrm>
              <a:off x="598112" y="2302016"/>
              <a:ext cx="1176713" cy="514645"/>
              <a:chOff x="10068105" y="1734537"/>
              <a:chExt cx="1690700" cy="514645"/>
            </a:xfrm>
          </p:grpSpPr>
          <p:grpSp>
            <p:nvGrpSpPr>
              <p:cNvPr id="19" name="组合 18"/>
              <p:cNvGrpSpPr/>
              <p:nvPr/>
            </p:nvGrpSpPr>
            <p:grpSpPr>
              <a:xfrm>
                <a:off x="10068105" y="1734537"/>
                <a:ext cx="1690700" cy="514645"/>
                <a:chOff x="10068105" y="1734537"/>
                <a:chExt cx="1690700" cy="514645"/>
              </a:xfrm>
            </p:grpSpPr>
            <p:sp>
              <p:nvSpPr>
                <p:cNvPr id="21" name="平行四边形 20"/>
                <p:cNvSpPr/>
                <p:nvPr/>
              </p:nvSpPr>
              <p:spPr>
                <a:xfrm>
                  <a:off x="10136045" y="1734537"/>
                  <a:ext cx="1622760" cy="461665"/>
                </a:xfrm>
                <a:prstGeom prst="parallelogram">
                  <a:avLst>
                    <a:gd name="adj" fmla="val 0"/>
                  </a:avLst>
                </a:prstGeom>
                <a:noFill/>
                <a:ln w="9525" cap="flat" cmpd="sng" algn="ctr">
                  <a:solidFill>
                    <a:srgbClr val="961318"/>
                  </a:solid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sp>
              <p:nvSpPr>
                <p:cNvPr id="22" name="平行四边形 21"/>
                <p:cNvSpPr/>
                <p:nvPr/>
              </p:nvSpPr>
              <p:spPr>
                <a:xfrm>
                  <a:off x="10068105" y="1787517"/>
                  <a:ext cx="1622760" cy="461665"/>
                </a:xfrm>
                <a:prstGeom prst="parallelogram">
                  <a:avLst>
                    <a:gd name="adj" fmla="val 0"/>
                  </a:avLst>
                </a:prstGeom>
                <a:solidFill>
                  <a:srgbClr val="961318"/>
                </a:solidFill>
                <a:ln w="12700" cap="flat" cmpd="sng" algn="ctr">
                  <a:no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grpSp>
          <p:sp>
            <p:nvSpPr>
              <p:cNvPr id="20" name="文本框 19"/>
              <p:cNvSpPr txBox="1"/>
              <p:nvPr/>
            </p:nvSpPr>
            <p:spPr>
              <a:xfrm>
                <a:off x="10627637" y="1805090"/>
                <a:ext cx="445235" cy="423545"/>
              </a:xfrm>
              <a:prstGeom prst="rect">
                <a:avLst/>
              </a:prstGeom>
              <a:noFill/>
            </p:spPr>
            <p:txBody>
              <a:bodyPr wrap="none" rtlCol="0">
                <a:spAutoFit/>
              </a:bodyPr>
              <a:lstStyle/>
              <a:p>
                <a:pPr algn="ctr">
                  <a:lnSpc>
                    <a:spcPct val="120000"/>
                  </a:lnSpc>
                  <a:defRPr/>
                </a:pPr>
                <a:endParaRPr lang="zh-CN" altLang="en-US" kern="0" dirty="0">
                  <a:solidFill>
                    <a:prstClr val="white"/>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endParaRPr>
              </a:p>
            </p:txBody>
          </p:sp>
        </p:grpSp>
      </p:grpSp>
      <p:sp>
        <p:nvSpPr>
          <p:cNvPr id="36" name="圆角矩形 6"/>
          <p:cNvSpPr/>
          <p:nvPr/>
        </p:nvSpPr>
        <p:spPr>
          <a:xfrm>
            <a:off x="413878" y="1019284"/>
            <a:ext cx="3177540" cy="490220"/>
          </a:xfrm>
          <a:prstGeom prst="roundRect">
            <a:avLst>
              <a:gd name="adj" fmla="val 37046"/>
            </a:avLst>
          </a:prstGeom>
          <a:gradFill>
            <a:gsLst>
              <a:gs pos="53000">
                <a:srgbClr val="961318"/>
              </a:gs>
              <a:gs pos="95000">
                <a:srgbClr val="961318">
                  <a:alpha val="0"/>
                </a:srgbClr>
              </a:gs>
              <a:gs pos="0">
                <a:srgbClr val="961318"/>
              </a:gs>
            </a:gsLst>
            <a:lin ang="20700000" scaled="0"/>
          </a:gradFill>
          <a:ln w="12700" cap="flat" cmpd="sng" algn="ctr">
            <a:noFill/>
            <a:prstDash val="solid"/>
            <a:miter lim="800000"/>
          </a:ln>
          <a:effectLst/>
        </p:spPr>
        <p:txBody>
          <a:bodyPr rtlCol="0" anchor="ctr"/>
          <a:lstStyle/>
          <a:p>
            <a:pPr algn="ctr">
              <a:defRPr/>
            </a:pPr>
            <a:r>
              <a:rPr lang="zh-CN" altLang="en-US" kern="0">
                <a:solidFill>
                  <a:prstClr val="white"/>
                </a:solidFill>
                <a:latin typeface="微软雅黑" panose="020B0503020204020204" charset="-122"/>
                <a:ea typeface="微软雅黑" panose="020B0503020204020204" charset="-122"/>
              </a:rPr>
              <a:t>最优决策方案</a:t>
            </a:r>
            <a:endParaRPr lang="zh-CN" altLang="en-US" kern="0">
              <a:solidFill>
                <a:prstClr val="white"/>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stretch>
            <a:fillRect/>
          </a:stretch>
        </p:blipFill>
        <p:spPr>
          <a:xfrm>
            <a:off x="2037715" y="2051050"/>
            <a:ext cx="8305800" cy="1866900"/>
          </a:xfrm>
          <a:prstGeom prst="rect">
            <a:avLst/>
          </a:prstGeom>
        </p:spPr>
      </p:pic>
      <p:sp>
        <p:nvSpPr>
          <p:cNvPr id="4" name="文本框 3"/>
          <p:cNvSpPr txBox="1"/>
          <p:nvPr/>
        </p:nvSpPr>
        <p:spPr>
          <a:xfrm>
            <a:off x="2051050" y="3778250"/>
            <a:ext cx="8292465" cy="1707515"/>
          </a:xfrm>
          <a:prstGeom prst="rect">
            <a:avLst/>
          </a:prstGeom>
        </p:spPr>
        <p:txBody>
          <a:bodyPr>
            <a:noAutofit/>
          </a:bodyPr>
          <a:p>
            <a:pPr marL="0" indent="0"/>
            <a:r>
              <a:rPr lang="zh-CN" altLang="en-US" sz="2400" b="0" i="0">
                <a:latin typeface="Inter"/>
                <a:ea typeface="Inter"/>
              </a:rPr>
              <a:t>在成品与半成品的拆解决策方面，遵循如下策略：对于合格产品，持续进行组装直至成为成品；对于经检测不合格的成品，选择将其拆解为半成品。而对于检测后的半成品，若质量合格，则不再进行拆解操作；若判定为次品，则进一步拆解为零件并回收。</a:t>
            </a:r>
            <a:endParaRPr lang="zh-CN" altLang="en-US" sz="2400" b="0" i="0">
              <a:latin typeface="Inter"/>
              <a:ea typeface="Inter"/>
            </a:endParaRPr>
          </a:p>
          <a:p>
            <a:pPr marL="0" indent="0"/>
            <a:r>
              <a:rPr lang="zh-CN" altLang="en-US" sz="2400" b="0" i="0">
                <a:latin typeface="Inter"/>
                <a:ea typeface="Inter"/>
              </a:rPr>
              <a:t>在这一最优决策模式下，所获取的利润期望为 </a:t>
            </a:r>
            <a:r>
              <a:rPr lang="en-US" altLang="zh-CN" sz="2400" b="0" i="0">
                <a:latin typeface="Inter"/>
                <a:ea typeface="Inter"/>
              </a:rPr>
              <a:t>57</a:t>
            </a:r>
            <a:r>
              <a:rPr lang="en-US" altLang="zh-CN" sz="2400" b="0" i="0">
                <a:latin typeface="华文中宋" panose="02010600040101010101" charset="-122"/>
                <a:ea typeface="华文中宋" panose="02010600040101010101" charset="-122"/>
              </a:rPr>
              <a:t>.0</a:t>
            </a:r>
            <a:r>
              <a:rPr lang="en-US" altLang="zh-CN" sz="2400" b="0" i="0">
                <a:latin typeface="Inter"/>
                <a:ea typeface="Inter"/>
              </a:rPr>
              <a:t> </a:t>
            </a:r>
            <a:r>
              <a:rPr lang="zh-CN" altLang="en-US" sz="2400" b="0" i="0">
                <a:latin typeface="Inter"/>
                <a:ea typeface="Inter"/>
              </a:rPr>
              <a:t>元。</a:t>
            </a:r>
            <a:endParaRPr lang="zh-CN" altLang="en-US" sz="2400" b="0" i="0">
              <a:latin typeface="Inter"/>
              <a:ea typeface="Inter"/>
            </a:endParaRPr>
          </a:p>
        </p:txBody>
      </p:sp>
      <p:sp>
        <p:nvSpPr>
          <p:cNvPr id="2" name="文本框 1"/>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b="13696"/>
          <a:stretch>
            <a:fillRect/>
          </a:stretch>
        </p:blipFill>
        <p:spPr>
          <a:xfrm>
            <a:off x="0" y="1"/>
            <a:ext cx="12204296" cy="3083074"/>
          </a:xfrm>
          <a:prstGeom prst="rect">
            <a:avLst/>
          </a:prstGeom>
        </p:spPr>
      </p:pic>
      <p:sp>
        <p:nvSpPr>
          <p:cNvPr id="5" name="矩形 4"/>
          <p:cNvSpPr/>
          <p:nvPr/>
        </p:nvSpPr>
        <p:spPr>
          <a:xfrm>
            <a:off x="0" y="0"/>
            <a:ext cx="12216765" cy="3083074"/>
          </a:xfrm>
          <a:prstGeom prst="rect">
            <a:avLst/>
          </a:prstGeom>
          <a:solidFill>
            <a:srgbClr val="961318">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charset="-122"/>
              <a:cs typeface="+mn-ea"/>
              <a:sym typeface="+mn-lt"/>
            </a:endParaRPr>
          </a:p>
        </p:txBody>
      </p:sp>
      <p:sp>
        <p:nvSpPr>
          <p:cNvPr id="6" name="文本占位符 8"/>
          <p:cNvSpPr txBox="1"/>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961318"/>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B0604020202020204"/>
              <a:ea typeface="微软雅黑" panose="020B0503020204020204" charset="-122"/>
              <a:cs typeface="+mn-ea"/>
              <a:sym typeface="+mn-lt"/>
            </a:endParaRPr>
          </a:p>
        </p:txBody>
      </p:sp>
      <p:sp>
        <p:nvSpPr>
          <p:cNvPr id="8" name="标题 4"/>
          <p:cNvSpPr txBox="1"/>
          <p:nvPr/>
        </p:nvSpPr>
        <p:spPr>
          <a:xfrm>
            <a:off x="2595245" y="4375150"/>
            <a:ext cx="7548245" cy="7467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5400" b="1" dirty="0">
                <a:solidFill>
                  <a:srgbClr val="961318"/>
                </a:solidFill>
                <a:latin typeface="微软雅黑" panose="020B0503020204020204" charset="-122"/>
                <a:ea typeface="微软雅黑" panose="020B0503020204020204" charset="-122"/>
              </a:rPr>
              <a:t>问题四模型建立与</a:t>
            </a:r>
            <a:r>
              <a:rPr lang="zh-CN" altLang="en-US" sz="5400" b="1" dirty="0">
                <a:solidFill>
                  <a:srgbClr val="961318"/>
                </a:solidFill>
                <a:latin typeface="微软雅黑" panose="020B0503020204020204" charset="-122"/>
                <a:ea typeface="微软雅黑" panose="020B0503020204020204" charset="-122"/>
              </a:rPr>
              <a:t>求解</a:t>
            </a:r>
            <a:endParaRPr lang="zh-CN" altLang="en-US" sz="5400" b="1" dirty="0">
              <a:solidFill>
                <a:srgbClr val="961318"/>
              </a:solidFill>
              <a:latin typeface="微软雅黑" panose="020B0503020204020204" charset="-122"/>
              <a:ea typeface="微软雅黑" panose="020B0503020204020204" charset="-122"/>
            </a:endParaRPr>
          </a:p>
        </p:txBody>
      </p:sp>
      <p:cxnSp>
        <p:nvCxnSpPr>
          <p:cNvPr id="9" name="直接连接符 8"/>
          <p:cNvCxnSpPr/>
          <p:nvPr/>
        </p:nvCxnSpPr>
        <p:spPr>
          <a:xfrm>
            <a:off x="3575720" y="5244190"/>
            <a:ext cx="4752528" cy="0"/>
          </a:xfrm>
          <a:prstGeom prst="line">
            <a:avLst/>
          </a:prstGeom>
          <a:noFill/>
          <a:ln w="28575" cap="flat" cmpd="sng" algn="ctr">
            <a:solidFill>
              <a:srgbClr val="961318"/>
            </a:solidFill>
            <a:prstDash val="solid"/>
            <a:headEnd type="oval" w="med" len="med"/>
            <a:tailEnd type="oval" w="med" len="med"/>
          </a:ln>
          <a:effectLst/>
        </p:spPr>
      </p:cxnSp>
      <p:sp>
        <p:nvSpPr>
          <p:cNvPr id="10" name="标题 4"/>
          <p:cNvSpPr txBox="1"/>
          <p:nvPr/>
        </p:nvSpPr>
        <p:spPr>
          <a:xfrm>
            <a:off x="2207565" y="5490719"/>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25000"/>
              </a:lnSpc>
            </a:pPr>
            <a:endParaRPr lang="zh-CN" altLang="en-US" sz="2000" dirty="0">
              <a:solidFill>
                <a:srgbClr val="961318"/>
              </a:solidFill>
              <a:latin typeface="微软雅黑" panose="020B0503020204020204" charset="-122"/>
              <a:ea typeface="微软雅黑" panose="020B0503020204020204" charset="-122"/>
            </a:endParaRPr>
          </a:p>
        </p:txBody>
      </p:sp>
      <p:sp>
        <p:nvSpPr>
          <p:cNvPr id="11" name="文本框 10"/>
          <p:cNvSpPr txBox="1"/>
          <p:nvPr/>
        </p:nvSpPr>
        <p:spPr>
          <a:xfrm>
            <a:off x="10704512" y="6406826"/>
            <a:ext cx="1050925" cy="368300"/>
          </a:xfrm>
          <a:prstGeom prst="rect">
            <a:avLst/>
          </a:prstGeom>
          <a:noFill/>
        </p:spPr>
        <p:txBody>
          <a:bodyPr wrap="none" rtlCol="0">
            <a:spAutoFit/>
          </a:bodyPr>
          <a:lstStyle/>
          <a:p>
            <a:pPr>
              <a:defRPr/>
            </a:pPr>
            <a:r>
              <a:rPr lang="en-US" altLang="zh-CN" b="1" dirty="0">
                <a:solidFill>
                  <a:srgbClr val="961318">
                    <a:alpha val="70000"/>
                  </a:srgbClr>
                </a:solidFill>
                <a:latin typeface="Calibri" panose="020F0502020204030204"/>
                <a:ea typeface="宋体" panose="02010600030101010101" pitchFamily="2" charset="-122"/>
              </a:rPr>
              <a:t>A</a:t>
            </a:r>
            <a:r>
              <a:rPr lang="en-US" altLang="zh-CN" b="1" dirty="0">
                <a:solidFill>
                  <a:srgbClr val="961318">
                    <a:alpha val="70000"/>
                  </a:srgbClr>
                </a:solidFill>
                <a:latin typeface="Calibri" panose="020F0502020204030204"/>
                <a:ea typeface="宋体" panose="02010600030101010101" pitchFamily="2" charset="-122"/>
              </a:rPr>
              <a:t>pril 10</a:t>
            </a:r>
            <a:r>
              <a:rPr lang="en-US" altLang="zh-CN" b="1" baseline="30000" dirty="0">
                <a:solidFill>
                  <a:srgbClr val="961318">
                    <a:alpha val="70000"/>
                  </a:srgbClr>
                </a:solidFill>
                <a:latin typeface="Calibri" panose="020F0502020204030204"/>
                <a:ea typeface="宋体" panose="02010600030101010101" pitchFamily="2" charset="-122"/>
              </a:rPr>
              <a:t>th</a:t>
            </a:r>
            <a:endParaRPr lang="zh-CN" altLang="en-US" b="1" baseline="30000" dirty="0">
              <a:solidFill>
                <a:srgbClr val="961318">
                  <a:alpha val="70000"/>
                </a:srgbClr>
              </a:solidFill>
              <a:latin typeface="Calibri" panose="020F0502020204030204"/>
              <a:ea typeface="宋体" panose="02010600030101010101" pitchFamily="2" charset="-122"/>
            </a:endParaRPr>
          </a:p>
        </p:txBody>
      </p:sp>
      <p:sp>
        <p:nvSpPr>
          <p:cNvPr id="12" name="文本框 11"/>
          <p:cNvSpPr txBox="1"/>
          <p:nvPr/>
        </p:nvSpPr>
        <p:spPr>
          <a:xfrm>
            <a:off x="5250253" y="2386575"/>
            <a:ext cx="1675130" cy="144526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05</a:t>
            </a:r>
            <a:endParaRPr lang="zh-CN" altLang="en-US" sz="8800" b="1" dirty="0">
              <a:solidFill>
                <a:prstClr val="white"/>
              </a:solidFill>
              <a:latin typeface="Arial Black" panose="020B0A04020102020204" pitchFamily="34" charset="0"/>
              <a:ea typeface="宋体" panose="02010600030101010101" pitchFamily="2" charset="-122"/>
            </a:endParaRPr>
          </a:p>
        </p:txBody>
      </p:sp>
    </p:spTree>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bwMode="auto">
          <a:xfrm>
            <a:off x="0" y="1208044"/>
            <a:ext cx="12192000" cy="5976664"/>
          </a:xfrm>
          <a:custGeom>
            <a:avLst/>
            <a:gdLst>
              <a:gd name="connsiteX0" fmla="*/ 6100513 w 12192000"/>
              <a:gd name="connsiteY0" fmla="*/ 65 h 5266033"/>
              <a:gd name="connsiteX1" fmla="*/ 12185886 w 12192000"/>
              <a:gd name="connsiteY1" fmla="*/ 2644790 h 5266033"/>
              <a:gd name="connsiteX2" fmla="*/ 12192000 w 12192000"/>
              <a:gd name="connsiteY2" fmla="*/ 2651338 h 5266033"/>
              <a:gd name="connsiteX3" fmla="*/ 12192000 w 12192000"/>
              <a:gd name="connsiteY3" fmla="*/ 5266033 h 5266033"/>
              <a:gd name="connsiteX4" fmla="*/ 0 w 12192000"/>
              <a:gd name="connsiteY4" fmla="*/ 5266033 h 5266033"/>
              <a:gd name="connsiteX5" fmla="*/ 0 w 12192000"/>
              <a:gd name="connsiteY5" fmla="*/ 2594379 h 5266033"/>
              <a:gd name="connsiteX6" fmla="*/ 269306 w 12192000"/>
              <a:gd name="connsiteY6" fmla="*/ 2332469 h 5266033"/>
              <a:gd name="connsiteX7" fmla="*/ 6100513 w 12192000"/>
              <a:gd name="connsiteY7" fmla="*/ 65 h 526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66033">
                <a:moveTo>
                  <a:pt x="6100513" y="65"/>
                </a:moveTo>
                <a:cubicBezTo>
                  <a:pt x="8454195" y="9342"/>
                  <a:pt x="10597144" y="1011405"/>
                  <a:pt x="12185886" y="2644790"/>
                </a:cubicBezTo>
                <a:lnTo>
                  <a:pt x="12192000" y="2651338"/>
                </a:lnTo>
                <a:lnTo>
                  <a:pt x="12192000" y="5266033"/>
                </a:lnTo>
                <a:lnTo>
                  <a:pt x="0" y="5266033"/>
                </a:lnTo>
                <a:lnTo>
                  <a:pt x="0" y="2594379"/>
                </a:lnTo>
                <a:lnTo>
                  <a:pt x="269306" y="2332469"/>
                </a:lnTo>
                <a:cubicBezTo>
                  <a:pt x="1836778" y="869501"/>
                  <a:pt x="3877638" y="-8699"/>
                  <a:pt x="6100513" y="65"/>
                </a:cubicBezTo>
                <a:close/>
              </a:path>
            </a:pathLst>
          </a:custGeom>
          <a:gradFill>
            <a:gsLst>
              <a:gs pos="57000">
                <a:srgbClr val="961318">
                  <a:alpha val="0"/>
                </a:srgbClr>
              </a:gs>
              <a:gs pos="100000">
                <a:srgbClr val="961318">
                  <a:alpha val="10000"/>
                </a:srgbClr>
              </a:gs>
            </a:gsLst>
            <a:lin ang="16200000" scaled="0"/>
          </a:gradFill>
          <a:ln w="12700" cap="flat">
            <a:gradFill>
              <a:gsLst>
                <a:gs pos="25000">
                  <a:srgbClr val="961318">
                    <a:alpha val="0"/>
                  </a:srgbClr>
                </a:gs>
                <a:gs pos="0">
                  <a:srgbClr val="961318"/>
                </a:gs>
              </a:gsLst>
              <a:lin ang="5400000" scaled="0"/>
            </a:gradFill>
            <a:prstDash val="solid"/>
            <a:miter lim="800000"/>
          </a:ln>
        </p:spPr>
        <p:txBody>
          <a:bodyPr wrap="square" anchor="ctr">
            <a:noAutofit/>
          </a:bodyPr>
          <a:lstStyle/>
          <a:p>
            <a:pPr algn="ctr">
              <a:defRPr/>
            </a:pPr>
            <a:endParaRPr lang="en-US" altLang="zh-CN" kern="0" dirty="0">
              <a:solidFill>
                <a:srgbClr val="000000"/>
              </a:solidFill>
              <a:latin typeface="Arial" panose="020B0604020202020204"/>
              <a:ea typeface="微软雅黑" panose="020B0503020204020204" charset="-122"/>
              <a:cs typeface="+mn-ea"/>
              <a:sym typeface="+mn-lt"/>
            </a:endParaRPr>
          </a:p>
          <a:p>
            <a:pPr algn="ctr">
              <a:defRPr/>
            </a:pPr>
            <a:endParaRPr kern="0" dirty="0">
              <a:solidFill>
                <a:srgbClr val="000000"/>
              </a:solidFill>
              <a:latin typeface="Arial" panose="020B0604020202020204"/>
              <a:ea typeface="微软雅黑" panose="020B0503020204020204" charset="-122"/>
              <a:sym typeface="+mn-lt"/>
            </a:endParaRPr>
          </a:p>
        </p:txBody>
      </p:sp>
      <p:grpSp>
        <p:nvGrpSpPr>
          <p:cNvPr id="2" name="组合 1"/>
          <p:cNvGrpSpPr/>
          <p:nvPr/>
        </p:nvGrpSpPr>
        <p:grpSpPr>
          <a:xfrm>
            <a:off x="335361" y="116633"/>
            <a:ext cx="11521279" cy="6680342"/>
            <a:chOff x="335361" y="116633"/>
            <a:chExt cx="11521279" cy="668034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问题二的重新</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解决</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105092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5" name="任意多边形: 形状 14"/>
          <p:cNvSpPr/>
          <p:nvPr/>
        </p:nvSpPr>
        <p:spPr>
          <a:xfrm>
            <a:off x="2629956" y="3222824"/>
            <a:ext cx="7022088" cy="3227290"/>
          </a:xfrm>
          <a:custGeom>
            <a:avLst/>
            <a:gdLst>
              <a:gd name="connsiteX0" fmla="*/ 3511044 w 7022088"/>
              <a:gd name="connsiteY0" fmla="*/ 0 h 3227290"/>
              <a:gd name="connsiteX1" fmla="*/ 4522718 w 7022088"/>
              <a:gd name="connsiteY1" fmla="*/ 549829 h 3227290"/>
              <a:gd name="connsiteX2" fmla="*/ 5680998 w 7022088"/>
              <a:gd name="connsiteY2" fmla="*/ 670538 h 3227290"/>
              <a:gd name="connsiteX3" fmla="*/ 6159626 w 7022088"/>
              <a:gd name="connsiteY3" fmla="*/ 1680902 h 3227290"/>
              <a:gd name="connsiteX4" fmla="*/ 7022088 w 7022088"/>
              <a:gd name="connsiteY4" fmla="*/ 2426058 h 3227290"/>
              <a:gd name="connsiteX5" fmla="*/ 6846900 w 7022088"/>
              <a:gd name="connsiteY5" fmla="*/ 3227290 h 3227290"/>
              <a:gd name="connsiteX6" fmla="*/ 175188 w 7022088"/>
              <a:gd name="connsiteY6" fmla="*/ 3227290 h 3227290"/>
              <a:gd name="connsiteX7" fmla="*/ 0 w 7022088"/>
              <a:gd name="connsiteY7" fmla="*/ 2426058 h 3227290"/>
              <a:gd name="connsiteX8" fmla="*/ 862462 w 7022088"/>
              <a:gd name="connsiteY8" fmla="*/ 1680902 h 3227290"/>
              <a:gd name="connsiteX9" fmla="*/ 1341090 w 7022088"/>
              <a:gd name="connsiteY9" fmla="*/ 670538 h 3227290"/>
              <a:gd name="connsiteX10" fmla="*/ 2499371 w 7022088"/>
              <a:gd name="connsiteY10" fmla="*/ 549829 h 322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22088" h="3227290">
                <a:moveTo>
                  <a:pt x="3511044" y="0"/>
                </a:moveTo>
                <a:lnTo>
                  <a:pt x="4522718" y="549829"/>
                </a:lnTo>
                <a:lnTo>
                  <a:pt x="5680998" y="670538"/>
                </a:lnTo>
                <a:lnTo>
                  <a:pt x="6159626" y="1680902"/>
                </a:lnTo>
                <a:lnTo>
                  <a:pt x="7022088" y="2426058"/>
                </a:lnTo>
                <a:lnTo>
                  <a:pt x="6846900" y="3227290"/>
                </a:lnTo>
                <a:lnTo>
                  <a:pt x="175188" y="3227290"/>
                </a:lnTo>
                <a:lnTo>
                  <a:pt x="0" y="2426058"/>
                </a:lnTo>
                <a:lnTo>
                  <a:pt x="862462" y="1680902"/>
                </a:lnTo>
                <a:lnTo>
                  <a:pt x="1341090" y="670538"/>
                </a:lnTo>
                <a:lnTo>
                  <a:pt x="2499371" y="549829"/>
                </a:lnTo>
                <a:close/>
              </a:path>
            </a:pathLst>
          </a:custGeom>
          <a:gradFill>
            <a:gsLst>
              <a:gs pos="56000">
                <a:srgbClr val="961318">
                  <a:alpha val="0"/>
                </a:srgbClr>
              </a:gs>
              <a:gs pos="97279">
                <a:srgbClr val="961318">
                  <a:alpha val="10000"/>
                </a:srgbClr>
              </a:gs>
            </a:gsLst>
            <a:lin ang="16200000" scaled="0"/>
          </a:gradFill>
          <a:ln w="12700" cap="flat">
            <a:gradFill>
              <a:gsLst>
                <a:gs pos="25000">
                  <a:srgbClr val="961318">
                    <a:alpha val="0"/>
                  </a:srgbClr>
                </a:gs>
                <a:gs pos="0">
                  <a:srgbClr val="961318"/>
                </a:gs>
              </a:gsLst>
              <a:lin ang="5400000" scaled="0"/>
            </a:gradFill>
            <a:prstDash val="solid"/>
            <a:miter lim="800000"/>
          </a:ln>
        </p:spPr>
        <p:txBody>
          <a:bodyPr wrap="square" anchor="ctr">
            <a:noAutofit/>
          </a:bodyPr>
          <a:lstStyle/>
          <a:p>
            <a:pPr algn="ctr">
              <a:defRPr/>
            </a:pPr>
            <a:endParaRPr lang="zh-CN" altLang="en-US" kern="0" dirty="0">
              <a:solidFill>
                <a:srgbClr val="000000"/>
              </a:solidFill>
              <a:latin typeface="Arial" panose="020B0604020202020204"/>
              <a:ea typeface="微软雅黑" panose="020B0503020204020204" charset="-122"/>
              <a:cs typeface="+mn-ea"/>
            </a:endParaRPr>
          </a:p>
        </p:txBody>
      </p:sp>
      <p:pic>
        <p:nvPicPr>
          <p:cNvPr id="17" name="图片占位符 15" descr="D:\360MoveData\Users\xiaoxiao\Desktop\005tu2Ryly1hdw28gp2kjj30u0190n0s.jpg005tu2Ryly1hdw28gp2kjj30u0190n0s"/>
          <p:cNvPicPr>
            <a:picLocks noChangeAspect="1"/>
          </p:cNvPicPr>
          <p:nvPr/>
        </p:nvPicPr>
        <p:blipFill>
          <a:blip r:embed="rId1"/>
          <a:srcRect/>
          <a:stretch>
            <a:fillRect/>
          </a:stretch>
        </p:blipFill>
        <p:spPr>
          <a:xfrm>
            <a:off x="5377815" y="4303395"/>
            <a:ext cx="1700530" cy="2550160"/>
          </a:xfrm>
          <a:custGeom>
            <a:avLst/>
            <a:gdLst>
              <a:gd name="connsiteX0" fmla="*/ 2387147 w 4774294"/>
              <a:gd name="connsiteY0" fmla="*/ 0 h 2306075"/>
              <a:gd name="connsiteX1" fmla="*/ 4766259 w 4774294"/>
              <a:gd name="connsiteY1" fmla="*/ 2146945 h 2306075"/>
              <a:gd name="connsiteX2" fmla="*/ 4774294 w 4774294"/>
              <a:gd name="connsiteY2" fmla="*/ 2306075 h 2306075"/>
              <a:gd name="connsiteX3" fmla="*/ 0 w 4774294"/>
              <a:gd name="connsiteY3" fmla="*/ 2306075 h 2306075"/>
              <a:gd name="connsiteX4" fmla="*/ 8035 w 4774294"/>
              <a:gd name="connsiteY4" fmla="*/ 2146945 h 2306075"/>
              <a:gd name="connsiteX5" fmla="*/ 2387147 w 4774294"/>
              <a:gd name="connsiteY5" fmla="*/ 0 h 230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294" h="2306075">
                <a:moveTo>
                  <a:pt x="2387147" y="0"/>
                </a:moveTo>
                <a:cubicBezTo>
                  <a:pt x="3625365" y="0"/>
                  <a:pt x="4643793" y="941038"/>
                  <a:pt x="4766259" y="2146945"/>
                </a:cubicBezTo>
                <a:lnTo>
                  <a:pt x="4774294" y="2306075"/>
                </a:lnTo>
                <a:lnTo>
                  <a:pt x="0" y="2306075"/>
                </a:lnTo>
                <a:lnTo>
                  <a:pt x="8035" y="2146945"/>
                </a:lnTo>
                <a:cubicBezTo>
                  <a:pt x="130502" y="941038"/>
                  <a:pt x="1148928" y="0"/>
                  <a:pt x="2387147" y="0"/>
                </a:cubicBezTo>
                <a:close/>
              </a:path>
            </a:pathLst>
          </a:custGeom>
        </p:spPr>
      </p:pic>
      <p:sp>
        <p:nvSpPr>
          <p:cNvPr id="18" name="î$1iďè"/>
          <p:cNvSpPr/>
          <p:nvPr/>
        </p:nvSpPr>
        <p:spPr bwMode="auto">
          <a:xfrm>
            <a:off x="1979910" y="5015881"/>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19" name="íṥ1ïḍè"/>
          <p:cNvSpPr/>
          <p:nvPr/>
        </p:nvSpPr>
        <p:spPr>
          <a:xfrm>
            <a:off x="2101286" y="516307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sp>
        <p:nvSpPr>
          <p:cNvPr id="20" name="íṡļíḋé"/>
          <p:cNvSpPr/>
          <p:nvPr/>
        </p:nvSpPr>
        <p:spPr bwMode="auto">
          <a:xfrm>
            <a:off x="3367021" y="3202020"/>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1" name="íṡ1îḍé"/>
          <p:cNvSpPr/>
          <p:nvPr/>
        </p:nvSpPr>
        <p:spPr>
          <a:xfrm>
            <a:off x="3488397" y="3349214"/>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sp>
        <p:nvSpPr>
          <p:cNvPr id="22" name="ïṡ1îḋè"/>
          <p:cNvSpPr/>
          <p:nvPr/>
        </p:nvSpPr>
        <p:spPr bwMode="auto">
          <a:xfrm>
            <a:off x="5763630" y="2451397"/>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3" name="îṧľíḑê"/>
          <p:cNvSpPr/>
          <p:nvPr/>
        </p:nvSpPr>
        <p:spPr>
          <a:xfrm>
            <a:off x="5885006" y="2598591"/>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grpSp>
        <p:nvGrpSpPr>
          <p:cNvPr id="24" name="íṧľîḍé"/>
          <p:cNvGrpSpPr/>
          <p:nvPr/>
        </p:nvGrpSpPr>
        <p:grpSpPr>
          <a:xfrm>
            <a:off x="8291484" y="3202466"/>
            <a:ext cx="664739" cy="664739"/>
            <a:chOff x="1927743" y="4305183"/>
            <a:chExt cx="719999" cy="719999"/>
          </a:xfrm>
        </p:grpSpPr>
        <p:sp>
          <p:nvSpPr>
            <p:cNvPr id="25" name="îś1ïḋè"/>
            <p:cNvSpPr/>
            <p:nvPr/>
          </p:nvSpPr>
          <p:spPr bwMode="auto">
            <a:xfrm>
              <a:off x="1927743" y="4305183"/>
              <a:ext cx="719999" cy="71999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6" name="ïşḷíḋé"/>
            <p:cNvSpPr/>
            <p:nvPr/>
          </p:nvSpPr>
          <p:spPr>
            <a:xfrm>
              <a:off x="2059209" y="4464613"/>
              <a:ext cx="457067" cy="401138"/>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grpSp>
      <p:sp>
        <p:nvSpPr>
          <p:cNvPr id="27" name="îšḷïḓé"/>
          <p:cNvSpPr/>
          <p:nvPr/>
        </p:nvSpPr>
        <p:spPr bwMode="auto">
          <a:xfrm>
            <a:off x="9734743" y="5015881"/>
            <a:ext cx="664739" cy="664739"/>
          </a:xfrm>
          <a:prstGeom prst="ellipse">
            <a:avLst/>
          </a:prstGeom>
          <a:solidFill>
            <a:srgbClr val="961318"/>
          </a:solidFill>
          <a:ln>
            <a:solidFill>
              <a:srgbClr val="961318"/>
            </a:solidFill>
          </a:ln>
        </p:spPr>
        <p:txBody>
          <a:bodyPr anchor="ct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28" name="ísḻíḍè"/>
          <p:cNvSpPr/>
          <p:nvPr/>
        </p:nvSpPr>
        <p:spPr>
          <a:xfrm>
            <a:off x="9856119" y="516307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B0604020202020204"/>
              <a:ea typeface="微软雅黑" panose="020B0503020204020204" charset="-122"/>
              <a:sym typeface="+mn-lt"/>
            </a:endParaRPr>
          </a:p>
        </p:txBody>
      </p:sp>
      <p:sp>
        <p:nvSpPr>
          <p:cNvPr id="29" name="文本框 28"/>
          <p:cNvSpPr txBox="1"/>
          <p:nvPr/>
        </p:nvSpPr>
        <p:spPr>
          <a:xfrm>
            <a:off x="9471081" y="3930311"/>
            <a:ext cx="1631004" cy="368300"/>
          </a:xfrm>
          <a:prstGeom prst="rect">
            <a:avLst/>
          </a:prstGeom>
          <a:noFill/>
        </p:spPr>
        <p:txBody>
          <a:bodyPr wrap="square" rtlCol="0">
            <a:spAutoFit/>
          </a:bodyPr>
          <a:lstStyle/>
          <a:p>
            <a:pPr algn="ctr"/>
            <a:r>
              <a:rPr lang="zh-CN" altLang="en-US" dirty="0">
                <a:solidFill>
                  <a:srgbClr val="961318"/>
                </a:solidFill>
                <a:latin typeface="Arial" panose="020B0604020202020204"/>
                <a:ea typeface="微软雅黑" panose="020B0503020204020204" charset="-122"/>
                <a:cs typeface="+mn-ea"/>
                <a:sym typeface="+mn-lt"/>
              </a:rPr>
              <a:t>遗传算法</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30" name="文本框 29"/>
          <p:cNvSpPr txBox="1"/>
          <p:nvPr/>
        </p:nvSpPr>
        <p:spPr>
          <a:xfrm>
            <a:off x="8874760" y="4284980"/>
            <a:ext cx="2823845" cy="460375"/>
          </a:xfrm>
          <a:prstGeom prst="rect">
            <a:avLst/>
          </a:prstGeom>
          <a:noFill/>
        </p:spPr>
        <p:txBody>
          <a:bodyPr wrap="square" rtlCol="0">
            <a:spAutoFit/>
          </a:bodyPr>
          <a:lstStyle/>
          <a:p>
            <a:pPr algn="ctr"/>
            <a:r>
              <a:rPr lang="zh-CN" altLang="en-US" sz="1200" dirty="0">
                <a:solidFill>
                  <a:srgbClr val="768394"/>
                </a:solidFill>
                <a:latin typeface="Arial" panose="020B0604020202020204"/>
                <a:ea typeface="微软雅黑" panose="020B0503020204020204" charset="-122"/>
                <a:cs typeface="+mn-ea"/>
                <a:sym typeface="+mn-lt"/>
              </a:rPr>
              <a:t>遗传算法帮助找到最优的生产策略组合</a:t>
            </a:r>
            <a:endParaRPr lang="zh-CN" altLang="en-US" sz="1200" dirty="0">
              <a:solidFill>
                <a:srgbClr val="768394"/>
              </a:solidFill>
              <a:latin typeface="Arial" panose="020B0604020202020204"/>
              <a:ea typeface="微软雅黑" panose="020B0503020204020204" charset="-122"/>
              <a:cs typeface="+mn-ea"/>
              <a:sym typeface="+mn-lt"/>
            </a:endParaRPr>
          </a:p>
          <a:p>
            <a:pPr algn="ctr"/>
            <a:r>
              <a:rPr lang="zh-CN" altLang="en-US" sz="1200" dirty="0">
                <a:solidFill>
                  <a:srgbClr val="768394"/>
                </a:solidFill>
                <a:latin typeface="Arial" panose="020B0604020202020204"/>
                <a:ea typeface="微软雅黑" panose="020B0503020204020204" charset="-122"/>
                <a:cs typeface="+mn-ea"/>
                <a:sym typeface="+mn-lt"/>
              </a:rPr>
              <a:t>使得利润最大化</a:t>
            </a:r>
            <a:endParaRPr lang="zh-CN" altLang="en-US" sz="1200" dirty="0">
              <a:solidFill>
                <a:srgbClr val="768394"/>
              </a:solidFill>
              <a:latin typeface="Arial" panose="020B0604020202020204"/>
              <a:ea typeface="微软雅黑" panose="020B0503020204020204" charset="-122"/>
              <a:cs typeface="+mn-ea"/>
              <a:sym typeface="+mn-lt"/>
            </a:endParaRPr>
          </a:p>
        </p:txBody>
      </p:sp>
      <p:sp>
        <p:nvSpPr>
          <p:cNvPr id="31" name="文本框 30"/>
          <p:cNvSpPr txBox="1"/>
          <p:nvPr/>
        </p:nvSpPr>
        <p:spPr>
          <a:xfrm>
            <a:off x="7839821" y="2116896"/>
            <a:ext cx="1631004" cy="368300"/>
          </a:xfrm>
          <a:prstGeom prst="rect">
            <a:avLst/>
          </a:prstGeom>
          <a:noFill/>
        </p:spPr>
        <p:txBody>
          <a:bodyPr wrap="square" rtlCol="0">
            <a:spAutoFit/>
          </a:bodyPr>
          <a:lstStyle/>
          <a:p>
            <a:pPr algn="ctr"/>
            <a:r>
              <a:rPr lang="zh-CN" altLang="en-US" dirty="0">
                <a:solidFill>
                  <a:srgbClr val="961318"/>
                </a:solidFill>
                <a:latin typeface="Arial" panose="020B0604020202020204"/>
                <a:ea typeface="微软雅黑" panose="020B0503020204020204" charset="-122"/>
                <a:cs typeface="+mn-ea"/>
                <a:sym typeface="+mn-lt"/>
              </a:rPr>
              <a:t>库存反馈机制</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32" name="文本框 31"/>
          <p:cNvSpPr txBox="1"/>
          <p:nvPr/>
        </p:nvSpPr>
        <p:spPr>
          <a:xfrm>
            <a:off x="7251065" y="2485390"/>
            <a:ext cx="2696210" cy="645160"/>
          </a:xfrm>
          <a:prstGeom prst="rect">
            <a:avLst/>
          </a:prstGeom>
          <a:noFill/>
        </p:spPr>
        <p:txBody>
          <a:bodyPr wrap="square" rtlCol="0">
            <a:spAutoFit/>
          </a:bodyPr>
          <a:lstStyle/>
          <a:p>
            <a:pPr algn="ctr"/>
            <a:r>
              <a:rPr lang="zh-CN" altLang="en-US" sz="1200" dirty="0">
                <a:solidFill>
                  <a:srgbClr val="768394"/>
                </a:solidFill>
                <a:latin typeface="Arial" panose="020B0604020202020204"/>
                <a:ea typeface="微软雅黑" panose="020B0503020204020204" charset="-122"/>
                <a:cs typeface="+mn-ea"/>
                <a:sym typeface="+mn-lt"/>
              </a:rPr>
              <a:t>每轮生产结束后</a:t>
            </a:r>
            <a:endParaRPr lang="zh-CN" altLang="en-US" sz="1200" dirty="0">
              <a:solidFill>
                <a:srgbClr val="768394"/>
              </a:solidFill>
              <a:latin typeface="Arial" panose="020B0604020202020204"/>
              <a:ea typeface="微软雅黑" panose="020B0503020204020204" charset="-122"/>
              <a:cs typeface="+mn-ea"/>
              <a:sym typeface="+mn-lt"/>
            </a:endParaRPr>
          </a:p>
          <a:p>
            <a:pPr algn="ctr"/>
            <a:r>
              <a:rPr lang="zh-CN" altLang="en-US" sz="1200" dirty="0">
                <a:solidFill>
                  <a:srgbClr val="768394"/>
                </a:solidFill>
                <a:latin typeface="Arial" panose="020B0604020202020204"/>
                <a:ea typeface="微软雅黑" panose="020B0503020204020204" charset="-122"/>
                <a:cs typeface="+mn-ea"/>
                <a:sym typeface="+mn-lt"/>
              </a:rPr>
              <a:t>根据零配件的消耗和回收更新库存量</a:t>
            </a:r>
            <a:endParaRPr lang="zh-CN" altLang="en-US" sz="1200" dirty="0">
              <a:solidFill>
                <a:srgbClr val="768394"/>
              </a:solidFill>
              <a:latin typeface="Arial" panose="020B0604020202020204"/>
              <a:ea typeface="微软雅黑" panose="020B0503020204020204" charset="-122"/>
              <a:cs typeface="+mn-ea"/>
              <a:sym typeface="+mn-lt"/>
            </a:endParaRPr>
          </a:p>
          <a:p>
            <a:pPr algn="ctr"/>
            <a:r>
              <a:rPr lang="zh-CN" altLang="en-US" sz="1200" dirty="0">
                <a:solidFill>
                  <a:srgbClr val="768394"/>
                </a:solidFill>
                <a:latin typeface="Arial" panose="020B0604020202020204"/>
                <a:ea typeface="微软雅黑" panose="020B0503020204020204" charset="-122"/>
                <a:cs typeface="+mn-ea"/>
                <a:sym typeface="+mn-lt"/>
              </a:rPr>
              <a:t>库存的变化会影响后续生产的规模</a:t>
            </a:r>
            <a:endParaRPr lang="zh-CN" altLang="en-US" sz="1200" dirty="0">
              <a:solidFill>
                <a:srgbClr val="768394"/>
              </a:solidFill>
              <a:latin typeface="Arial" panose="020B0604020202020204"/>
              <a:ea typeface="微软雅黑" panose="020B0503020204020204" charset="-122"/>
              <a:cs typeface="+mn-ea"/>
              <a:sym typeface="+mn-lt"/>
            </a:endParaRPr>
          </a:p>
        </p:txBody>
      </p:sp>
      <p:sp>
        <p:nvSpPr>
          <p:cNvPr id="38" name="文本框 37"/>
          <p:cNvSpPr txBox="1"/>
          <p:nvPr/>
        </p:nvSpPr>
        <p:spPr>
          <a:xfrm>
            <a:off x="5166995" y="1348740"/>
            <a:ext cx="1845945" cy="645160"/>
          </a:xfrm>
          <a:prstGeom prst="rect">
            <a:avLst/>
          </a:prstGeom>
          <a:noFill/>
        </p:spPr>
        <p:txBody>
          <a:bodyPr wrap="square" rtlCol="0">
            <a:spAutoFit/>
          </a:bodyPr>
          <a:lstStyle/>
          <a:p>
            <a:pPr algn="ctr"/>
            <a:r>
              <a:rPr lang="zh-CN" altLang="en-US" dirty="0">
                <a:solidFill>
                  <a:srgbClr val="961318"/>
                </a:solidFill>
                <a:latin typeface="Arial" panose="020B0604020202020204"/>
                <a:ea typeface="微软雅黑" panose="020B0503020204020204" charset="-122"/>
                <a:cs typeface="+mn-ea"/>
                <a:sym typeface="+mn-lt"/>
              </a:rPr>
              <a:t>效度函数与决策</a:t>
            </a:r>
            <a:endParaRPr lang="zh-CN" altLang="en-US" dirty="0">
              <a:solidFill>
                <a:srgbClr val="961318"/>
              </a:solidFill>
              <a:latin typeface="Arial" panose="020B0604020202020204"/>
              <a:ea typeface="微软雅黑" panose="020B0503020204020204" charset="-122"/>
              <a:cs typeface="+mn-ea"/>
              <a:sym typeface="+mn-lt"/>
            </a:endParaRPr>
          </a:p>
          <a:p>
            <a:pPr algn="ctr"/>
            <a:endParaRPr lang="zh-CN" altLang="en-US" dirty="0">
              <a:solidFill>
                <a:srgbClr val="961318"/>
              </a:solidFill>
              <a:latin typeface="Arial" panose="020B0604020202020204"/>
              <a:ea typeface="微软雅黑" panose="020B0503020204020204" charset="-122"/>
              <a:cs typeface="+mn-ea"/>
              <a:sym typeface="+mn-lt"/>
            </a:endParaRPr>
          </a:p>
        </p:txBody>
      </p:sp>
      <p:sp>
        <p:nvSpPr>
          <p:cNvPr id="39" name="文本框 38"/>
          <p:cNvSpPr txBox="1"/>
          <p:nvPr/>
        </p:nvSpPr>
        <p:spPr>
          <a:xfrm>
            <a:off x="4889782" y="1718346"/>
            <a:ext cx="2361068" cy="275590"/>
          </a:xfrm>
          <a:prstGeom prst="rect">
            <a:avLst/>
          </a:prstGeom>
          <a:noFill/>
        </p:spPr>
        <p:txBody>
          <a:bodyPr wrap="square" rtlCol="0">
            <a:spAutoFit/>
          </a:bodyPr>
          <a:lstStyle/>
          <a:p>
            <a:pPr algn="ctr"/>
            <a:r>
              <a:rPr lang="zh-CN" altLang="en-US" sz="1200" dirty="0">
                <a:solidFill>
                  <a:srgbClr val="768394"/>
                </a:solidFill>
                <a:latin typeface="Arial" panose="020B0604020202020204"/>
                <a:ea typeface="微软雅黑" panose="020B0503020204020204" charset="-122"/>
                <a:cs typeface="+mn-ea"/>
                <a:sym typeface="+mn-lt"/>
              </a:rPr>
              <a:t>为了量化检测结果的可靠性</a:t>
            </a:r>
            <a:endParaRPr lang="zh-CN" altLang="en-US" sz="1200" dirty="0">
              <a:solidFill>
                <a:srgbClr val="768394"/>
              </a:solidFill>
              <a:latin typeface="Arial" panose="020B0604020202020204"/>
              <a:ea typeface="微软雅黑" panose="020B0503020204020204" charset="-122"/>
              <a:cs typeface="+mn-ea"/>
              <a:sym typeface="+mn-lt"/>
            </a:endParaRPr>
          </a:p>
        </p:txBody>
      </p:sp>
      <p:sp>
        <p:nvSpPr>
          <p:cNvPr id="40" name="文本框 39"/>
          <p:cNvSpPr txBox="1"/>
          <p:nvPr/>
        </p:nvSpPr>
        <p:spPr>
          <a:xfrm>
            <a:off x="2821940" y="2117090"/>
            <a:ext cx="1970405" cy="645160"/>
          </a:xfrm>
          <a:prstGeom prst="rect">
            <a:avLst/>
          </a:prstGeom>
          <a:noFill/>
        </p:spPr>
        <p:txBody>
          <a:bodyPr wrap="square" rtlCol="0">
            <a:spAutoFit/>
          </a:bodyPr>
          <a:lstStyle/>
          <a:p>
            <a:r>
              <a:rPr lang="zh-CN" altLang="en-US" dirty="0">
                <a:solidFill>
                  <a:srgbClr val="961318"/>
                </a:solidFill>
                <a:latin typeface="Arial" panose="020B0604020202020204"/>
                <a:ea typeface="微软雅黑" panose="020B0503020204020204" charset="-122"/>
                <a:cs typeface="+mn-ea"/>
                <a:sym typeface="+mn-lt"/>
              </a:rPr>
              <a:t>双重抽样检测</a:t>
            </a:r>
            <a:endParaRPr lang="zh-CN" altLang="en-US" dirty="0">
              <a:solidFill>
                <a:srgbClr val="961318"/>
              </a:solidFill>
              <a:latin typeface="Arial" panose="020B0604020202020204"/>
              <a:ea typeface="微软雅黑" panose="020B0503020204020204" charset="-122"/>
              <a:cs typeface="+mn-ea"/>
              <a:sym typeface="+mn-lt"/>
            </a:endParaRPr>
          </a:p>
          <a:p>
            <a:pPr algn="ctr"/>
            <a:endParaRPr lang="zh-CN" altLang="en-US" dirty="0">
              <a:solidFill>
                <a:srgbClr val="961318"/>
              </a:solidFill>
              <a:latin typeface="Arial" panose="020B0604020202020204"/>
              <a:ea typeface="微软雅黑" panose="020B0503020204020204" charset="-122"/>
              <a:cs typeface="+mn-ea"/>
              <a:sym typeface="+mn-lt"/>
            </a:endParaRPr>
          </a:p>
        </p:txBody>
      </p:sp>
      <p:sp>
        <p:nvSpPr>
          <p:cNvPr id="41" name="文本框 40"/>
          <p:cNvSpPr txBox="1"/>
          <p:nvPr/>
        </p:nvSpPr>
        <p:spPr>
          <a:xfrm>
            <a:off x="2431424" y="2485194"/>
            <a:ext cx="2361068" cy="460375"/>
          </a:xfrm>
          <a:prstGeom prst="rect">
            <a:avLst/>
          </a:prstGeom>
          <a:noFill/>
        </p:spPr>
        <p:txBody>
          <a:bodyPr wrap="square" rtlCol="0">
            <a:spAutoFit/>
          </a:bodyPr>
          <a:lstStyle/>
          <a:p>
            <a:pPr algn="ctr"/>
            <a:r>
              <a:rPr lang="zh-CN" altLang="en-US" sz="1200" dirty="0">
                <a:solidFill>
                  <a:srgbClr val="768394"/>
                </a:solidFill>
                <a:latin typeface="Arial" panose="020B0604020202020204"/>
                <a:ea typeface="微软雅黑" panose="020B0503020204020204" charset="-122"/>
                <a:cs typeface="+mn-ea"/>
                <a:sym typeface="+mn-lt"/>
              </a:rPr>
              <a:t>通过两轮抽样逐步确定零配件</a:t>
            </a:r>
            <a:endParaRPr lang="zh-CN" altLang="en-US" sz="1200" dirty="0">
              <a:solidFill>
                <a:srgbClr val="768394"/>
              </a:solidFill>
              <a:latin typeface="Arial" panose="020B0604020202020204"/>
              <a:ea typeface="微软雅黑" panose="020B0503020204020204" charset="-122"/>
              <a:cs typeface="+mn-ea"/>
              <a:sym typeface="+mn-lt"/>
            </a:endParaRPr>
          </a:p>
          <a:p>
            <a:pPr algn="ctr"/>
            <a:r>
              <a:rPr lang="zh-CN" altLang="en-US" sz="1200" dirty="0">
                <a:solidFill>
                  <a:srgbClr val="768394"/>
                </a:solidFill>
                <a:latin typeface="Arial" panose="020B0604020202020204"/>
                <a:ea typeface="微软雅黑" panose="020B0503020204020204" charset="-122"/>
                <a:cs typeface="+mn-ea"/>
                <a:sym typeface="+mn-lt"/>
              </a:rPr>
              <a:t>是否符合质量标准</a:t>
            </a:r>
            <a:endParaRPr lang="zh-CN" altLang="en-US" sz="1200" dirty="0">
              <a:solidFill>
                <a:srgbClr val="768394"/>
              </a:solidFill>
              <a:latin typeface="Arial" panose="020B0604020202020204"/>
              <a:ea typeface="微软雅黑" panose="020B0503020204020204" charset="-122"/>
              <a:cs typeface="+mn-ea"/>
              <a:sym typeface="+mn-lt"/>
            </a:endParaRPr>
          </a:p>
        </p:txBody>
      </p:sp>
      <p:sp>
        <p:nvSpPr>
          <p:cNvPr id="42" name="文本框 41"/>
          <p:cNvSpPr txBox="1"/>
          <p:nvPr/>
        </p:nvSpPr>
        <p:spPr>
          <a:xfrm>
            <a:off x="261620" y="3930015"/>
            <a:ext cx="3236595" cy="368300"/>
          </a:xfrm>
          <a:prstGeom prst="rect">
            <a:avLst/>
          </a:prstGeom>
          <a:noFill/>
        </p:spPr>
        <p:txBody>
          <a:bodyPr wrap="square" rtlCol="0">
            <a:spAutoFit/>
          </a:bodyPr>
          <a:lstStyle/>
          <a:p>
            <a:pPr algn="ctr"/>
            <a:r>
              <a:rPr lang="zh-CN" altLang="en-US" dirty="0">
                <a:solidFill>
                  <a:srgbClr val="961318"/>
                </a:solidFill>
                <a:latin typeface="Arial" panose="020B0604020202020204"/>
                <a:ea typeface="微软雅黑" panose="020B0503020204020204" charset="-122"/>
                <a:cs typeface="+mn-ea"/>
                <a:sym typeface="+mn-lt"/>
              </a:rPr>
              <a:t>贝叶斯推断</a:t>
            </a:r>
            <a:endParaRPr lang="zh-CN" altLang="en-US" dirty="0">
              <a:solidFill>
                <a:srgbClr val="961318"/>
              </a:solidFill>
              <a:latin typeface="Arial" panose="020B0604020202020204"/>
              <a:ea typeface="微软雅黑" panose="020B0503020204020204" charset="-122"/>
              <a:cs typeface="+mn-ea"/>
              <a:sym typeface="+mn-lt"/>
            </a:endParaRPr>
          </a:p>
        </p:txBody>
      </p:sp>
      <p:sp>
        <p:nvSpPr>
          <p:cNvPr id="43" name="文本框 42"/>
          <p:cNvSpPr txBox="1"/>
          <p:nvPr/>
        </p:nvSpPr>
        <p:spPr>
          <a:xfrm>
            <a:off x="335280" y="4284980"/>
            <a:ext cx="3153410" cy="460375"/>
          </a:xfrm>
          <a:prstGeom prst="rect">
            <a:avLst/>
          </a:prstGeom>
          <a:noFill/>
        </p:spPr>
        <p:txBody>
          <a:bodyPr wrap="square" rtlCol="0">
            <a:spAutoFit/>
          </a:bodyPr>
          <a:lstStyle/>
          <a:p>
            <a:pPr algn="ctr"/>
            <a:r>
              <a:rPr lang="zh-CN" altLang="en-US" sz="1200" dirty="0">
                <a:solidFill>
                  <a:srgbClr val="768394"/>
                </a:solidFill>
                <a:latin typeface="Arial" panose="020B0604020202020204"/>
                <a:ea typeface="微软雅黑" panose="020B0503020204020204" charset="-122"/>
                <a:cs typeface="+mn-ea"/>
                <a:sym typeface="+mn-lt"/>
              </a:rPr>
              <a:t>使用Beta 分布作为零配件次品率的先验分布</a:t>
            </a:r>
            <a:endParaRPr lang="zh-CN" altLang="en-US" sz="1200" dirty="0">
              <a:solidFill>
                <a:srgbClr val="768394"/>
              </a:solidFill>
              <a:latin typeface="Arial" panose="020B0604020202020204"/>
              <a:ea typeface="微软雅黑" panose="020B0503020204020204" charset="-122"/>
              <a:cs typeface="+mn-ea"/>
              <a:sym typeface="+mn-lt"/>
            </a:endParaRPr>
          </a:p>
          <a:p>
            <a:pPr algn="ctr"/>
            <a:r>
              <a:rPr lang="zh-CN" altLang="en-US" sz="1200" dirty="0">
                <a:solidFill>
                  <a:srgbClr val="768394"/>
                </a:solidFill>
                <a:latin typeface="Arial" panose="020B0604020202020204"/>
                <a:ea typeface="微软雅黑" panose="020B0503020204020204" charset="-122"/>
                <a:cs typeface="+mn-ea"/>
                <a:sym typeface="+mn-lt"/>
              </a:rPr>
              <a:t>并在每次抽样后更新为后验分布</a:t>
            </a:r>
            <a:endParaRPr lang="zh-CN" altLang="en-US" sz="1200" dirty="0">
              <a:solidFill>
                <a:srgbClr val="768394"/>
              </a:solidFill>
              <a:latin typeface="Arial" panose="020B0604020202020204"/>
              <a:ea typeface="微软雅黑" panose="020B0503020204020204" charset="-122"/>
              <a:cs typeface="+mn-ea"/>
              <a:sym typeface="+mn-lt"/>
            </a:endParaRPr>
          </a:p>
        </p:txBody>
      </p:sp>
      <p:sp>
        <p:nvSpPr>
          <p:cNvPr id="7" name="文本框 6"/>
          <p:cNvSpPr txBox="1"/>
          <p:nvPr/>
        </p:nvSpPr>
        <p:spPr>
          <a:xfrm>
            <a:off x="854075" y="885825"/>
            <a:ext cx="4312920" cy="306705"/>
          </a:xfrm>
          <a:prstGeom prst="rect">
            <a:avLst/>
          </a:prstGeom>
          <a:noFill/>
        </p:spPr>
        <p:txBody>
          <a:bodyPr wrap="square" rtlCol="0">
            <a:spAutoFit/>
          </a:bodyPr>
          <a:p>
            <a:r>
              <a:rPr lang="zh-CN" altLang="en-US" sz="1400" dirty="0">
                <a:solidFill>
                  <a:srgbClr val="768394"/>
                </a:solidFill>
                <a:latin typeface="Arial" panose="020B0604020202020204"/>
                <a:ea typeface="微软雅黑" panose="020B0503020204020204" charset="-122"/>
                <a:cs typeface="+mn-ea"/>
                <a:sym typeface="+mn-lt"/>
              </a:rPr>
              <a:t>通过抽样检测方法得到次品率</a:t>
            </a:r>
            <a:r>
              <a:rPr lang="en-US" altLang="zh-CN" sz="1400" dirty="0">
                <a:solidFill>
                  <a:srgbClr val="768394"/>
                </a:solidFill>
                <a:latin typeface="Arial" panose="020B0604020202020204"/>
                <a:ea typeface="微软雅黑" panose="020B0503020204020204" charset="-122"/>
                <a:cs typeface="+mn-ea"/>
                <a:sym typeface="+mn-lt"/>
              </a:rPr>
              <a:t>——</a:t>
            </a:r>
            <a:r>
              <a:rPr lang="zh-CN" altLang="en-US" sz="1400" dirty="0">
                <a:solidFill>
                  <a:srgbClr val="768394"/>
                </a:solidFill>
                <a:latin typeface="Arial" panose="020B0604020202020204"/>
                <a:ea typeface="微软雅黑" panose="020B0503020204020204" charset="-122"/>
                <a:cs typeface="+mn-ea"/>
                <a:sym typeface="+mn-lt"/>
              </a:rPr>
              <a:t>次品率的不确定</a:t>
            </a:r>
            <a:r>
              <a:rPr lang="zh-CN" altLang="en-US" sz="1400" dirty="0">
                <a:solidFill>
                  <a:srgbClr val="768394"/>
                </a:solidFill>
                <a:latin typeface="Arial" panose="020B0604020202020204"/>
                <a:ea typeface="微软雅黑" panose="020B0503020204020204" charset="-122"/>
                <a:cs typeface="+mn-ea"/>
                <a:sym typeface="+mn-lt"/>
              </a:rPr>
              <a:t>性</a:t>
            </a:r>
            <a:endParaRPr lang="zh-CN" altLang="en-US" sz="1400" dirty="0">
              <a:solidFill>
                <a:srgbClr val="768394"/>
              </a:solidFill>
              <a:latin typeface="Arial" panose="020B0604020202020204"/>
              <a:ea typeface="微软雅黑" panose="020B0503020204020204" charset="-122"/>
              <a:cs typeface="+mn-ea"/>
              <a:sym typeface="+mn-lt"/>
            </a:endParaRPr>
          </a:p>
        </p:txBody>
      </p:sp>
    </p:spTree>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贝叶斯推断与双重抽样</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检测</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50" name="圆角矩形 2"/>
          <p:cNvSpPr/>
          <p:nvPr/>
        </p:nvSpPr>
        <p:spPr>
          <a:xfrm>
            <a:off x="2703589" y="3845311"/>
            <a:ext cx="8135099" cy="2186187"/>
          </a:xfrm>
          <a:prstGeom prst="roundRect">
            <a:avLst/>
          </a:prstGeom>
          <a:noFill/>
          <a:ln w="127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51" name="圆角矩形 2"/>
          <p:cNvSpPr/>
          <p:nvPr/>
        </p:nvSpPr>
        <p:spPr>
          <a:xfrm>
            <a:off x="2703590" y="1239510"/>
            <a:ext cx="8135099" cy="2186187"/>
          </a:xfrm>
          <a:prstGeom prst="roundRect">
            <a:avLst/>
          </a:prstGeom>
          <a:noFill/>
          <a:ln w="127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52" name="组合 51"/>
          <p:cNvGrpSpPr/>
          <p:nvPr/>
        </p:nvGrpSpPr>
        <p:grpSpPr>
          <a:xfrm>
            <a:off x="1477779" y="1341673"/>
            <a:ext cx="1929923" cy="1929923"/>
            <a:chOff x="304800" y="673100"/>
            <a:chExt cx="4000500" cy="4000500"/>
          </a:xfrm>
          <a:solidFill>
            <a:srgbClr val="961318"/>
          </a:solidFill>
          <a:effectLst/>
        </p:grpSpPr>
        <p:sp>
          <p:nvSpPr>
            <p:cNvPr id="53" name="同心圆 4"/>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54" name="椭圆 53"/>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55" name="椭圆 54"/>
          <p:cNvSpPr/>
          <p:nvPr/>
        </p:nvSpPr>
        <p:spPr>
          <a:xfrm>
            <a:off x="2949895"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1</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57" name="组合 56"/>
          <p:cNvGrpSpPr/>
          <p:nvPr/>
        </p:nvGrpSpPr>
        <p:grpSpPr>
          <a:xfrm>
            <a:off x="1477779" y="3960635"/>
            <a:ext cx="2040740" cy="1929923"/>
            <a:chOff x="5129071" y="1400218"/>
            <a:chExt cx="2040740" cy="1929923"/>
          </a:xfrm>
        </p:grpSpPr>
        <p:grpSp>
          <p:nvGrpSpPr>
            <p:cNvPr id="58" name="组合 57"/>
            <p:cNvGrpSpPr/>
            <p:nvPr/>
          </p:nvGrpSpPr>
          <p:grpSpPr>
            <a:xfrm>
              <a:off x="5129071" y="1400218"/>
              <a:ext cx="1929923" cy="1929923"/>
              <a:chOff x="304800" y="673100"/>
              <a:chExt cx="4000500" cy="4000500"/>
            </a:xfrm>
            <a:solidFill>
              <a:srgbClr val="961318"/>
            </a:solidFill>
            <a:effectLst/>
          </p:grpSpPr>
          <p:sp>
            <p:nvSpPr>
              <p:cNvPr id="59" name="同心圆 12"/>
              <p:cNvSpPr/>
              <p:nvPr/>
            </p:nvSpPr>
            <p:spPr>
              <a:xfrm>
                <a:off x="304800" y="673100"/>
                <a:ext cx="4000500" cy="4000500"/>
              </a:xfrm>
              <a:prstGeom prst="donut">
                <a:avLst>
                  <a:gd name="adj" fmla="val 4879"/>
                </a:avLst>
              </a:prstGeom>
              <a:grpFill/>
              <a:ln w="254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60" name="椭圆 59"/>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61" name="椭圆 60"/>
            <p:cNvSpPr/>
            <p:nvPr/>
          </p:nvSpPr>
          <p:spPr>
            <a:xfrm>
              <a:off x="6672064"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2</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sp>
        <p:nvSpPr>
          <p:cNvPr id="68" name="文本框 67"/>
          <p:cNvSpPr txBox="1"/>
          <p:nvPr/>
        </p:nvSpPr>
        <p:spPr>
          <a:xfrm>
            <a:off x="1574800" y="2076450"/>
            <a:ext cx="1790700" cy="460375"/>
          </a:xfrm>
          <a:prstGeom prst="rect">
            <a:avLst/>
          </a:prstGeom>
          <a:noFill/>
        </p:spPr>
        <p:txBody>
          <a:bodyPr wrap="square" rtlCol="0" anchor="t">
            <a:spAutoFit/>
          </a:bodyPr>
          <a:p>
            <a:pPr defTabSz="1219200"/>
            <a:r>
              <a:rPr lang="zh-CN" altLang="en-US" sz="2400" b="1" dirty="0">
                <a:solidFill>
                  <a:prstClr val="white"/>
                </a:solidFill>
                <a:latin typeface="微软雅黑" panose="020B0503020204020204" charset="-122"/>
                <a:ea typeface="微软雅黑" panose="020B0503020204020204" charset="-122"/>
                <a:sym typeface="+mn-ea"/>
              </a:rPr>
              <a:t>贝叶斯推断</a:t>
            </a:r>
            <a:endParaRPr lang="zh-CN" altLang="en-US" sz="2400" b="1" dirty="0">
              <a:solidFill>
                <a:prstClr val="white"/>
              </a:solidFill>
              <a:latin typeface="微软雅黑" panose="020B0503020204020204" charset="-122"/>
              <a:ea typeface="微软雅黑" panose="020B0503020204020204" charset="-122"/>
              <a:sym typeface="+mn-ea"/>
            </a:endParaRPr>
          </a:p>
        </p:txBody>
      </p:sp>
      <p:sp>
        <p:nvSpPr>
          <p:cNvPr id="69" name="文本框 68"/>
          <p:cNvSpPr txBox="1"/>
          <p:nvPr/>
        </p:nvSpPr>
        <p:spPr>
          <a:xfrm>
            <a:off x="1423670" y="4708525"/>
            <a:ext cx="2118995" cy="460375"/>
          </a:xfrm>
          <a:prstGeom prst="rect">
            <a:avLst/>
          </a:prstGeom>
          <a:noFill/>
        </p:spPr>
        <p:txBody>
          <a:bodyPr wrap="square" rtlCol="0" anchor="t">
            <a:spAutoFit/>
          </a:bodyPr>
          <a:p>
            <a:pPr defTabSz="1219200"/>
            <a:r>
              <a:rPr lang="zh-CN" altLang="en-US" sz="2400" b="1" dirty="0">
                <a:solidFill>
                  <a:prstClr val="white"/>
                </a:solidFill>
                <a:latin typeface="微软雅黑" panose="020B0503020204020204" charset="-122"/>
                <a:ea typeface="微软雅黑" panose="020B0503020204020204" charset="-122"/>
                <a:sym typeface="+mn-ea"/>
              </a:rPr>
              <a:t>双重抽样</a:t>
            </a:r>
            <a:r>
              <a:rPr lang="zh-CN" altLang="en-US" sz="2400" b="1" dirty="0">
                <a:solidFill>
                  <a:prstClr val="white"/>
                </a:solidFill>
                <a:latin typeface="微软雅黑" panose="020B0503020204020204" charset="-122"/>
                <a:ea typeface="微软雅黑" panose="020B0503020204020204" charset="-122"/>
                <a:sym typeface="+mn-ea"/>
              </a:rPr>
              <a:t>检测</a:t>
            </a:r>
            <a:endParaRPr lang="zh-CN" altLang="en-US" sz="2400" b="1" dirty="0">
              <a:solidFill>
                <a:prstClr val="white"/>
              </a:solidFill>
              <a:latin typeface="微软雅黑" panose="020B0503020204020204" charset="-122"/>
              <a:ea typeface="微软雅黑" panose="020B0503020204020204" charset="-122"/>
              <a:sym typeface="+mn-ea"/>
            </a:endParaRPr>
          </a:p>
        </p:txBody>
      </p:sp>
      <p:sp>
        <p:nvSpPr>
          <p:cNvPr id="70" name="文本框 69"/>
          <p:cNvSpPr txBox="1"/>
          <p:nvPr/>
        </p:nvSpPr>
        <p:spPr>
          <a:xfrm>
            <a:off x="3542665" y="1671955"/>
            <a:ext cx="6994525" cy="1133475"/>
          </a:xfrm>
          <a:prstGeom prst="rect">
            <a:avLst/>
          </a:prstGeom>
          <a:noFill/>
        </p:spPr>
        <p:txBody>
          <a:bodyPr wrap="square" rtlCol="0" anchor="t">
            <a:noAutofit/>
          </a:bodyPr>
          <a:p>
            <a:pPr indent="457200">
              <a:lnSpc>
                <a:spcPct val="140000"/>
              </a:lnSpc>
            </a:pPr>
            <a:r>
              <a:rPr lang="zh-CN" altLang="en-US" sz="2000">
                <a:latin typeface="微软雅黑" panose="020B0503020204020204" charset="-122"/>
                <a:ea typeface="微软雅黑" panose="020B0503020204020204" charset="-122"/>
                <a:cs typeface="微软雅黑" panose="020B0503020204020204" charset="-122"/>
              </a:rPr>
              <a:t>使用</a:t>
            </a:r>
            <a:r>
              <a:rPr lang="zh-CN" altLang="en-US" sz="2000" b="1">
                <a:latin typeface="微软雅黑" panose="020B0503020204020204" charset="-122"/>
                <a:ea typeface="微软雅黑" panose="020B0503020204020204" charset="-122"/>
                <a:cs typeface="微软雅黑" panose="020B0503020204020204" charset="-122"/>
              </a:rPr>
              <a:t>Beta 分布</a:t>
            </a:r>
            <a:r>
              <a:rPr lang="zh-CN" altLang="en-US" sz="2000">
                <a:latin typeface="微软雅黑" panose="020B0503020204020204" charset="-122"/>
                <a:ea typeface="微软雅黑" panose="020B0503020204020204" charset="-122"/>
                <a:cs typeface="微软雅黑" panose="020B0503020204020204" charset="-122"/>
              </a:rPr>
              <a:t>作为零配件次品率的先验分布，并在每次抽样后更新为后验分布。通过后验分布的更新，模型能在每一轮生产过程中动态调整对次品率的估计</a:t>
            </a: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3550285" y="4159885"/>
            <a:ext cx="7007225" cy="1383665"/>
          </a:xfrm>
          <a:prstGeom prst="rect">
            <a:avLst/>
          </a:prstGeom>
          <a:noFill/>
        </p:spPr>
        <p:txBody>
          <a:bodyPr wrap="square" rtlCol="0" anchor="t">
            <a:spAutoFit/>
          </a:bodyPr>
          <a:p>
            <a:pPr indent="457200">
              <a:lnSpc>
                <a:spcPct val="140000"/>
              </a:lnSpc>
            </a:pPr>
            <a:r>
              <a:rPr sz="2000">
                <a:latin typeface="微软雅黑" panose="020B0503020204020204" charset="-122"/>
                <a:ea typeface="微软雅黑" panose="020B0503020204020204" charset="-122"/>
                <a:cs typeface="微软雅黑" panose="020B0503020204020204" charset="-122"/>
                <a:sym typeface="+mn-ea"/>
              </a:rPr>
              <a:t>引入</a:t>
            </a:r>
            <a:r>
              <a:rPr sz="2000" b="1">
                <a:latin typeface="微软雅黑" panose="020B0503020204020204" charset="-122"/>
                <a:ea typeface="微软雅黑" panose="020B0503020204020204" charset="-122"/>
                <a:cs typeface="微软雅黑" panose="020B0503020204020204" charset="-122"/>
                <a:sym typeface="+mn-ea"/>
              </a:rPr>
              <a:t>双重抽样检测方案</a:t>
            </a:r>
            <a:r>
              <a:rPr sz="2000">
                <a:latin typeface="微软雅黑" panose="020B0503020204020204" charset="-122"/>
                <a:ea typeface="微软雅黑" panose="020B0503020204020204" charset="-122"/>
                <a:cs typeface="微软雅黑" panose="020B0503020204020204" charset="-122"/>
                <a:sym typeface="+mn-ea"/>
              </a:rPr>
              <a:t>，通过两轮抽样逐步确定零配件是否符合质量标准。第一轮抽样后，若不确定，则进行第二轮抽样进行进一步确认。</a:t>
            </a:r>
            <a:endParaRPr sz="2000">
              <a:latin typeface="微软雅黑" panose="020B0503020204020204" charset="-122"/>
              <a:ea typeface="微软雅黑" panose="020B0503020204020204" charset="-122"/>
              <a:cs typeface="微软雅黑" panose="020B0503020204020204" charset="-122"/>
              <a:sym typeface="+mn-ea"/>
            </a:endParaRPr>
          </a:p>
        </p:txBody>
      </p:sp>
      <p:sp>
        <p:nvSpPr>
          <p:cNvPr id="72" name="文本框 71"/>
          <p:cNvSpPr txBox="1"/>
          <p:nvPr/>
        </p:nvSpPr>
        <p:spPr>
          <a:xfrm>
            <a:off x="10805366" y="6428675"/>
            <a:ext cx="1050925" cy="368300"/>
          </a:xfrm>
          <a:prstGeom prst="rect">
            <a:avLst/>
          </a:prstGeom>
          <a:noFill/>
        </p:spPr>
        <p:txBody>
          <a:bodyPr wrap="none" rtlCol="0">
            <a:spAutoFit/>
          </a:bodyPr>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rPr>
              <a:t>April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endParaRPr>
          </a:p>
        </p:txBody>
      </p:sp>
    </p:spTree>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93041"/>
            <a:chOff x="335361" y="116633"/>
            <a:chExt cx="11521279" cy="693041"/>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效度函数与</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决策</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grpSp>
      <p:pic>
        <p:nvPicPr>
          <p:cNvPr id="7" name="图片 6"/>
          <p:cNvPicPr>
            <a:picLocks noChangeAspect="1"/>
          </p:cNvPicPr>
          <p:nvPr/>
        </p:nvPicPr>
        <p:blipFill>
          <a:blip r:embed="rId1"/>
          <a:stretch>
            <a:fillRect/>
          </a:stretch>
        </p:blipFill>
        <p:spPr>
          <a:xfrm>
            <a:off x="4658360" y="116840"/>
            <a:ext cx="4762500" cy="942975"/>
          </a:xfrm>
          <a:prstGeom prst="rect">
            <a:avLst/>
          </a:prstGeom>
        </p:spPr>
      </p:pic>
      <p:sp>
        <p:nvSpPr>
          <p:cNvPr id="50" name="圆角矩形 2"/>
          <p:cNvSpPr/>
          <p:nvPr/>
        </p:nvSpPr>
        <p:spPr>
          <a:xfrm>
            <a:off x="2703589" y="3845311"/>
            <a:ext cx="8135099" cy="2186187"/>
          </a:xfrm>
          <a:prstGeom prst="roundRect">
            <a:avLst/>
          </a:prstGeom>
          <a:noFill/>
          <a:ln w="127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51" name="圆角矩形 2"/>
          <p:cNvSpPr/>
          <p:nvPr/>
        </p:nvSpPr>
        <p:spPr>
          <a:xfrm>
            <a:off x="2703590" y="1239510"/>
            <a:ext cx="8135099" cy="2186187"/>
          </a:xfrm>
          <a:prstGeom prst="roundRect">
            <a:avLst/>
          </a:prstGeom>
          <a:noFill/>
          <a:ln w="127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nvGrpSpPr>
          <p:cNvPr id="52" name="组合 51"/>
          <p:cNvGrpSpPr/>
          <p:nvPr/>
        </p:nvGrpSpPr>
        <p:grpSpPr>
          <a:xfrm>
            <a:off x="1477779" y="1341673"/>
            <a:ext cx="1929923" cy="1929923"/>
            <a:chOff x="304800" y="673100"/>
            <a:chExt cx="4000500" cy="4000500"/>
          </a:xfrm>
          <a:solidFill>
            <a:srgbClr val="961318"/>
          </a:solidFill>
          <a:effectLst/>
        </p:grpSpPr>
        <p:sp>
          <p:nvSpPr>
            <p:cNvPr id="53" name="同心圆 4"/>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54" name="椭圆 53"/>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55" name="椭圆 54"/>
          <p:cNvSpPr/>
          <p:nvPr/>
        </p:nvSpPr>
        <p:spPr>
          <a:xfrm>
            <a:off x="2949895"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1</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57" name="组合 56"/>
          <p:cNvGrpSpPr/>
          <p:nvPr/>
        </p:nvGrpSpPr>
        <p:grpSpPr>
          <a:xfrm>
            <a:off x="1477779" y="3960635"/>
            <a:ext cx="2040740" cy="1929923"/>
            <a:chOff x="5129071" y="1400218"/>
            <a:chExt cx="2040740" cy="1929923"/>
          </a:xfrm>
        </p:grpSpPr>
        <p:grpSp>
          <p:nvGrpSpPr>
            <p:cNvPr id="58" name="组合 57"/>
            <p:cNvGrpSpPr/>
            <p:nvPr/>
          </p:nvGrpSpPr>
          <p:grpSpPr>
            <a:xfrm>
              <a:off x="5129071" y="1400218"/>
              <a:ext cx="1929923" cy="1929923"/>
              <a:chOff x="304800" y="673100"/>
              <a:chExt cx="4000500" cy="4000500"/>
            </a:xfrm>
            <a:solidFill>
              <a:srgbClr val="961318"/>
            </a:solidFill>
            <a:effectLst/>
          </p:grpSpPr>
          <p:sp>
            <p:nvSpPr>
              <p:cNvPr id="59" name="同心圆 12"/>
              <p:cNvSpPr/>
              <p:nvPr/>
            </p:nvSpPr>
            <p:spPr>
              <a:xfrm>
                <a:off x="304800" y="673100"/>
                <a:ext cx="4000500" cy="4000500"/>
              </a:xfrm>
              <a:prstGeom prst="donut">
                <a:avLst>
                  <a:gd name="adj" fmla="val 4879"/>
                </a:avLst>
              </a:prstGeom>
              <a:grpFill/>
              <a:ln w="254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sp>
            <p:nvSpPr>
              <p:cNvPr id="60" name="椭圆 59"/>
              <p:cNvSpPr/>
              <p:nvPr/>
            </p:nvSpPr>
            <p:spPr>
              <a:xfrm>
                <a:off x="392112" y="760412"/>
                <a:ext cx="3825874" cy="3825874"/>
              </a:xfrm>
              <a:prstGeom prst="ellipse">
                <a:avLst/>
              </a:prstGeom>
              <a:grpFill/>
              <a:ln w="25400" cap="flat" cmpd="sng" algn="ctr">
                <a:solidFill>
                  <a:srgbClr val="961318"/>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lumMod val="65000"/>
                      <a:lumOff val="35000"/>
                    </a:prstClr>
                  </a:solidFill>
                  <a:effectLst/>
                  <a:uLnTx/>
                  <a:uFillTx/>
                  <a:latin typeface="微软雅黑" panose="020B0503020204020204" charset="-122"/>
                  <a:ea typeface="微软雅黑" panose="020B0503020204020204" charset="-122"/>
                  <a:cs typeface="+mn-cs"/>
                </a:endParaRPr>
              </a:p>
            </p:txBody>
          </p:sp>
        </p:grpSp>
        <p:sp>
          <p:nvSpPr>
            <p:cNvPr id="61" name="椭圆 60"/>
            <p:cNvSpPr/>
            <p:nvPr/>
          </p:nvSpPr>
          <p:spPr>
            <a:xfrm>
              <a:off x="6672064" y="2601975"/>
              <a:ext cx="497747" cy="497747"/>
            </a:xfrm>
            <a:prstGeom prst="ellipse">
              <a:avLst/>
            </a:prstGeom>
            <a:solidFill>
              <a:srgbClr val="961318"/>
            </a:solidFill>
            <a:ln w="25400" cap="flat" cmpd="sng" algn="ctr">
              <a:solidFill>
                <a:sysClr val="window" lastClr="FFFFFF"/>
              </a:solidFill>
              <a:prstDash val="solid"/>
            </a:ln>
            <a:effectLst/>
          </p:spPr>
          <p:txBody>
            <a:bodyPr rtlCol="0" anchor="ctr"/>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2</a:t>
              </a:r>
              <a:endParaRPr kumimoji="0" lang="zh-CN" altLang="en-US" sz="24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sp>
        <p:nvSpPr>
          <p:cNvPr id="68" name="文本框 67"/>
          <p:cNvSpPr txBox="1"/>
          <p:nvPr/>
        </p:nvSpPr>
        <p:spPr>
          <a:xfrm>
            <a:off x="1574800" y="2076450"/>
            <a:ext cx="1790700" cy="460375"/>
          </a:xfrm>
          <a:prstGeom prst="rect">
            <a:avLst/>
          </a:prstGeom>
          <a:noFill/>
        </p:spPr>
        <p:txBody>
          <a:bodyPr wrap="square" rtlCol="0" anchor="t">
            <a:spAutoFit/>
          </a:bodyPr>
          <a:p>
            <a:pPr algn="ctr" defTabSz="1219200"/>
            <a:r>
              <a:rPr lang="zh-CN" altLang="en-US" sz="2400" b="1" dirty="0">
                <a:solidFill>
                  <a:prstClr val="white"/>
                </a:solidFill>
                <a:latin typeface="微软雅黑" panose="020B0503020204020204" charset="-122"/>
                <a:ea typeface="微软雅黑" panose="020B0503020204020204" charset="-122"/>
                <a:sym typeface="+mn-ea"/>
              </a:rPr>
              <a:t>效度</a:t>
            </a:r>
            <a:r>
              <a:rPr lang="zh-CN" altLang="en-US" sz="2400" b="1" dirty="0">
                <a:solidFill>
                  <a:prstClr val="white"/>
                </a:solidFill>
                <a:latin typeface="微软雅黑" panose="020B0503020204020204" charset="-122"/>
                <a:ea typeface="微软雅黑" panose="020B0503020204020204" charset="-122"/>
                <a:sym typeface="+mn-ea"/>
              </a:rPr>
              <a:t>函数</a:t>
            </a:r>
            <a:endParaRPr lang="zh-CN" altLang="en-US" sz="2400" b="1" dirty="0">
              <a:solidFill>
                <a:prstClr val="white"/>
              </a:solidFill>
              <a:latin typeface="微软雅黑" panose="020B0503020204020204" charset="-122"/>
              <a:ea typeface="微软雅黑" panose="020B0503020204020204" charset="-122"/>
              <a:sym typeface="+mn-ea"/>
            </a:endParaRPr>
          </a:p>
        </p:txBody>
      </p:sp>
      <p:sp>
        <p:nvSpPr>
          <p:cNvPr id="69" name="文本框 68"/>
          <p:cNvSpPr txBox="1"/>
          <p:nvPr/>
        </p:nvSpPr>
        <p:spPr>
          <a:xfrm>
            <a:off x="1423670" y="4708525"/>
            <a:ext cx="2118995" cy="460375"/>
          </a:xfrm>
          <a:prstGeom prst="rect">
            <a:avLst/>
          </a:prstGeom>
          <a:noFill/>
        </p:spPr>
        <p:txBody>
          <a:bodyPr wrap="square" rtlCol="0" anchor="t">
            <a:spAutoFit/>
          </a:bodyPr>
          <a:p>
            <a:pPr algn="ctr" defTabSz="1219200"/>
            <a:r>
              <a:rPr lang="zh-CN" altLang="en-US" sz="2400" b="1" dirty="0">
                <a:solidFill>
                  <a:prstClr val="white"/>
                </a:solidFill>
                <a:latin typeface="微软雅黑" panose="020B0503020204020204" charset="-122"/>
                <a:ea typeface="微软雅黑" panose="020B0503020204020204" charset="-122"/>
                <a:sym typeface="+mn-ea"/>
              </a:rPr>
              <a:t>决策过程</a:t>
            </a:r>
            <a:endParaRPr lang="zh-CN" altLang="en-US" sz="2400" b="1" dirty="0">
              <a:solidFill>
                <a:prstClr val="white"/>
              </a:solidFill>
              <a:latin typeface="微软雅黑" panose="020B0503020204020204" charset="-122"/>
              <a:ea typeface="微软雅黑" panose="020B0503020204020204" charset="-122"/>
              <a:sym typeface="+mn-ea"/>
            </a:endParaRPr>
          </a:p>
        </p:txBody>
      </p:sp>
      <p:sp>
        <p:nvSpPr>
          <p:cNvPr id="70" name="文本框 69"/>
          <p:cNvSpPr txBox="1"/>
          <p:nvPr/>
        </p:nvSpPr>
        <p:spPr>
          <a:xfrm>
            <a:off x="3542665" y="1671955"/>
            <a:ext cx="6994525" cy="1133475"/>
          </a:xfrm>
          <a:prstGeom prst="rect">
            <a:avLst/>
          </a:prstGeom>
          <a:noFill/>
        </p:spPr>
        <p:txBody>
          <a:bodyPr wrap="square" rtlCol="0" anchor="t">
            <a:noAutofit/>
          </a:bodyPr>
          <a:p>
            <a:pPr indent="457200">
              <a:lnSpc>
                <a:spcPct val="140000"/>
              </a:lnSpc>
            </a:pPr>
            <a:r>
              <a:rPr lang="zh-CN" altLang="en-US">
                <a:latin typeface="微软雅黑" panose="020B0503020204020204" charset="-122"/>
                <a:ea typeface="微软雅黑" panose="020B0503020204020204" charset="-122"/>
                <a:cs typeface="微软雅黑" panose="020B0503020204020204" charset="-122"/>
              </a:rPr>
              <a:t>为了量化检测结果的可靠性，使用效度函数K(n, p)，它反映了在样本量 n 和实际次品率 p 下，检测方法正确判断次品的概率。</a:t>
            </a:r>
            <a:endParaRPr lang="zh-CN" altLang="en-US">
              <a:latin typeface="微软雅黑" panose="020B0503020204020204" charset="-122"/>
              <a:ea typeface="微软雅黑" panose="020B0503020204020204" charset="-122"/>
              <a:cs typeface="微软雅黑" panose="020B0503020204020204" charset="-122"/>
            </a:endParaRPr>
          </a:p>
          <a:p>
            <a:pPr indent="457200">
              <a:lnSpc>
                <a:spcPct val="140000"/>
              </a:lnSpc>
            </a:pPr>
            <a:r>
              <a:rPr lang="zh-CN" altLang="en-US">
                <a:latin typeface="微软雅黑" panose="020B0503020204020204" charset="-122"/>
                <a:ea typeface="微软雅黑" panose="020B0503020204020204" charset="-122"/>
                <a:cs typeface="微软雅黑" panose="020B0503020204020204" charset="-122"/>
              </a:rPr>
              <a:t>通过效度函数，可以衡量每个策略（如检测、拆解）的效果。</a:t>
            </a:r>
            <a:endParaRPr lang="zh-CN" altLang="en-US">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3542665" y="4298950"/>
            <a:ext cx="7007225" cy="1252855"/>
          </a:xfrm>
          <a:prstGeom prst="rect">
            <a:avLst/>
          </a:prstGeom>
          <a:noFill/>
        </p:spPr>
        <p:txBody>
          <a:bodyPr wrap="square" rtlCol="0" anchor="t">
            <a:spAutoFit/>
          </a:bodyPr>
          <a:p>
            <a:pPr indent="457200">
              <a:lnSpc>
                <a:spcPct val="140000"/>
              </a:lnSpc>
            </a:pPr>
            <a:r>
              <a:rPr>
                <a:latin typeface="微软雅黑" panose="020B0503020204020204" charset="-122"/>
                <a:ea typeface="微软雅黑" panose="020B0503020204020204" charset="-122"/>
                <a:cs typeface="微软雅黑" panose="020B0503020204020204" charset="-122"/>
                <a:sym typeface="+mn-ea"/>
              </a:rPr>
              <a:t>生产过程中的每个决策（如是否检测零配件、是否拆解不合格成品）都需要考虑效度函数。基于效度函数计算出的检测可信度来决定是否接受该批零配件或成品。</a:t>
            </a:r>
            <a:endParaRPr>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10805366" y="6428675"/>
            <a:ext cx="1050925" cy="36830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rPr>
              <a:t>April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endParaRPr>
          </a:p>
        </p:txBody>
      </p:sp>
    </p:spTree>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实验结果与讨论</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3" name="矩形 2"/>
          <p:cNvSpPr/>
          <p:nvPr/>
        </p:nvSpPr>
        <p:spPr>
          <a:xfrm>
            <a:off x="5836920" y="1717040"/>
            <a:ext cx="5875655" cy="3888740"/>
          </a:xfrm>
          <a:prstGeom prst="rect">
            <a:avLst/>
          </a:prstGeom>
          <a:solidFill>
            <a:srgbClr val="FFFFFF"/>
          </a:solidFill>
          <a:ln w="635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lIns="108000" tIns="612000" rIns="108000" bIns="0" rtlCol="0" anchor="t"/>
          <a:lstStyle/>
          <a:p>
            <a:pPr indent="0" defTabSz="457200">
              <a:lnSpc>
                <a:spcPct val="120000"/>
              </a:lnSpc>
              <a:spcAft>
                <a:spcPts val="1200"/>
              </a:spcAft>
              <a:buClr>
                <a:srgbClr val="961318"/>
              </a:buClr>
              <a:buFont typeface="Arial" panose="020B0604020202020204" pitchFamily="34" charset="0"/>
              <a:buNone/>
            </a:pPr>
            <a:r>
              <a:rPr lang="en-US" altLang="zh-CN" kern="0" dirty="0">
                <a:solidFill>
                  <a:srgbClr val="000000">
                    <a:lumMod val="75000"/>
                    <a:lumOff val="25000"/>
                  </a:srgbClr>
                </a:solidFill>
                <a:latin typeface="Arial" panose="020B0604020202020204"/>
                <a:ea typeface="宋体" panose="02010600030101010101" pitchFamily="2" charset="-122"/>
                <a:cs typeface="+mn-ea"/>
                <a:sym typeface="+mn-lt"/>
              </a:rPr>
              <a:t>   </a:t>
            </a:r>
            <a:endParaRPr lang="en-US" altLang="zh-CN" kern="0" dirty="0">
              <a:solidFill>
                <a:srgbClr val="000000">
                  <a:lumMod val="75000"/>
                  <a:lumOff val="25000"/>
                </a:srgbClr>
              </a:solidFill>
              <a:latin typeface="Arial" panose="020B0604020202020204"/>
              <a:ea typeface="宋体" panose="02010600030101010101" pitchFamily="2" charset="-122"/>
              <a:cs typeface="+mn-ea"/>
              <a:sym typeface="+mn-lt"/>
            </a:endParaRPr>
          </a:p>
          <a:p>
            <a:pPr marL="285750" indent="-285750" defTabSz="457200">
              <a:lnSpc>
                <a:spcPct val="120000"/>
              </a:lnSpc>
              <a:spcAft>
                <a:spcPts val="1200"/>
              </a:spcAft>
              <a:buClr>
                <a:srgbClr val="961318"/>
              </a:buClr>
              <a:buFont typeface="Arial" panose="020B0604020202020204" pitchFamily="34" charset="0"/>
              <a:buChar char="•"/>
            </a:pPr>
            <a:endParaRPr lang="zh-CN" altLang="en-US" sz="2000" kern="0" dirty="0">
              <a:solidFill>
                <a:srgbClr val="000000">
                  <a:lumMod val="75000"/>
                  <a:lumOff val="25000"/>
                </a:srgbClr>
              </a:solidFill>
              <a:latin typeface="Arial" panose="020B0604020202020204"/>
              <a:ea typeface="宋体" panose="02010600030101010101" pitchFamily="2" charset="-122"/>
              <a:cs typeface="+mn-ea"/>
              <a:sym typeface="+mn-lt"/>
            </a:endParaRPr>
          </a:p>
        </p:txBody>
      </p:sp>
      <p:sp>
        <p:nvSpPr>
          <p:cNvPr id="4" name="矩形 3"/>
          <p:cNvSpPr/>
          <p:nvPr/>
        </p:nvSpPr>
        <p:spPr>
          <a:xfrm>
            <a:off x="5837020" y="1717133"/>
            <a:ext cx="5875555" cy="457200"/>
          </a:xfrm>
          <a:prstGeom prst="rect">
            <a:avLst/>
          </a:prstGeom>
          <a:solidFill>
            <a:srgbClr val="961318"/>
          </a:solidFill>
          <a:ln w="12700" cap="flat" cmpd="sng" algn="ctr">
            <a:noFill/>
            <a:prstDash val="solid"/>
            <a:miter lim="800000"/>
          </a:ln>
          <a:effectLst/>
        </p:spPr>
        <p:txBody>
          <a:bodyPr rtlCol="0" anchor="ctr"/>
          <a:lstStyle/>
          <a:p>
            <a:pPr algn="ctr" defTabSz="457200">
              <a:defRPr/>
            </a:pPr>
            <a:endParaRPr lang="en-US" sz="2000" b="1" kern="0" dirty="0">
              <a:solidFill>
                <a:srgbClr val="FFFFFF"/>
              </a:solidFill>
              <a:latin typeface="Arial" panose="020B0604020202020204"/>
              <a:sym typeface="+mn-lt"/>
            </a:endParaRPr>
          </a:p>
        </p:txBody>
      </p:sp>
      <p:sp>
        <p:nvSpPr>
          <p:cNvPr id="5" name="L 形 4"/>
          <p:cNvSpPr/>
          <p:nvPr/>
        </p:nvSpPr>
        <p:spPr bwMode="auto">
          <a:xfrm rot="5400000">
            <a:off x="467360" y="1282990"/>
            <a:ext cx="628535" cy="628535"/>
          </a:xfrm>
          <a:prstGeom prst="corner">
            <a:avLst>
              <a:gd name="adj1" fmla="val 11572"/>
              <a:gd name="adj2" fmla="val 11638"/>
            </a:avLst>
          </a:prstGeom>
          <a:solidFill>
            <a:srgbClr val="961318"/>
          </a:solidFill>
          <a:ln>
            <a:solidFill>
              <a:srgbClr val="961318"/>
            </a:solidFill>
          </a:ln>
        </p:spPr>
        <p:txBody>
          <a:bodyPr rot="0" spcFirstLastPara="0" vertOverflow="overflow" horzOverflow="overflow" vert="horz" wrap="square" lIns="91440" tIns="45720" rIns="91440" bIns="45720" numCol="1" spcCol="0" rtlCol="0" fromWordArt="0" anchor="ctr" anchorCtr="0" forceAA="0" compatLnSpc="1">
            <a:noAutofit/>
          </a:bodyPr>
          <a:lstStyle/>
          <a:p>
            <a:pPr algn="ctr">
              <a:buSzPct val="25000"/>
              <a:defRPr/>
            </a:pPr>
            <a:endParaRPr lang="en-US" b="1" kern="0" dirty="0">
              <a:solidFill>
                <a:srgbClr val="FFFFFF"/>
              </a:solidFill>
              <a:latin typeface="Arial" panose="020B0604020202020204"/>
              <a:sym typeface="+mn-lt"/>
            </a:endParaRPr>
          </a:p>
        </p:txBody>
      </p:sp>
      <p:sp>
        <p:nvSpPr>
          <p:cNvPr id="12" name="文本框 11"/>
          <p:cNvSpPr txBox="1"/>
          <p:nvPr/>
        </p:nvSpPr>
        <p:spPr>
          <a:xfrm>
            <a:off x="6156325" y="2674620"/>
            <a:ext cx="5236845" cy="2304415"/>
          </a:xfrm>
          <a:prstGeom prst="rect">
            <a:avLst/>
          </a:prstGeom>
          <a:noFill/>
        </p:spPr>
        <p:txBody>
          <a:bodyPr wrap="square" rtlCol="0">
            <a:spAutoFit/>
          </a:bodyPr>
          <a:p>
            <a:pPr algn="just">
              <a:lnSpc>
                <a:spcPct val="140000"/>
              </a:lnSpc>
            </a:pPr>
            <a:r>
              <a:rPr lang="en-US" altLang="zh-CN" kern="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mn-lt"/>
              </a:rPr>
              <a:t>     方案充分整合了问题 1 中优化得到的抽样检测方法与实时蒙特卡罗模拟的优势，使得生产决策在兼顾利润最大化的同时，也能有效规避检测风险，从而为企业在不确定质量环境下制定经济高效的生产策略提供了有力支持  </a:t>
            </a:r>
            <a:endParaRPr lang="zh-CN" altLang="en-US" kern="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mn-lt"/>
            </a:endParaRPr>
          </a:p>
          <a:p>
            <a:pPr algn="just"/>
            <a:endParaRPr lang="zh-CN" altLang="en-US">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2" name="图片 1"/>
          <p:cNvPicPr>
            <a:picLocks noChangeAspect="1"/>
          </p:cNvPicPr>
          <p:nvPr/>
        </p:nvPicPr>
        <p:blipFill>
          <a:blip r:embed="rId1"/>
          <a:srcRect t="7956"/>
          <a:stretch>
            <a:fillRect/>
          </a:stretch>
        </p:blipFill>
        <p:spPr>
          <a:xfrm>
            <a:off x="335280" y="2324735"/>
            <a:ext cx="5275580" cy="2208530"/>
          </a:xfrm>
          <a:prstGeom prst="rect">
            <a:avLst/>
          </a:prstGeom>
        </p:spPr>
      </p:pic>
    </p:spTree>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93881" y="251253"/>
              <a:ext cx="6261735" cy="806450"/>
            </a:xfrm>
            <a:prstGeom prst="rect">
              <a:avLst/>
            </a:prstGeom>
          </p:spPr>
          <p:txBody>
            <a:bodyPr vert="horz" lIns="91440" tIns="45720" rIns="91440" bIns="45720" rtlCol="0">
              <a:normAutofit fontScale="80000"/>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问题三的重新</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解决：共轭先验与</a:t>
              </a:r>
              <a:r>
                <a:rPr kumimoji="0" lang="en-US" altLang="zh-CN"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Beta</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分布</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8" name="Oval 12"/>
          <p:cNvSpPr/>
          <p:nvPr>
            <p:custDataLst>
              <p:tags r:id="rId1"/>
            </p:custDataLst>
          </p:nvPr>
        </p:nvSpPr>
        <p:spPr>
          <a:xfrm>
            <a:off x="4217989" y="4959425"/>
            <a:ext cx="957263" cy="960439"/>
          </a:xfrm>
          <a:prstGeom prst="ellipse">
            <a:avLst/>
          </a:prstGeom>
          <a:solidFill>
            <a:srgbClr val="961318"/>
          </a:solidFill>
          <a:ln w="25400" cap="flat" cmpd="sng" algn="ctr">
            <a:solidFill>
              <a:srgbClr val="961318"/>
            </a:solidFill>
            <a:prstDash val="solid"/>
          </a:ln>
          <a:effectLst/>
        </p:spPr>
        <p:txBody>
          <a:bodyPr lIns="91440" tIns="45720" rIns="91440" bIns="4572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1735" b="0" i="0" u="none" strike="noStrike" kern="0" cap="none" spc="0" normalizeH="0" baseline="0" noProof="0">
              <a:ln>
                <a:noFill/>
              </a:ln>
              <a:solidFill>
                <a:prstClr val="black">
                  <a:lumMod val="65000"/>
                  <a:lumOff val="35000"/>
                </a:prstClr>
              </a:solidFill>
              <a:effectLst/>
              <a:uLnTx/>
              <a:uFillTx/>
              <a:latin typeface="Calibri" panose="020F0502020204030204"/>
              <a:ea typeface="+mn-ea"/>
              <a:cs typeface="+mn-cs"/>
            </a:endParaRPr>
          </a:p>
        </p:txBody>
      </p:sp>
      <p:sp>
        <p:nvSpPr>
          <p:cNvPr id="19" name="Oval 14"/>
          <p:cNvSpPr/>
          <p:nvPr>
            <p:custDataLst>
              <p:tags r:id="rId2"/>
            </p:custDataLst>
          </p:nvPr>
        </p:nvSpPr>
        <p:spPr>
          <a:xfrm>
            <a:off x="6858001" y="4959425"/>
            <a:ext cx="955675" cy="960439"/>
          </a:xfrm>
          <a:prstGeom prst="ellipse">
            <a:avLst/>
          </a:prstGeom>
          <a:solidFill>
            <a:srgbClr val="961318"/>
          </a:solidFill>
          <a:ln w="25400" cap="flat" cmpd="sng" algn="ctr">
            <a:solidFill>
              <a:srgbClr val="961318"/>
            </a:solidFill>
            <a:prstDash val="solid"/>
          </a:ln>
          <a:effectLst/>
        </p:spPr>
        <p:txBody>
          <a:bodyPr lIns="91440" tIns="45720" rIns="91440" bIns="4572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1735" b="0" i="0" u="none" strike="noStrike" kern="0" cap="none" spc="0" normalizeH="0" baseline="0" noProof="0">
              <a:ln>
                <a:noFill/>
              </a:ln>
              <a:solidFill>
                <a:prstClr val="black">
                  <a:lumMod val="65000"/>
                  <a:lumOff val="35000"/>
                </a:prstClr>
              </a:solidFill>
              <a:effectLst/>
              <a:uLnTx/>
              <a:uFillTx/>
              <a:latin typeface="Calibri" panose="020F0502020204030204"/>
              <a:ea typeface="+mn-ea"/>
              <a:cs typeface="+mn-cs"/>
            </a:endParaRPr>
          </a:p>
        </p:txBody>
      </p:sp>
      <p:grpSp>
        <p:nvGrpSpPr>
          <p:cNvPr id="24" name="Group 23"/>
          <p:cNvGrpSpPr/>
          <p:nvPr>
            <p:custDataLst>
              <p:tags r:id="rId3"/>
            </p:custDataLst>
          </p:nvPr>
        </p:nvGrpSpPr>
        <p:grpSpPr>
          <a:xfrm>
            <a:off x="4481095" y="5225660"/>
            <a:ext cx="519123" cy="452568"/>
            <a:chOff x="7540014" y="4306907"/>
            <a:chExt cx="389342" cy="339426"/>
          </a:xfrm>
          <a:solidFill>
            <a:sysClr val="window" lastClr="FFFFFF"/>
          </a:solidFill>
        </p:grpSpPr>
        <p:sp>
          <p:nvSpPr>
            <p:cNvPr id="25" name="Freeform 110"/>
            <p:cNvSpPr/>
            <p:nvPr>
              <p:custDataLst>
                <p:tags r:id="rId4"/>
              </p:custDataLst>
            </p:nvPr>
          </p:nvSpPr>
          <p:spPr bwMode="auto">
            <a:xfrm>
              <a:off x="7799575" y="4409234"/>
              <a:ext cx="102328" cy="102328"/>
            </a:xfrm>
            <a:custGeom>
              <a:avLst/>
              <a:gdLst>
                <a:gd name="T0" fmla="*/ 0 w 41"/>
                <a:gd name="T1" fmla="*/ 39 h 41"/>
                <a:gd name="T2" fmla="*/ 3 w 41"/>
                <a:gd name="T3" fmla="*/ 41 h 41"/>
                <a:gd name="T4" fmla="*/ 41 w 41"/>
                <a:gd name="T5" fmla="*/ 3 h 41"/>
                <a:gd name="T6" fmla="*/ 39 w 41"/>
                <a:gd name="T7" fmla="*/ 0 h 41"/>
                <a:gd name="T8" fmla="*/ 0 w 41"/>
                <a:gd name="T9" fmla="*/ 39 h 41"/>
              </a:gdLst>
              <a:ahLst/>
              <a:cxnLst>
                <a:cxn ang="0">
                  <a:pos x="T0" y="T1"/>
                </a:cxn>
                <a:cxn ang="0">
                  <a:pos x="T2" y="T3"/>
                </a:cxn>
                <a:cxn ang="0">
                  <a:pos x="T4" y="T5"/>
                </a:cxn>
                <a:cxn ang="0">
                  <a:pos x="T6" y="T7"/>
                </a:cxn>
                <a:cxn ang="0">
                  <a:pos x="T8" y="T9"/>
                </a:cxn>
              </a:cxnLst>
              <a:rect l="0" t="0" r="r" b="b"/>
              <a:pathLst>
                <a:path w="41" h="41">
                  <a:moveTo>
                    <a:pt x="0" y="39"/>
                  </a:moveTo>
                  <a:lnTo>
                    <a:pt x="3" y="41"/>
                  </a:lnTo>
                  <a:lnTo>
                    <a:pt x="41" y="3"/>
                  </a:lnTo>
                  <a:lnTo>
                    <a:pt x="39" y="0"/>
                  </a:lnTo>
                  <a:lnTo>
                    <a:pt x="0" y="39"/>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6" name="Freeform 111"/>
            <p:cNvSpPr/>
            <p:nvPr>
              <p:custDataLst>
                <p:tags r:id="rId5"/>
              </p:custDataLst>
            </p:nvPr>
          </p:nvSpPr>
          <p:spPr bwMode="auto">
            <a:xfrm>
              <a:off x="7777112" y="4381780"/>
              <a:ext cx="109814" cy="114806"/>
            </a:xfrm>
            <a:custGeom>
              <a:avLst/>
              <a:gdLst>
                <a:gd name="T0" fmla="*/ 37 w 44"/>
                <a:gd name="T1" fmla="*/ 0 h 46"/>
                <a:gd name="T2" fmla="*/ 0 w 44"/>
                <a:gd name="T3" fmla="*/ 39 h 46"/>
                <a:gd name="T4" fmla="*/ 6 w 44"/>
                <a:gd name="T5" fmla="*/ 46 h 46"/>
                <a:gd name="T6" fmla="*/ 44 w 44"/>
                <a:gd name="T7" fmla="*/ 8 h 46"/>
                <a:gd name="T8" fmla="*/ 37 w 44"/>
                <a:gd name="T9" fmla="*/ 0 h 46"/>
              </a:gdLst>
              <a:ahLst/>
              <a:cxnLst>
                <a:cxn ang="0">
                  <a:pos x="T0" y="T1"/>
                </a:cxn>
                <a:cxn ang="0">
                  <a:pos x="T2" y="T3"/>
                </a:cxn>
                <a:cxn ang="0">
                  <a:pos x="T4" y="T5"/>
                </a:cxn>
                <a:cxn ang="0">
                  <a:pos x="T6" y="T7"/>
                </a:cxn>
                <a:cxn ang="0">
                  <a:pos x="T8" y="T9"/>
                </a:cxn>
              </a:cxnLst>
              <a:rect l="0" t="0" r="r" b="b"/>
              <a:pathLst>
                <a:path w="44" h="46">
                  <a:moveTo>
                    <a:pt x="37" y="0"/>
                  </a:moveTo>
                  <a:lnTo>
                    <a:pt x="0" y="39"/>
                  </a:lnTo>
                  <a:lnTo>
                    <a:pt x="6" y="46"/>
                  </a:lnTo>
                  <a:lnTo>
                    <a:pt x="44" y="8"/>
                  </a:lnTo>
                  <a:lnTo>
                    <a:pt x="37"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7" name="Freeform 112"/>
            <p:cNvSpPr/>
            <p:nvPr>
              <p:custDataLst>
                <p:tags r:id="rId6"/>
              </p:custDataLst>
            </p:nvPr>
          </p:nvSpPr>
          <p:spPr bwMode="auto">
            <a:xfrm>
              <a:off x="7757146" y="4366805"/>
              <a:ext cx="104823" cy="104823"/>
            </a:xfrm>
            <a:custGeom>
              <a:avLst/>
              <a:gdLst>
                <a:gd name="T0" fmla="*/ 0 w 42"/>
                <a:gd name="T1" fmla="*/ 38 h 42"/>
                <a:gd name="T2" fmla="*/ 4 w 42"/>
                <a:gd name="T3" fmla="*/ 42 h 42"/>
                <a:gd name="T4" fmla="*/ 42 w 42"/>
                <a:gd name="T5" fmla="*/ 4 h 42"/>
                <a:gd name="T6" fmla="*/ 38 w 42"/>
                <a:gd name="T7" fmla="*/ 0 h 42"/>
                <a:gd name="T8" fmla="*/ 0 w 42"/>
                <a:gd name="T9" fmla="*/ 38 h 42"/>
              </a:gdLst>
              <a:ahLst/>
              <a:cxnLst>
                <a:cxn ang="0">
                  <a:pos x="T0" y="T1"/>
                </a:cxn>
                <a:cxn ang="0">
                  <a:pos x="T2" y="T3"/>
                </a:cxn>
                <a:cxn ang="0">
                  <a:pos x="T4" y="T5"/>
                </a:cxn>
                <a:cxn ang="0">
                  <a:pos x="T6" y="T7"/>
                </a:cxn>
                <a:cxn ang="0">
                  <a:pos x="T8" y="T9"/>
                </a:cxn>
              </a:cxnLst>
              <a:rect l="0" t="0" r="r" b="b"/>
              <a:pathLst>
                <a:path w="42" h="42">
                  <a:moveTo>
                    <a:pt x="0" y="38"/>
                  </a:moveTo>
                  <a:lnTo>
                    <a:pt x="4" y="42"/>
                  </a:lnTo>
                  <a:lnTo>
                    <a:pt x="42" y="4"/>
                  </a:lnTo>
                  <a:lnTo>
                    <a:pt x="38" y="0"/>
                  </a:lnTo>
                  <a:lnTo>
                    <a:pt x="0" y="38"/>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8" name="Freeform 113"/>
            <p:cNvSpPr/>
            <p:nvPr>
              <p:custDataLst>
                <p:tags r:id="rId7"/>
              </p:custDataLst>
            </p:nvPr>
          </p:nvSpPr>
          <p:spPr bwMode="auto">
            <a:xfrm>
              <a:off x="7729693" y="4469133"/>
              <a:ext cx="69882" cy="69882"/>
            </a:xfrm>
            <a:custGeom>
              <a:avLst/>
              <a:gdLst>
                <a:gd name="T0" fmla="*/ 28 w 28"/>
                <a:gd name="T1" fmla="*/ 20 h 28"/>
                <a:gd name="T2" fmla="*/ 8 w 28"/>
                <a:gd name="T3" fmla="*/ 0 h 28"/>
                <a:gd name="T4" fmla="*/ 0 w 28"/>
                <a:gd name="T5" fmla="*/ 20 h 28"/>
                <a:gd name="T6" fmla="*/ 9 w 28"/>
                <a:gd name="T7" fmla="*/ 28 h 28"/>
                <a:gd name="T8" fmla="*/ 28 w 28"/>
                <a:gd name="T9" fmla="*/ 20 h 28"/>
              </a:gdLst>
              <a:ahLst/>
              <a:cxnLst>
                <a:cxn ang="0">
                  <a:pos x="T0" y="T1"/>
                </a:cxn>
                <a:cxn ang="0">
                  <a:pos x="T2" y="T3"/>
                </a:cxn>
                <a:cxn ang="0">
                  <a:pos x="T4" y="T5"/>
                </a:cxn>
                <a:cxn ang="0">
                  <a:pos x="T6" y="T7"/>
                </a:cxn>
                <a:cxn ang="0">
                  <a:pos x="T8" y="T9"/>
                </a:cxn>
              </a:cxnLst>
              <a:rect l="0" t="0" r="r" b="b"/>
              <a:pathLst>
                <a:path w="28" h="28">
                  <a:moveTo>
                    <a:pt x="28" y="20"/>
                  </a:moveTo>
                  <a:lnTo>
                    <a:pt x="8" y="0"/>
                  </a:lnTo>
                  <a:lnTo>
                    <a:pt x="0" y="20"/>
                  </a:lnTo>
                  <a:lnTo>
                    <a:pt x="9" y="28"/>
                  </a:lnTo>
                  <a:lnTo>
                    <a:pt x="28" y="2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29" name="Freeform 114"/>
            <p:cNvSpPr/>
            <p:nvPr>
              <p:custDataLst>
                <p:tags r:id="rId8"/>
              </p:custDataLst>
            </p:nvPr>
          </p:nvSpPr>
          <p:spPr bwMode="auto">
            <a:xfrm>
              <a:off x="7712222" y="4526535"/>
              <a:ext cx="34941" cy="32446"/>
            </a:xfrm>
            <a:custGeom>
              <a:avLst/>
              <a:gdLst>
                <a:gd name="T0" fmla="*/ 0 w 14"/>
                <a:gd name="T1" fmla="*/ 13 h 13"/>
                <a:gd name="T2" fmla="*/ 14 w 14"/>
                <a:gd name="T3" fmla="*/ 6 h 13"/>
                <a:gd name="T4" fmla="*/ 6 w 14"/>
                <a:gd name="T5" fmla="*/ 0 h 13"/>
                <a:gd name="T6" fmla="*/ 0 w 14"/>
                <a:gd name="T7" fmla="*/ 13 h 13"/>
              </a:gdLst>
              <a:ahLst/>
              <a:cxnLst>
                <a:cxn ang="0">
                  <a:pos x="T0" y="T1"/>
                </a:cxn>
                <a:cxn ang="0">
                  <a:pos x="T2" y="T3"/>
                </a:cxn>
                <a:cxn ang="0">
                  <a:pos x="T4" y="T5"/>
                </a:cxn>
                <a:cxn ang="0">
                  <a:pos x="T6" y="T7"/>
                </a:cxn>
              </a:cxnLst>
              <a:rect l="0" t="0" r="r" b="b"/>
              <a:pathLst>
                <a:path w="14" h="13">
                  <a:moveTo>
                    <a:pt x="0" y="13"/>
                  </a:moveTo>
                  <a:lnTo>
                    <a:pt x="14" y="6"/>
                  </a:lnTo>
                  <a:lnTo>
                    <a:pt x="6" y="0"/>
                  </a:lnTo>
                  <a:lnTo>
                    <a:pt x="0" y="13"/>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0" name="Freeform 115"/>
            <p:cNvSpPr/>
            <p:nvPr>
              <p:custDataLst>
                <p:tags r:id="rId9"/>
              </p:custDataLst>
            </p:nvPr>
          </p:nvSpPr>
          <p:spPr bwMode="auto">
            <a:xfrm>
              <a:off x="7859474" y="4341848"/>
              <a:ext cx="69882" cy="69882"/>
            </a:xfrm>
            <a:custGeom>
              <a:avLst/>
              <a:gdLst>
                <a:gd name="T0" fmla="*/ 7 w 28"/>
                <a:gd name="T1" fmla="*/ 0 h 28"/>
                <a:gd name="T2" fmla="*/ 0 w 28"/>
                <a:gd name="T3" fmla="*/ 8 h 28"/>
                <a:gd name="T4" fmla="*/ 20 w 28"/>
                <a:gd name="T5" fmla="*/ 28 h 28"/>
                <a:gd name="T6" fmla="*/ 28 w 28"/>
                <a:gd name="T7" fmla="*/ 20 h 28"/>
                <a:gd name="T8" fmla="*/ 7 w 28"/>
                <a:gd name="T9" fmla="*/ 0 h 28"/>
              </a:gdLst>
              <a:ahLst/>
              <a:cxnLst>
                <a:cxn ang="0">
                  <a:pos x="T0" y="T1"/>
                </a:cxn>
                <a:cxn ang="0">
                  <a:pos x="T2" y="T3"/>
                </a:cxn>
                <a:cxn ang="0">
                  <a:pos x="T4" y="T5"/>
                </a:cxn>
                <a:cxn ang="0">
                  <a:pos x="T6" y="T7"/>
                </a:cxn>
                <a:cxn ang="0">
                  <a:pos x="T8" y="T9"/>
                </a:cxn>
              </a:cxnLst>
              <a:rect l="0" t="0" r="r" b="b"/>
              <a:pathLst>
                <a:path w="28" h="28">
                  <a:moveTo>
                    <a:pt x="7" y="0"/>
                  </a:moveTo>
                  <a:lnTo>
                    <a:pt x="0" y="8"/>
                  </a:lnTo>
                  <a:lnTo>
                    <a:pt x="20" y="28"/>
                  </a:lnTo>
                  <a:lnTo>
                    <a:pt x="28" y="20"/>
                  </a:lnTo>
                  <a:lnTo>
                    <a:pt x="7"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1" name="Freeform 116"/>
            <p:cNvSpPr/>
            <p:nvPr>
              <p:custDataLst>
                <p:tags r:id="rId10"/>
              </p:custDataLst>
            </p:nvPr>
          </p:nvSpPr>
          <p:spPr bwMode="auto">
            <a:xfrm>
              <a:off x="7540014" y="4306907"/>
              <a:ext cx="279527" cy="339426"/>
            </a:xfrm>
            <a:custGeom>
              <a:avLst/>
              <a:gdLst>
                <a:gd name="T0" fmla="*/ 104 w 112"/>
                <a:gd name="T1" fmla="*/ 101 h 136"/>
                <a:gd name="T2" fmla="*/ 83 w 112"/>
                <a:gd name="T3" fmla="*/ 101 h 136"/>
                <a:gd name="T4" fmla="*/ 83 w 112"/>
                <a:gd name="T5" fmla="*/ 129 h 136"/>
                <a:gd name="T6" fmla="*/ 7 w 112"/>
                <a:gd name="T7" fmla="*/ 129 h 136"/>
                <a:gd name="T8" fmla="*/ 7 w 112"/>
                <a:gd name="T9" fmla="*/ 32 h 136"/>
                <a:gd name="T10" fmla="*/ 104 w 112"/>
                <a:gd name="T11" fmla="*/ 32 h 136"/>
                <a:gd name="T12" fmla="*/ 104 w 112"/>
                <a:gd name="T13" fmla="*/ 40 h 136"/>
                <a:gd name="T14" fmla="*/ 112 w 112"/>
                <a:gd name="T15" fmla="*/ 32 h 136"/>
                <a:gd name="T16" fmla="*/ 112 w 112"/>
                <a:gd name="T17" fmla="*/ 6 h 136"/>
                <a:gd name="T18" fmla="*/ 97 w 112"/>
                <a:gd name="T19" fmla="*/ 6 h 136"/>
                <a:gd name="T20" fmla="*/ 97 w 112"/>
                <a:gd name="T21" fmla="*/ 20 h 136"/>
                <a:gd name="T22" fmla="*/ 95 w 112"/>
                <a:gd name="T23" fmla="*/ 20 h 136"/>
                <a:gd name="T24" fmla="*/ 95 w 112"/>
                <a:gd name="T25" fmla="*/ 0 h 136"/>
                <a:gd name="T26" fmla="*/ 89 w 112"/>
                <a:gd name="T27" fmla="*/ 0 h 136"/>
                <a:gd name="T28" fmla="*/ 89 w 112"/>
                <a:gd name="T29" fmla="*/ 20 h 136"/>
                <a:gd name="T30" fmla="*/ 87 w 112"/>
                <a:gd name="T31" fmla="*/ 20 h 136"/>
                <a:gd name="T32" fmla="*/ 87 w 112"/>
                <a:gd name="T33" fmla="*/ 6 h 136"/>
                <a:gd name="T34" fmla="*/ 79 w 112"/>
                <a:gd name="T35" fmla="*/ 6 h 136"/>
                <a:gd name="T36" fmla="*/ 79 w 112"/>
                <a:gd name="T37" fmla="*/ 20 h 136"/>
                <a:gd name="T38" fmla="*/ 76 w 112"/>
                <a:gd name="T39" fmla="*/ 20 h 136"/>
                <a:gd name="T40" fmla="*/ 76 w 112"/>
                <a:gd name="T41" fmla="*/ 0 h 136"/>
                <a:gd name="T42" fmla="*/ 72 w 112"/>
                <a:gd name="T43" fmla="*/ 0 h 136"/>
                <a:gd name="T44" fmla="*/ 72 w 112"/>
                <a:gd name="T45" fmla="*/ 20 h 136"/>
                <a:gd name="T46" fmla="*/ 68 w 112"/>
                <a:gd name="T47" fmla="*/ 20 h 136"/>
                <a:gd name="T48" fmla="*/ 68 w 112"/>
                <a:gd name="T49" fmla="*/ 6 h 136"/>
                <a:gd name="T50" fmla="*/ 60 w 112"/>
                <a:gd name="T51" fmla="*/ 6 h 136"/>
                <a:gd name="T52" fmla="*/ 60 w 112"/>
                <a:gd name="T53" fmla="*/ 20 h 136"/>
                <a:gd name="T54" fmla="*/ 57 w 112"/>
                <a:gd name="T55" fmla="*/ 20 h 136"/>
                <a:gd name="T56" fmla="*/ 57 w 112"/>
                <a:gd name="T57" fmla="*/ 0 h 136"/>
                <a:gd name="T58" fmla="*/ 53 w 112"/>
                <a:gd name="T59" fmla="*/ 0 h 136"/>
                <a:gd name="T60" fmla="*/ 53 w 112"/>
                <a:gd name="T61" fmla="*/ 20 h 136"/>
                <a:gd name="T62" fmla="*/ 51 w 112"/>
                <a:gd name="T63" fmla="*/ 20 h 136"/>
                <a:gd name="T64" fmla="*/ 51 w 112"/>
                <a:gd name="T65" fmla="*/ 6 h 136"/>
                <a:gd name="T66" fmla="*/ 43 w 112"/>
                <a:gd name="T67" fmla="*/ 6 h 136"/>
                <a:gd name="T68" fmla="*/ 43 w 112"/>
                <a:gd name="T69" fmla="*/ 20 h 136"/>
                <a:gd name="T70" fmla="*/ 40 w 112"/>
                <a:gd name="T71" fmla="*/ 20 h 136"/>
                <a:gd name="T72" fmla="*/ 40 w 112"/>
                <a:gd name="T73" fmla="*/ 0 h 136"/>
                <a:gd name="T74" fmla="*/ 35 w 112"/>
                <a:gd name="T75" fmla="*/ 0 h 136"/>
                <a:gd name="T76" fmla="*/ 35 w 112"/>
                <a:gd name="T77" fmla="*/ 20 h 136"/>
                <a:gd name="T78" fmla="*/ 32 w 112"/>
                <a:gd name="T79" fmla="*/ 20 h 136"/>
                <a:gd name="T80" fmla="*/ 32 w 112"/>
                <a:gd name="T81" fmla="*/ 6 h 136"/>
                <a:gd name="T82" fmla="*/ 25 w 112"/>
                <a:gd name="T83" fmla="*/ 6 h 136"/>
                <a:gd name="T84" fmla="*/ 25 w 112"/>
                <a:gd name="T85" fmla="*/ 20 h 136"/>
                <a:gd name="T86" fmla="*/ 23 w 112"/>
                <a:gd name="T87" fmla="*/ 20 h 136"/>
                <a:gd name="T88" fmla="*/ 23 w 112"/>
                <a:gd name="T89" fmla="*/ 0 h 136"/>
                <a:gd name="T90" fmla="*/ 17 w 112"/>
                <a:gd name="T91" fmla="*/ 0 h 136"/>
                <a:gd name="T92" fmla="*/ 17 w 112"/>
                <a:gd name="T93" fmla="*/ 20 h 136"/>
                <a:gd name="T94" fmla="*/ 15 w 112"/>
                <a:gd name="T95" fmla="*/ 20 h 136"/>
                <a:gd name="T96" fmla="*/ 15 w 112"/>
                <a:gd name="T97" fmla="*/ 6 h 136"/>
                <a:gd name="T98" fmla="*/ 0 w 112"/>
                <a:gd name="T99" fmla="*/ 6 h 136"/>
                <a:gd name="T100" fmla="*/ 0 w 112"/>
                <a:gd name="T101" fmla="*/ 24 h 136"/>
                <a:gd name="T102" fmla="*/ 0 w 112"/>
                <a:gd name="T103" fmla="*/ 28 h 136"/>
                <a:gd name="T104" fmla="*/ 0 w 112"/>
                <a:gd name="T105" fmla="*/ 136 h 136"/>
                <a:gd name="T106" fmla="*/ 89 w 112"/>
                <a:gd name="T107" fmla="*/ 136 h 136"/>
                <a:gd name="T108" fmla="*/ 112 w 112"/>
                <a:gd name="T109" fmla="*/ 110 h 136"/>
                <a:gd name="T110" fmla="*/ 112 w 112"/>
                <a:gd name="T111" fmla="*/ 84 h 136"/>
                <a:gd name="T112" fmla="*/ 104 w 112"/>
                <a:gd name="T113" fmla="*/ 92 h 136"/>
                <a:gd name="T114" fmla="*/ 104 w 112"/>
                <a:gd name="T115" fmla="*/ 10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2" name="Rectangle 117"/>
            <p:cNvSpPr>
              <a:spLocks noChangeArrowheads="1"/>
            </p:cNvSpPr>
            <p:nvPr>
              <p:custDataLst>
                <p:tags r:id="rId11"/>
              </p:custDataLst>
            </p:nvPr>
          </p:nvSpPr>
          <p:spPr bwMode="auto">
            <a:xfrm>
              <a:off x="7589930" y="4421713"/>
              <a:ext cx="109814" cy="17471"/>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8" name="Rectangle 118"/>
            <p:cNvSpPr>
              <a:spLocks noChangeArrowheads="1"/>
            </p:cNvSpPr>
            <p:nvPr>
              <p:custDataLst>
                <p:tags r:id="rId12"/>
              </p:custDataLst>
            </p:nvPr>
          </p:nvSpPr>
          <p:spPr bwMode="auto">
            <a:xfrm>
              <a:off x="7589930" y="4461645"/>
              <a:ext cx="109814" cy="17471"/>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39" name="Rectangle 119"/>
            <p:cNvSpPr>
              <a:spLocks noChangeArrowheads="1"/>
            </p:cNvSpPr>
            <p:nvPr>
              <p:custDataLst>
                <p:tags r:id="rId13"/>
              </p:custDataLst>
            </p:nvPr>
          </p:nvSpPr>
          <p:spPr bwMode="auto">
            <a:xfrm>
              <a:off x="7589930" y="4506569"/>
              <a:ext cx="109814" cy="14975"/>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40" name="Rectangle 120"/>
            <p:cNvSpPr>
              <a:spLocks noChangeArrowheads="1"/>
            </p:cNvSpPr>
            <p:nvPr>
              <p:custDataLst>
                <p:tags r:id="rId14"/>
              </p:custDataLst>
            </p:nvPr>
          </p:nvSpPr>
          <p:spPr bwMode="auto">
            <a:xfrm>
              <a:off x="7589930" y="4548998"/>
              <a:ext cx="109814" cy="17471"/>
            </a:xfrm>
            <a:prstGeom prst="rect">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grpSp>
      <p:grpSp>
        <p:nvGrpSpPr>
          <p:cNvPr id="60" name="Group 54"/>
          <p:cNvGrpSpPr/>
          <p:nvPr>
            <p:custDataLst>
              <p:tags r:id="rId15"/>
            </p:custDataLst>
          </p:nvPr>
        </p:nvGrpSpPr>
        <p:grpSpPr>
          <a:xfrm>
            <a:off x="7141207" y="5227994"/>
            <a:ext cx="399325" cy="519123"/>
            <a:chOff x="6421904" y="4798576"/>
            <a:chExt cx="299494" cy="389342"/>
          </a:xfrm>
          <a:solidFill>
            <a:sysClr val="window" lastClr="FFFFFF"/>
          </a:solidFill>
        </p:grpSpPr>
        <p:sp>
          <p:nvSpPr>
            <p:cNvPr id="61" name="Freeform 170"/>
            <p:cNvSpPr/>
            <p:nvPr>
              <p:custDataLst>
                <p:tags r:id="rId16"/>
              </p:custDataLst>
            </p:nvPr>
          </p:nvSpPr>
          <p:spPr bwMode="auto">
            <a:xfrm>
              <a:off x="6421904" y="4910886"/>
              <a:ext cx="299494" cy="277032"/>
            </a:xfrm>
            <a:custGeom>
              <a:avLst/>
              <a:gdLst>
                <a:gd name="T0" fmla="*/ 45 w 90"/>
                <a:gd name="T1" fmla="*/ 83 h 83"/>
                <a:gd name="T2" fmla="*/ 90 w 90"/>
                <a:gd name="T3" fmla="*/ 0 h 83"/>
                <a:gd name="T4" fmla="*/ 0 w 90"/>
                <a:gd name="T5" fmla="*/ 0 h 83"/>
                <a:gd name="T6" fmla="*/ 45 w 90"/>
                <a:gd name="T7" fmla="*/ 83 h 83"/>
              </a:gdLst>
              <a:ahLst/>
              <a:cxnLst>
                <a:cxn ang="0">
                  <a:pos x="T0" y="T1"/>
                </a:cxn>
                <a:cxn ang="0">
                  <a:pos x="T2" y="T3"/>
                </a:cxn>
                <a:cxn ang="0">
                  <a:pos x="T4" y="T5"/>
                </a:cxn>
                <a:cxn ang="0">
                  <a:pos x="T6" y="T7"/>
                </a:cxn>
              </a:cxnLst>
              <a:rect l="0" t="0" r="r" b="b"/>
              <a:pathLst>
                <a:path w="90" h="83">
                  <a:moveTo>
                    <a:pt x="45" y="83"/>
                  </a:moveTo>
                  <a:cubicBezTo>
                    <a:pt x="90" y="59"/>
                    <a:pt x="90" y="0"/>
                    <a:pt x="90" y="0"/>
                  </a:cubicBezTo>
                  <a:cubicBezTo>
                    <a:pt x="0" y="0"/>
                    <a:pt x="0" y="0"/>
                    <a:pt x="0" y="0"/>
                  </a:cubicBezTo>
                  <a:cubicBezTo>
                    <a:pt x="0" y="0"/>
                    <a:pt x="0" y="59"/>
                    <a:pt x="45" y="83"/>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sp>
          <p:nvSpPr>
            <p:cNvPr id="62" name="Freeform 171"/>
            <p:cNvSpPr/>
            <p:nvPr>
              <p:custDataLst>
                <p:tags r:id="rId17"/>
              </p:custDataLst>
            </p:nvPr>
          </p:nvSpPr>
          <p:spPr bwMode="auto">
            <a:xfrm>
              <a:off x="6421904" y="4798576"/>
              <a:ext cx="299494" cy="94840"/>
            </a:xfrm>
            <a:custGeom>
              <a:avLst/>
              <a:gdLst>
                <a:gd name="T0" fmla="*/ 84 w 90"/>
                <a:gd name="T1" fmla="*/ 0 h 29"/>
                <a:gd name="T2" fmla="*/ 68 w 90"/>
                <a:gd name="T3" fmla="*/ 16 h 29"/>
                <a:gd name="T4" fmla="*/ 52 w 90"/>
                <a:gd name="T5" fmla="*/ 0 h 29"/>
                <a:gd name="T6" fmla="*/ 39 w 90"/>
                <a:gd name="T7" fmla="*/ 0 h 29"/>
                <a:gd name="T8" fmla="*/ 23 w 90"/>
                <a:gd name="T9" fmla="*/ 16 h 29"/>
                <a:gd name="T10" fmla="*/ 7 w 90"/>
                <a:gd name="T11" fmla="*/ 0 h 29"/>
                <a:gd name="T12" fmla="*/ 0 w 90"/>
                <a:gd name="T13" fmla="*/ 0 h 29"/>
                <a:gd name="T14" fmla="*/ 0 w 90"/>
                <a:gd name="T15" fmla="*/ 29 h 29"/>
                <a:gd name="T16" fmla="*/ 90 w 90"/>
                <a:gd name="T17" fmla="*/ 29 h 29"/>
                <a:gd name="T18" fmla="*/ 90 w 90"/>
                <a:gd name="T19" fmla="*/ 0 h 29"/>
                <a:gd name="T20" fmla="*/ 84 w 90"/>
                <a:gd name="T2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prstClr val="black">
                    <a:lumMod val="65000"/>
                    <a:lumOff val="35000"/>
                  </a:prstClr>
                </a:solidFill>
                <a:effectLst/>
                <a:uLnTx/>
                <a:uFillTx/>
                <a:latin typeface="Calibri" panose="020F0502020204030204"/>
              </a:endParaRPr>
            </a:p>
          </p:txBody>
        </p:sp>
      </p:grpSp>
      <p:sp>
        <p:nvSpPr>
          <p:cNvPr id="67" name="矩形 66"/>
          <p:cNvSpPr>
            <a:spLocks noChangeArrowheads="1"/>
          </p:cNvSpPr>
          <p:nvPr>
            <p:custDataLst>
              <p:tags r:id="rId18"/>
            </p:custDataLst>
          </p:nvPr>
        </p:nvSpPr>
        <p:spPr bwMode="auto">
          <a:xfrm>
            <a:off x="3919539" y="6034164"/>
            <a:ext cx="1550987" cy="419100"/>
          </a:xfrm>
          <a:prstGeom prst="rect">
            <a:avLst/>
          </a:prstGeom>
          <a:noFill/>
          <a:ln w="9525">
            <a:noFill/>
            <a:miter lim="800000"/>
          </a:ln>
        </p:spPr>
        <p:txBody>
          <a:bodyPr lIns="91431" tIns="45716" rIns="91431" bIns="45716">
            <a:spAutoFit/>
          </a:bodyPr>
          <a:lstStyle/>
          <a:p>
            <a:pPr algn="ctr" defTabSz="1219200"/>
            <a:r>
              <a:rPr lang="zh-CN" altLang="en-US" sz="2135" b="1" dirty="0">
                <a:solidFill>
                  <a:prstClr val="black">
                    <a:lumMod val="65000"/>
                    <a:lumOff val="35000"/>
                  </a:prstClr>
                </a:solidFill>
                <a:latin typeface="微软雅黑" panose="020B0503020204020204" charset="-122"/>
                <a:ea typeface="微软雅黑" panose="020B0503020204020204" charset="-122"/>
              </a:rPr>
              <a:t>共轭先验</a:t>
            </a:r>
            <a:endParaRPr lang="en-US" altLang="zh-CN" sz="2135" b="1" dirty="0">
              <a:solidFill>
                <a:prstClr val="black">
                  <a:lumMod val="65000"/>
                  <a:lumOff val="35000"/>
                </a:prstClr>
              </a:solidFill>
              <a:latin typeface="微软雅黑" panose="020B0503020204020204" charset="-122"/>
              <a:ea typeface="微软雅黑" panose="020B0503020204020204" charset="-122"/>
            </a:endParaRPr>
          </a:p>
        </p:txBody>
      </p:sp>
      <p:sp>
        <p:nvSpPr>
          <p:cNvPr id="71" name="矩形 70"/>
          <p:cNvSpPr>
            <a:spLocks noChangeArrowheads="1"/>
          </p:cNvSpPr>
          <p:nvPr>
            <p:custDataLst>
              <p:tags r:id="rId19"/>
            </p:custDataLst>
          </p:nvPr>
        </p:nvSpPr>
        <p:spPr bwMode="auto">
          <a:xfrm>
            <a:off x="5945505" y="6037580"/>
            <a:ext cx="2780030" cy="419100"/>
          </a:xfrm>
          <a:prstGeom prst="rect">
            <a:avLst/>
          </a:prstGeom>
          <a:noFill/>
          <a:ln w="9525">
            <a:noFill/>
            <a:miter lim="800000"/>
          </a:ln>
        </p:spPr>
        <p:txBody>
          <a:bodyPr wrap="square" lIns="91431" tIns="45716" rIns="91431" bIns="45716">
            <a:spAutoFit/>
          </a:bodyPr>
          <a:lstStyle/>
          <a:p>
            <a:pPr algn="ctr" defTabSz="1219200"/>
            <a:r>
              <a:rPr lang="en-US" altLang="zh-CN" sz="2135" b="1" dirty="0">
                <a:solidFill>
                  <a:prstClr val="black">
                    <a:lumMod val="65000"/>
                    <a:lumOff val="35000"/>
                  </a:prstClr>
                </a:solidFill>
                <a:latin typeface="微软雅黑" panose="020B0503020204020204" charset="-122"/>
                <a:ea typeface="微软雅黑" panose="020B0503020204020204" charset="-122"/>
              </a:rPr>
              <a:t>Beta</a:t>
            </a:r>
            <a:r>
              <a:rPr lang="zh-CN" altLang="en-US" sz="2135" b="1" dirty="0">
                <a:solidFill>
                  <a:prstClr val="black">
                    <a:lumMod val="65000"/>
                    <a:lumOff val="35000"/>
                  </a:prstClr>
                </a:solidFill>
                <a:latin typeface="微软雅黑" panose="020B0503020204020204" charset="-122"/>
                <a:ea typeface="微软雅黑" panose="020B0503020204020204" charset="-122"/>
              </a:rPr>
              <a:t>分布</a:t>
            </a:r>
            <a:endParaRPr lang="zh-CN" altLang="en-US" sz="2135" b="1" dirty="0">
              <a:solidFill>
                <a:prstClr val="black">
                  <a:lumMod val="65000"/>
                  <a:lumOff val="35000"/>
                </a:prstClr>
              </a:solidFill>
              <a:latin typeface="微软雅黑" panose="020B0503020204020204" charset="-122"/>
              <a:ea typeface="微软雅黑" panose="020B0503020204020204" charset="-122"/>
            </a:endParaRPr>
          </a:p>
        </p:txBody>
      </p:sp>
      <p:sp>
        <p:nvSpPr>
          <p:cNvPr id="10" name="文本框 9"/>
          <p:cNvSpPr txBox="1"/>
          <p:nvPr/>
        </p:nvSpPr>
        <p:spPr>
          <a:xfrm>
            <a:off x="1356360" y="1179830"/>
            <a:ext cx="9118600" cy="2595880"/>
          </a:xfrm>
          <a:prstGeom prst="rect">
            <a:avLst/>
          </a:prstGeom>
        </p:spPr>
        <p:txBody>
          <a:bodyPr>
            <a:noAutofit/>
          </a:bodyPr>
          <a:p>
            <a:pPr marL="0" indent="0"/>
            <a:r>
              <a:rPr lang="en-US" altLang="zh-CN" sz="3200" b="0" i="0">
                <a:latin typeface="Inter"/>
                <a:ea typeface="Inter"/>
              </a:rPr>
              <a:t>·</a:t>
            </a:r>
            <a:r>
              <a:rPr lang="zh-CN" altLang="en-US" sz="3200" b="0" i="0">
                <a:latin typeface="Inter"/>
                <a:ea typeface="Inter"/>
              </a:rPr>
              <a:t>共轭先验是一种在贝叶斯统计中与似然函数结合后能得到后验分布与先验分布同属一个分布族的先验分布。</a:t>
            </a:r>
            <a:endParaRPr lang="zh-CN" altLang="en-US" sz="3200" b="0" i="0">
              <a:latin typeface="Inter"/>
              <a:ea typeface="Inter"/>
            </a:endParaRPr>
          </a:p>
          <a:p>
            <a:pPr marL="0" indent="0"/>
            <a:endParaRPr lang="zh-CN" altLang="en-US" sz="3200" b="0" i="0">
              <a:latin typeface="Inter"/>
              <a:ea typeface="Inter"/>
            </a:endParaRPr>
          </a:p>
          <a:p>
            <a:pPr marL="0" indent="0"/>
            <a:r>
              <a:rPr lang="en-US" altLang="zh-CN" sz="3200" b="0" i="0">
                <a:latin typeface="Inter"/>
                <a:ea typeface="Inter"/>
              </a:rPr>
              <a:t>·Beta </a:t>
            </a:r>
            <a:r>
              <a:rPr lang="zh-CN" altLang="en-US" sz="3200" b="0" i="0">
                <a:latin typeface="Inter"/>
                <a:ea typeface="Inter"/>
              </a:rPr>
              <a:t>分布作为共轭先验具有诸多优越性，它能灵活地描述各种概率分布情况，计算简便，可方便地更新参数，在处理二项分布等问题时表现出色。</a:t>
            </a:r>
            <a:endParaRPr lang="zh-CN" altLang="en-US" sz="3200" b="0" i="0">
              <a:latin typeface="Inter"/>
              <a:ea typeface="Inter"/>
            </a:endParaRPr>
          </a:p>
        </p:txBody>
      </p:sp>
      <p:sp>
        <p:nvSpPr>
          <p:cNvPr id="16" name="文本框 15"/>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206" y="194103"/>
              <a:ext cx="7218680" cy="775970"/>
            </a:xfrm>
            <a:prstGeom prst="rect">
              <a:avLst/>
            </a:prstGeom>
          </p:spPr>
          <p:txBody>
            <a:bodyPr vert="horz" lIns="91440" tIns="45720" rIns="91440" bIns="45720" rtlCol="0"/>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2800" noProof="0" dirty="0">
                  <a:ln>
                    <a:noFill/>
                  </a:ln>
                  <a:solidFill>
                    <a:srgbClr val="961318"/>
                  </a:solidFill>
                  <a:effectLst/>
                  <a:uLnTx/>
                  <a:uFillTx/>
                  <a:sym typeface="+mn-ea"/>
                </a:rPr>
                <a:t>问题三的重新解决</a:t>
              </a:r>
              <a:r>
                <a:rPr kumimoji="0" lang="zh-CN" altLang="en-US"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：伯努利分布</a:t>
              </a:r>
              <a:r>
                <a:rPr kumimoji="0" lang="en-US" altLang="zh-CN"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p</a:t>
              </a:r>
              <a:r>
                <a:rPr kumimoji="0" lang="zh-CN" altLang="en-US"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的重推导</a:t>
              </a:r>
              <a:endParaRPr kumimoji="0" lang="zh-CN" altLang="en-US"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grpSp>
        <p:nvGrpSpPr>
          <p:cNvPr id="23" name="ïṡļíḓè"/>
          <p:cNvGrpSpPr/>
          <p:nvPr>
            <p:custDataLst>
              <p:tags r:id="rId1"/>
            </p:custDataLst>
          </p:nvPr>
        </p:nvGrpSpPr>
        <p:grpSpPr>
          <a:xfrm>
            <a:off x="3575050" y="5123815"/>
            <a:ext cx="1029335" cy="1003935"/>
            <a:chOff x="4392540" y="3822226"/>
            <a:chExt cx="658024" cy="658024"/>
          </a:xfrm>
          <a:solidFill>
            <a:srgbClr val="004593"/>
          </a:solidFill>
        </p:grpSpPr>
        <p:sp>
          <p:nvSpPr>
            <p:cNvPr id="24" name="î$ḷïḍê"/>
            <p:cNvSpPr/>
            <p:nvPr>
              <p:custDataLst>
                <p:tags r:id="rId2"/>
              </p:custDataLst>
            </p:nvPr>
          </p:nvSpPr>
          <p:spPr>
            <a:xfrm>
              <a:off x="4392540" y="3822226"/>
              <a:ext cx="658024" cy="658024"/>
            </a:xfrm>
            <a:prstGeom prst="ellipse">
              <a:avLst/>
            </a:prstGeom>
            <a:solidFill>
              <a:srgbClr val="961318"/>
            </a:solidFill>
            <a:ln w="28575" cap="rnd"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lnSpcReduction="10000"/>
            </a:bodyPr>
            <a:lstStyle/>
            <a:p>
              <a:pPr algn="ctr" defTabSz="914400">
                <a:defRPr/>
              </a:pPr>
              <a:endParaRPr lang="zh-CN" altLang="en-US" sz="2000" b="1" kern="0" dirty="0">
                <a:solidFill>
                  <a:prstClr val="white"/>
                </a:solidFill>
                <a:latin typeface="Arial" panose="020B0604020202020204"/>
                <a:ea typeface="微软雅黑 Light" panose="020B0502040204020203" pitchFamily="34" charset="-122"/>
              </a:endParaRPr>
            </a:p>
          </p:txBody>
        </p:sp>
        <p:sp>
          <p:nvSpPr>
            <p:cNvPr id="25" name="íṧľïḓê"/>
            <p:cNvSpPr/>
            <p:nvPr>
              <p:custDataLst>
                <p:tags r:id="rId3"/>
              </p:custDataLst>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9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defRPr/>
              </a:pPr>
              <a:endParaRPr lang="zh-CN" altLang="en-US" sz="2000" b="1" dirty="0">
                <a:solidFill>
                  <a:prstClr val="white"/>
                </a:solidFill>
                <a:latin typeface="Arial" panose="020B0604020202020204"/>
                <a:ea typeface="微软雅黑 Light" panose="020B0502040204020203" pitchFamily="34" charset="-122"/>
              </a:endParaRPr>
            </a:p>
          </p:txBody>
        </p:sp>
      </p:grpSp>
      <p:grpSp>
        <p:nvGrpSpPr>
          <p:cNvPr id="35" name="íśľiďê"/>
          <p:cNvGrpSpPr/>
          <p:nvPr/>
        </p:nvGrpSpPr>
        <p:grpSpPr>
          <a:xfrm>
            <a:off x="8166100" y="5118100"/>
            <a:ext cx="1003935" cy="1020445"/>
            <a:chOff x="4392540" y="3822226"/>
            <a:chExt cx="658024" cy="658024"/>
          </a:xfrm>
        </p:grpSpPr>
        <p:sp>
          <p:nvSpPr>
            <p:cNvPr id="36" name="îṩľîḓé"/>
            <p:cNvSpPr/>
            <p:nvPr>
              <p:custDataLst>
                <p:tags r:id="rId4"/>
              </p:custDataLst>
            </p:nvPr>
          </p:nvSpPr>
          <p:spPr>
            <a:xfrm>
              <a:off x="4392540" y="3822226"/>
              <a:ext cx="658024" cy="658024"/>
            </a:xfrm>
            <a:prstGeom prst="ellipse">
              <a:avLst/>
            </a:prstGeom>
            <a:solidFill>
              <a:srgbClr val="961318"/>
            </a:solidFill>
            <a:ln w="28575" cap="rnd" cmpd="sng" algn="ctr">
              <a:solidFill>
                <a:sysClr val="window" lastClr="FFFFFF"/>
              </a:solidFill>
              <a:prstDash val="solid"/>
              <a:round/>
            </a:ln>
            <a:effectLst/>
          </p:spPr>
          <p:txBody>
            <a:bodyPr rot="0" spcFirstLastPara="0" vert="horz" wrap="square" lIns="91440" tIns="45720" rIns="91440" bIns="45720" numCol="1" spcCol="0" rtlCol="0" fromWordArt="0" anchor="ctr" anchorCtr="0" forceAA="0" compatLnSpc="1">
              <a:normAutofit lnSpcReduction="10000"/>
            </a:bodyPr>
            <a:lstStyle/>
            <a:p>
              <a:pPr algn="ctr" defTabSz="914400">
                <a:defRPr/>
              </a:pPr>
              <a:endParaRPr lang="zh-CN" altLang="en-US" sz="2000" b="1" kern="0" dirty="0">
                <a:solidFill>
                  <a:prstClr val="white"/>
                </a:solidFill>
                <a:latin typeface="Arial" panose="020B0604020202020204"/>
                <a:ea typeface="微软雅黑 Light" panose="020B0502040204020203" pitchFamily="34" charset="-122"/>
              </a:endParaRPr>
            </a:p>
          </p:txBody>
        </p:sp>
        <p:sp>
          <p:nvSpPr>
            <p:cNvPr id="37" name="îṡļïḑê"/>
            <p:cNvSpPr/>
            <p:nvPr>
              <p:custDataLst>
                <p:tags r:id="rId5"/>
              </p:custDataLst>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9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defRPr/>
              </a:pPr>
              <a:endParaRPr lang="zh-CN" altLang="en-US" sz="2000" b="1" dirty="0">
                <a:solidFill>
                  <a:prstClr val="white"/>
                </a:solidFill>
                <a:latin typeface="Arial" panose="020B0604020202020204"/>
                <a:ea typeface="微软雅黑 Light" panose="020B0502040204020203" pitchFamily="34" charset="-122"/>
              </a:endParaRPr>
            </a:p>
          </p:txBody>
        </p:sp>
      </p:grpSp>
      <p:pic>
        <p:nvPicPr>
          <p:cNvPr id="10" name="图片 9"/>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722630" y="793115"/>
            <a:ext cx="11687175" cy="4267200"/>
          </a:xfrm>
          <a:prstGeom prst="rect">
            <a:avLst/>
          </a:prstGeom>
        </p:spPr>
      </p:pic>
      <p:sp>
        <p:nvSpPr>
          <p:cNvPr id="16" name="文本框 15"/>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206" y="194103"/>
              <a:ext cx="6454775" cy="612775"/>
            </a:xfrm>
            <a:prstGeom prst="rect">
              <a:avLst/>
            </a:prstGeom>
          </p:spPr>
          <p:txBody>
            <a:bodyPr vert="horz" lIns="91440" tIns="45720" rIns="91440" bIns="45720" rtlCol="0"/>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2800" noProof="0" dirty="0">
                  <a:ln>
                    <a:noFill/>
                  </a:ln>
                  <a:solidFill>
                    <a:srgbClr val="961318"/>
                  </a:solidFill>
                  <a:effectLst/>
                  <a:uLnTx/>
                  <a:uFillTx/>
                  <a:sym typeface="+mn-ea"/>
                </a:rPr>
                <a:t>问题三的重新解决</a:t>
              </a:r>
              <a:r>
                <a:rPr kumimoji="0" lang="zh-CN" altLang="en-US"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：代入概率密度函数</a:t>
              </a:r>
              <a:endParaRPr kumimoji="0" lang="zh-CN" altLang="en-US"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pic>
        <p:nvPicPr>
          <p:cNvPr id="7" name="图片 6"/>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908685" y="1235075"/>
            <a:ext cx="10405110" cy="5193665"/>
          </a:xfrm>
          <a:prstGeom prst="rect">
            <a:avLst/>
          </a:prstGeom>
        </p:spPr>
      </p:pic>
      <p:sp>
        <p:nvSpPr>
          <p:cNvPr id="16" name="文本框 15"/>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5361" y="116633"/>
            <a:ext cx="11521279" cy="6582552"/>
            <a:chOff x="335361" y="116633"/>
            <a:chExt cx="11521279" cy="6582552"/>
          </a:xfrm>
        </p:grpSpPr>
        <p:grpSp>
          <p:nvGrpSpPr>
            <p:cNvPr id="3" name="组合 2"/>
            <p:cNvGrpSpPr/>
            <p:nvPr/>
          </p:nvGrpSpPr>
          <p:grpSpPr>
            <a:xfrm>
              <a:off x="335361" y="116633"/>
              <a:ext cx="629872" cy="612768"/>
              <a:chOff x="3070727" y="196457"/>
              <a:chExt cx="692047" cy="673255"/>
            </a:xfrm>
          </p:grpSpPr>
          <p:sp>
            <p:nvSpPr>
              <p:cNvPr id="8" name="平行四边形 7"/>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4" name="直接连接符 3"/>
            <p:cNvCxnSpPr/>
            <p:nvPr/>
          </p:nvCxnSpPr>
          <p:spPr>
            <a:xfrm>
              <a:off x="367840" y="809674"/>
              <a:ext cx="11488800" cy="0"/>
            </a:xfrm>
            <a:prstGeom prst="line">
              <a:avLst/>
            </a:prstGeom>
            <a:noFill/>
            <a:ln w="9525" cap="flat" cmpd="sng" algn="ctr">
              <a:solidFill>
                <a:srgbClr val="961318"/>
              </a:solidFill>
              <a:prstDash val="solid"/>
            </a:ln>
            <a:effectLst/>
          </p:spPr>
        </p:cxnSp>
        <p:sp>
          <p:nvSpPr>
            <p:cNvPr id="5" name="文本占位符 5"/>
            <p:cNvSpPr txBox="1"/>
            <p:nvPr/>
          </p:nvSpPr>
          <p:spPr>
            <a:xfrm>
              <a:off x="1127206" y="194103"/>
              <a:ext cx="6012815" cy="612775"/>
            </a:xfrm>
            <a:prstGeom prst="rect">
              <a:avLst/>
            </a:prstGeom>
          </p:spPr>
          <p:txBody>
            <a:bodyPr vert="horz" lIns="91440" tIns="45720" rIns="91440" bIns="45720" rtlCol="0"/>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2800" noProof="0" dirty="0">
                  <a:ln>
                    <a:noFill/>
                  </a:ln>
                  <a:solidFill>
                    <a:srgbClr val="961318"/>
                  </a:solidFill>
                  <a:effectLst/>
                  <a:uLnTx/>
                  <a:uFillTx/>
                  <a:sym typeface="+mn-ea"/>
                </a:rPr>
                <a:t>问题三的重新解决</a:t>
              </a:r>
              <a:r>
                <a:rPr kumimoji="0" lang="zh-CN" altLang="en-US"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：最终思路及实现</a:t>
              </a:r>
              <a:endParaRPr kumimoji="0" lang="zh-CN" altLang="en-US" sz="28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10805366" y="6428675"/>
              <a:ext cx="309880" cy="2705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grpSp>
      <p:sp>
        <p:nvSpPr>
          <p:cNvPr id="10" name="文本框 9"/>
          <p:cNvSpPr txBox="1"/>
          <p:nvPr/>
        </p:nvSpPr>
        <p:spPr>
          <a:xfrm>
            <a:off x="493395" y="2887980"/>
            <a:ext cx="3383915" cy="2481580"/>
          </a:xfrm>
          <a:prstGeom prst="rect">
            <a:avLst/>
          </a:prstGeom>
        </p:spPr>
        <p:txBody>
          <a:bodyPr>
            <a:noAutofit/>
          </a:bodyPr>
          <a:p>
            <a:pPr marL="0" indent="0" algn="l"/>
            <a:r>
              <a:rPr lang="zh-CN" altLang="en-US" sz="2400" b="0" i="0">
                <a:solidFill>
                  <a:srgbClr val="353535"/>
                </a:solidFill>
                <a:latin typeface="mp-quote"/>
                <a:ea typeface="mp-quote"/>
              </a:rPr>
              <a:t>问题四在问题一的双重抽样方法基础上实现，首先抽取</a:t>
            </a:r>
            <a:r>
              <a:rPr lang="en-US" altLang="zh-CN" sz="2400" b="0" i="0">
                <a:solidFill>
                  <a:srgbClr val="353535"/>
                </a:solidFill>
                <a:latin typeface="mp-quote"/>
                <a:ea typeface="mp-quote"/>
              </a:rPr>
              <a:t>100</a:t>
            </a:r>
            <a:r>
              <a:rPr lang="zh-CN" altLang="en-US" sz="2400" b="0" i="0">
                <a:solidFill>
                  <a:srgbClr val="353535"/>
                </a:solidFill>
                <a:latin typeface="mp-quote"/>
                <a:ea typeface="宋体" panose="02010600030101010101" pitchFamily="2" charset="-122"/>
              </a:rPr>
              <a:t>个样本用于确定</a:t>
            </a:r>
            <a:r>
              <a:rPr lang="en-US" altLang="zh-CN" sz="2400" b="0" i="0">
                <a:solidFill>
                  <a:srgbClr val="353535"/>
                </a:solidFill>
                <a:latin typeface="mp-quote"/>
                <a:ea typeface="宋体" panose="02010600030101010101" pitchFamily="2" charset="-122"/>
              </a:rPr>
              <a:t>Beta</a:t>
            </a:r>
            <a:r>
              <a:rPr lang="zh-CN" altLang="en-US" sz="2400" b="0" i="0">
                <a:solidFill>
                  <a:srgbClr val="353535"/>
                </a:solidFill>
                <a:latin typeface="mp-quote"/>
                <a:ea typeface="宋体" panose="02010600030101010101" pitchFamily="2" charset="-122"/>
              </a:rPr>
              <a:t>分布的参数</a:t>
            </a:r>
            <a:r>
              <a:rPr lang="en-US" altLang="zh-CN" sz="2400" b="0" i="0">
                <a:solidFill>
                  <a:srgbClr val="353535"/>
                </a:solidFill>
                <a:latin typeface="mp-quote"/>
                <a:ea typeface="宋体" panose="02010600030101010101" pitchFamily="2" charset="-122"/>
              </a:rPr>
              <a:t>α</a:t>
            </a:r>
            <a:r>
              <a:rPr lang="zh-CN" altLang="en-US" sz="2400" b="0" i="0">
                <a:solidFill>
                  <a:srgbClr val="353535"/>
                </a:solidFill>
                <a:latin typeface="mp-quote"/>
                <a:ea typeface="宋体" panose="02010600030101010101" pitchFamily="2" charset="-122"/>
              </a:rPr>
              <a:t>和</a:t>
            </a:r>
            <a:r>
              <a:rPr lang="en-US" altLang="zh-CN" sz="2400" b="0" i="0">
                <a:solidFill>
                  <a:srgbClr val="353535"/>
                </a:solidFill>
                <a:latin typeface="mp-quote"/>
                <a:ea typeface="宋体" panose="02010600030101010101" pitchFamily="2" charset="-122"/>
              </a:rPr>
              <a:t>β</a:t>
            </a:r>
            <a:endParaRPr lang="en-US" altLang="zh-CN" sz="2400" b="0" i="0">
              <a:solidFill>
                <a:srgbClr val="353535"/>
              </a:solidFill>
              <a:latin typeface="mp-quote"/>
              <a:ea typeface="宋体" panose="02010600030101010101" pitchFamily="2" charset="-122"/>
            </a:endParaRPr>
          </a:p>
          <a:p>
            <a:pPr marL="0" indent="0" algn="l"/>
            <a:endParaRPr lang="en-US" altLang="zh-CN" sz="2400" b="0" i="0">
              <a:solidFill>
                <a:srgbClr val="353535"/>
              </a:solidFill>
              <a:latin typeface="mp-quote"/>
              <a:ea typeface="宋体" panose="02010600030101010101" pitchFamily="2" charset="-122"/>
            </a:endParaRPr>
          </a:p>
          <a:p>
            <a:pPr marL="0" indent="0" algn="l"/>
            <a:endParaRPr lang="en-US" altLang="zh-CN" sz="2400" b="0" i="0">
              <a:solidFill>
                <a:srgbClr val="353535"/>
              </a:solidFill>
              <a:latin typeface="mp-quote"/>
              <a:ea typeface="宋体" panose="02010600030101010101" pitchFamily="2" charset="-122"/>
            </a:endParaRPr>
          </a:p>
          <a:p>
            <a:pPr marL="0" indent="0" algn="l"/>
            <a:endParaRPr lang="en-US" altLang="zh-CN" sz="2400" b="0" i="0">
              <a:solidFill>
                <a:srgbClr val="353535"/>
              </a:solidFill>
              <a:latin typeface="mp-quote"/>
              <a:ea typeface="宋体" panose="02010600030101010101" pitchFamily="2" charset="-122"/>
            </a:endParaRPr>
          </a:p>
          <a:p>
            <a:pPr marL="0" indent="0" algn="l"/>
            <a:endParaRPr lang="zh-CN" altLang="en-US" sz="2400" b="0" i="0">
              <a:solidFill>
                <a:srgbClr val="353535"/>
              </a:solidFill>
              <a:latin typeface="mp-quote"/>
              <a:ea typeface="mp-quote"/>
            </a:endParaRPr>
          </a:p>
          <a:p>
            <a:pPr marL="0" indent="0" algn="l"/>
            <a:endParaRPr lang="zh-CN" altLang="en-US" sz="2400" b="0" i="0">
              <a:solidFill>
                <a:srgbClr val="353535"/>
              </a:solidFill>
              <a:latin typeface="mp-quote"/>
              <a:ea typeface="mp-quote"/>
            </a:endParaRPr>
          </a:p>
          <a:p>
            <a:pPr marL="0" indent="0" algn="l"/>
            <a:endParaRPr lang="zh-CN" altLang="en-US" sz="2400" b="0" i="0">
              <a:solidFill>
                <a:srgbClr val="353535"/>
              </a:solidFill>
              <a:latin typeface="mp-quote"/>
              <a:ea typeface="mp-quote"/>
            </a:endParaRPr>
          </a:p>
          <a:p>
            <a:pPr marL="0" indent="0" algn="l"/>
            <a:endParaRPr lang="zh-CN" altLang="en-US" sz="2400" b="0" i="0">
              <a:solidFill>
                <a:srgbClr val="353535"/>
              </a:solidFill>
              <a:latin typeface="mp-quote"/>
              <a:ea typeface="mp-quote"/>
            </a:endParaRPr>
          </a:p>
        </p:txBody>
      </p:sp>
      <p:sp>
        <p:nvSpPr>
          <p:cNvPr id="11" name="文本框 10"/>
          <p:cNvSpPr txBox="1"/>
          <p:nvPr/>
        </p:nvSpPr>
        <p:spPr>
          <a:xfrm>
            <a:off x="4254500" y="1517650"/>
            <a:ext cx="3682365" cy="3170555"/>
          </a:xfrm>
          <a:prstGeom prst="rect">
            <a:avLst/>
          </a:prstGeom>
          <a:noFill/>
        </p:spPr>
        <p:txBody>
          <a:bodyPr wrap="square" rtlCol="0" anchor="t">
            <a:noAutofit/>
          </a:bodyPr>
          <a:p>
            <a:pPr marL="0" indent="0" algn="l"/>
            <a:r>
              <a:rPr lang="zh-CN" altLang="en-US" sz="2400">
                <a:solidFill>
                  <a:srgbClr val="353535"/>
                </a:solidFill>
                <a:latin typeface="mp-quote"/>
                <a:ea typeface="mp-quote"/>
                <a:sym typeface="+mn-ea"/>
              </a:rPr>
              <a:t>由问题一的产生的最大效度函数对应的</a:t>
            </a:r>
            <a:r>
              <a:rPr lang="en-US" altLang="zh-CN" sz="2400">
                <a:solidFill>
                  <a:srgbClr val="353535"/>
                </a:solidFill>
                <a:latin typeface="mp-quote"/>
                <a:ea typeface="mp-quote"/>
                <a:sym typeface="+mn-ea"/>
              </a:rPr>
              <a:t>N1</a:t>
            </a:r>
            <a:r>
              <a:rPr lang="zh-CN" altLang="en-US" sz="2400">
                <a:solidFill>
                  <a:srgbClr val="353535"/>
                </a:solidFill>
                <a:latin typeface="mp-quote"/>
                <a:ea typeface="mp-quote"/>
                <a:sym typeface="+mn-ea"/>
              </a:rPr>
              <a:t>和</a:t>
            </a:r>
            <a:r>
              <a:rPr lang="en-US" altLang="zh-CN" sz="2400">
                <a:solidFill>
                  <a:srgbClr val="353535"/>
                </a:solidFill>
                <a:latin typeface="mp-quote"/>
                <a:ea typeface="mp-quote"/>
                <a:sym typeface="+mn-ea"/>
              </a:rPr>
              <a:t>N2</a:t>
            </a:r>
            <a:r>
              <a:rPr lang="zh-CN" altLang="en-US" sz="2400">
                <a:solidFill>
                  <a:srgbClr val="353535"/>
                </a:solidFill>
                <a:latin typeface="mp-quote"/>
                <a:ea typeface="mp-quote"/>
                <a:sym typeface="+mn-ea"/>
              </a:rPr>
              <a:t>两个求解出的样本量，进行抽样检测，模拟零件，半成品，成品的次品情况从而得出真正的次品率</a:t>
            </a:r>
            <a:endParaRPr lang="zh-CN" altLang="en-US" sz="2400">
              <a:solidFill>
                <a:srgbClr val="353535"/>
              </a:solidFill>
              <a:latin typeface="mp-quote"/>
              <a:ea typeface="mp-quote"/>
              <a:sym typeface="+mn-ea"/>
            </a:endParaRPr>
          </a:p>
        </p:txBody>
      </p:sp>
      <p:sp>
        <p:nvSpPr>
          <p:cNvPr id="12" name="文本框 11"/>
          <p:cNvSpPr txBox="1"/>
          <p:nvPr/>
        </p:nvSpPr>
        <p:spPr>
          <a:xfrm>
            <a:off x="8653145" y="1284605"/>
            <a:ext cx="2874010" cy="1864995"/>
          </a:xfrm>
          <a:prstGeom prst="rect">
            <a:avLst/>
          </a:prstGeom>
          <a:noFill/>
        </p:spPr>
        <p:txBody>
          <a:bodyPr wrap="square" rtlCol="0" anchor="t">
            <a:noAutofit/>
          </a:bodyPr>
          <a:p>
            <a:pPr marL="0" indent="0" algn="l"/>
            <a:r>
              <a:rPr lang="zh-CN" altLang="en-US" sz="2400">
                <a:solidFill>
                  <a:srgbClr val="353535"/>
                </a:solidFill>
                <a:latin typeface="mp-quote"/>
                <a:ea typeface="mp-quote"/>
                <a:sym typeface="+mn-ea"/>
              </a:rPr>
              <a:t>最后将得出的次品率回代回问题三的动态规划算法中，得出最优的决策路径</a:t>
            </a:r>
            <a:endParaRPr lang="zh-CN" altLang="en-US" sz="2400">
              <a:solidFill>
                <a:srgbClr val="353535"/>
              </a:solidFill>
              <a:latin typeface="mp-quote"/>
              <a:ea typeface="mp-quote"/>
              <a:sym typeface="+mn-ea"/>
            </a:endParaRPr>
          </a:p>
        </p:txBody>
      </p:sp>
      <p:sp>
        <p:nvSpPr>
          <p:cNvPr id="16" name="矩形 15"/>
          <p:cNvSpPr/>
          <p:nvPr/>
        </p:nvSpPr>
        <p:spPr>
          <a:xfrm>
            <a:off x="695643" y="5228900"/>
            <a:ext cx="2628900" cy="620485"/>
          </a:xfrm>
          <a:prstGeom prst="rect">
            <a:avLst/>
          </a:prstGeom>
          <a:solidFill>
            <a:srgbClr val="961318"/>
          </a:solidFill>
          <a:ln w="12700" cap="flat" cmpd="sng" algn="ctr">
            <a:noFill/>
            <a:prstDash val="solid"/>
            <a:miter lim="800000"/>
          </a:ln>
          <a:effectLst/>
        </p:spPr>
        <p:txBody>
          <a:bodyPr rtlCol="0" anchor="ctr"/>
          <a:p>
            <a:pPr algn="ctr">
              <a:defRPr/>
            </a:pPr>
            <a:endParaRPr lang="zh-CN" altLang="en-US" kern="0">
              <a:solidFill>
                <a:prstClr val="white"/>
              </a:solidFill>
              <a:latin typeface="Arial" panose="020B0604020202020204"/>
              <a:ea typeface="微软雅黑 Light" panose="020B0502040204020203" pitchFamily="34" charset="-122"/>
            </a:endParaRPr>
          </a:p>
        </p:txBody>
      </p:sp>
      <p:sp>
        <p:nvSpPr>
          <p:cNvPr id="18" name="矩形 17"/>
          <p:cNvSpPr/>
          <p:nvPr/>
        </p:nvSpPr>
        <p:spPr>
          <a:xfrm>
            <a:off x="4665028" y="4243290"/>
            <a:ext cx="2628900" cy="620485"/>
          </a:xfrm>
          <a:prstGeom prst="rect">
            <a:avLst/>
          </a:prstGeom>
          <a:solidFill>
            <a:srgbClr val="961318"/>
          </a:solidFill>
          <a:ln w="12700" cap="flat" cmpd="sng" algn="ctr">
            <a:noFill/>
            <a:prstDash val="solid"/>
            <a:miter lim="800000"/>
          </a:ln>
          <a:effectLst/>
        </p:spPr>
        <p:txBody>
          <a:bodyPr rtlCol="0" anchor="ctr"/>
          <a:p>
            <a:pPr algn="ctr">
              <a:defRPr/>
            </a:pPr>
            <a:endParaRPr lang="zh-CN" altLang="en-US" kern="0">
              <a:solidFill>
                <a:prstClr val="white"/>
              </a:solidFill>
              <a:latin typeface="Arial" panose="020B0604020202020204"/>
              <a:ea typeface="微软雅黑 Light" panose="020B0502040204020203" pitchFamily="34" charset="-122"/>
            </a:endParaRPr>
          </a:p>
        </p:txBody>
      </p:sp>
      <p:sp>
        <p:nvSpPr>
          <p:cNvPr id="20" name="矩形 19"/>
          <p:cNvSpPr/>
          <p:nvPr/>
        </p:nvSpPr>
        <p:spPr>
          <a:xfrm>
            <a:off x="8679498" y="3309115"/>
            <a:ext cx="2628900" cy="620485"/>
          </a:xfrm>
          <a:prstGeom prst="rect">
            <a:avLst/>
          </a:prstGeom>
          <a:solidFill>
            <a:srgbClr val="961318"/>
          </a:solidFill>
          <a:ln w="12700" cap="flat" cmpd="sng" algn="ctr">
            <a:noFill/>
            <a:prstDash val="solid"/>
            <a:miter lim="800000"/>
          </a:ln>
          <a:effectLst/>
        </p:spPr>
        <p:txBody>
          <a:bodyPr rtlCol="0" anchor="ctr"/>
          <a:p>
            <a:pPr algn="ctr">
              <a:defRPr/>
            </a:pPr>
            <a:endParaRPr lang="zh-CN" altLang="en-US" kern="0">
              <a:solidFill>
                <a:prstClr val="white"/>
              </a:solidFill>
              <a:latin typeface="Arial" panose="020B0604020202020204"/>
              <a:ea typeface="微软雅黑 Light" panose="020B0502040204020203" pitchFamily="34" charset="-122"/>
            </a:endParaRPr>
          </a:p>
        </p:txBody>
      </p:sp>
      <p:sp>
        <p:nvSpPr>
          <p:cNvPr id="24" name="矩形 23"/>
          <p:cNvSpPr/>
          <p:nvPr/>
        </p:nvSpPr>
        <p:spPr>
          <a:xfrm>
            <a:off x="1405434" y="5369865"/>
            <a:ext cx="995680" cy="337185"/>
          </a:xfrm>
          <a:prstGeom prst="rect">
            <a:avLst/>
          </a:prstGeom>
        </p:spPr>
        <p:txBody>
          <a:bodyPr wrap="none">
            <a:spAutoFit/>
          </a:bodyPr>
          <a:p>
            <a:pPr>
              <a:defRPr/>
            </a:pPr>
            <a:r>
              <a:rPr lang="zh-CN" altLang="en-US" sz="1600" b="1" dirty="0">
                <a:solidFill>
                  <a:prstClr val="white"/>
                </a:solidFill>
                <a:latin typeface="微软雅黑" panose="020B0503020204020204" charset="-122"/>
                <a:ea typeface="微软雅黑" panose="020B0503020204020204" charset="-122"/>
              </a:rPr>
              <a:t>确定参数</a:t>
            </a:r>
            <a:endParaRPr lang="zh-CN" altLang="en-US" sz="1600" b="1" dirty="0">
              <a:solidFill>
                <a:prstClr val="white"/>
              </a:solidFill>
              <a:latin typeface="微软雅黑" panose="020B0503020204020204" charset="-122"/>
              <a:ea typeface="微软雅黑" panose="020B0503020204020204" charset="-122"/>
            </a:endParaRPr>
          </a:p>
        </p:txBody>
      </p:sp>
      <p:sp>
        <p:nvSpPr>
          <p:cNvPr id="26" name="矩形 25"/>
          <p:cNvSpPr/>
          <p:nvPr/>
        </p:nvSpPr>
        <p:spPr>
          <a:xfrm>
            <a:off x="5482134" y="4384890"/>
            <a:ext cx="995680" cy="337185"/>
          </a:xfrm>
          <a:prstGeom prst="rect">
            <a:avLst/>
          </a:prstGeom>
        </p:spPr>
        <p:txBody>
          <a:bodyPr wrap="none">
            <a:spAutoFit/>
          </a:bodyPr>
          <a:p>
            <a:pPr>
              <a:defRPr/>
            </a:pPr>
            <a:r>
              <a:rPr lang="zh-CN" altLang="en-US" sz="1600" b="1" dirty="0">
                <a:solidFill>
                  <a:prstClr val="white"/>
                </a:solidFill>
                <a:latin typeface="微软雅黑" panose="020B0503020204020204" charset="-122"/>
                <a:ea typeface="微软雅黑" panose="020B0503020204020204" charset="-122"/>
              </a:rPr>
              <a:t>双重抽样</a:t>
            </a:r>
            <a:endParaRPr lang="zh-CN" altLang="en-US" sz="1600" b="1" dirty="0">
              <a:solidFill>
                <a:prstClr val="white"/>
              </a:solidFill>
              <a:latin typeface="微软雅黑" panose="020B0503020204020204" charset="-122"/>
              <a:ea typeface="微软雅黑" panose="020B0503020204020204" charset="-122"/>
            </a:endParaRPr>
          </a:p>
        </p:txBody>
      </p:sp>
      <p:sp>
        <p:nvSpPr>
          <p:cNvPr id="28" name="矩形 27"/>
          <p:cNvSpPr/>
          <p:nvPr/>
        </p:nvSpPr>
        <p:spPr>
          <a:xfrm>
            <a:off x="9485174" y="3429125"/>
            <a:ext cx="995680" cy="337185"/>
          </a:xfrm>
          <a:prstGeom prst="rect">
            <a:avLst/>
          </a:prstGeom>
        </p:spPr>
        <p:txBody>
          <a:bodyPr wrap="none">
            <a:spAutoFit/>
          </a:bodyPr>
          <a:p>
            <a:pPr>
              <a:defRPr/>
            </a:pPr>
            <a:r>
              <a:rPr lang="zh-CN" altLang="en-US" sz="1600" b="1" dirty="0">
                <a:solidFill>
                  <a:prstClr val="white"/>
                </a:solidFill>
                <a:latin typeface="微软雅黑" panose="020B0503020204020204" charset="-122"/>
                <a:ea typeface="微软雅黑" panose="020B0503020204020204" charset="-122"/>
              </a:rPr>
              <a:t>返回带入</a:t>
            </a:r>
            <a:endParaRPr lang="en-US" altLang="zh-CN" sz="1600" b="1" dirty="0">
              <a:solidFill>
                <a:prstClr val="white"/>
              </a:solidFill>
              <a:latin typeface="微软雅黑" panose="020B0503020204020204" charset="-122"/>
              <a:ea typeface="微软雅黑" panose="020B0503020204020204" charset="-122"/>
            </a:endParaRPr>
          </a:p>
        </p:txBody>
      </p:sp>
      <p:sp>
        <p:nvSpPr>
          <p:cNvPr id="7" name="文本框 6"/>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35361" y="116633"/>
            <a:ext cx="11521279" cy="6582552"/>
            <a:chOff x="335361" y="116633"/>
            <a:chExt cx="11521279" cy="6582552"/>
          </a:xfrm>
        </p:grpSpPr>
        <p:grpSp>
          <p:nvGrpSpPr>
            <p:cNvPr id="8" name="组合 7"/>
            <p:cNvGrpSpPr/>
            <p:nvPr/>
          </p:nvGrpSpPr>
          <p:grpSpPr>
            <a:xfrm>
              <a:off x="335361" y="116633"/>
              <a:ext cx="629872" cy="612768"/>
              <a:chOff x="3070727" y="196457"/>
              <a:chExt cx="692047" cy="673255"/>
            </a:xfrm>
          </p:grpSpPr>
          <p:sp>
            <p:nvSpPr>
              <p:cNvPr id="13" name="平行四边形 12"/>
              <p:cNvSpPr/>
              <p:nvPr/>
            </p:nvSpPr>
            <p:spPr>
              <a:xfrm>
                <a:off x="3070727" y="196457"/>
                <a:ext cx="629587" cy="612775"/>
              </a:xfrm>
              <a:prstGeom prst="parallelogram">
                <a:avLst/>
              </a:prstGeom>
              <a:solidFill>
                <a:srgbClr val="961318"/>
              </a:solid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4" name="平行四边形 13"/>
              <p:cNvSpPr/>
              <p:nvPr/>
            </p:nvSpPr>
            <p:spPr>
              <a:xfrm>
                <a:off x="3133187" y="256937"/>
                <a:ext cx="629587" cy="612775"/>
              </a:xfrm>
              <a:prstGeom prst="parallelogram">
                <a:avLst/>
              </a:prstGeom>
              <a:noFill/>
              <a:ln w="25400" cap="flat" cmpd="sng" algn="ctr">
                <a:solidFill>
                  <a:srgbClr val="961318"/>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9" name="直接连接符 8"/>
            <p:cNvCxnSpPr/>
            <p:nvPr/>
          </p:nvCxnSpPr>
          <p:spPr>
            <a:xfrm>
              <a:off x="367840" y="809674"/>
              <a:ext cx="11488800" cy="0"/>
            </a:xfrm>
            <a:prstGeom prst="line">
              <a:avLst/>
            </a:prstGeom>
            <a:noFill/>
            <a:ln w="9525" cap="flat" cmpd="sng" algn="ctr">
              <a:solidFill>
                <a:srgbClr val="961318"/>
              </a:solidFill>
              <a:prstDash val="solid"/>
            </a:ln>
            <a:effectLst/>
          </p:spPr>
        </p:cxnSp>
        <p:sp>
          <p:nvSpPr>
            <p:cNvPr id="10" name="文本占位符 5"/>
            <p:cNvSpPr txBox="1"/>
            <p:nvPr/>
          </p:nvSpPr>
          <p:spPr>
            <a:xfrm>
              <a:off x="1127448" y="193957"/>
              <a:ext cx="5040313" cy="612775"/>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noProof="0" dirty="0">
                  <a:ln>
                    <a:noFill/>
                  </a:ln>
                  <a:solidFill>
                    <a:srgbClr val="961318"/>
                  </a:solidFill>
                  <a:effectLst/>
                  <a:uLnTx/>
                  <a:uFillTx/>
                  <a:sym typeface="+mn-ea"/>
                </a:rPr>
                <a:t>问题三的重新解决</a:t>
              </a:r>
              <a:r>
                <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rPr>
                <a:t>：最优决策</a:t>
              </a:r>
              <a:endParaRPr kumimoji="0" lang="zh-CN" altLang="en-US" sz="3200" b="1" i="0" u="none" strike="noStrike" kern="1200" cap="none" spc="0" normalizeH="0" baseline="0" noProof="0" dirty="0">
                <a:ln>
                  <a:noFill/>
                </a:ln>
                <a:solidFill>
                  <a:srgbClr val="961318"/>
                </a:solidFill>
                <a:effectLst/>
                <a:uLnTx/>
                <a:uFillTx/>
                <a:latin typeface="微软雅黑" panose="020B0503020204020204" charset="-122"/>
                <a:ea typeface="微软雅黑" panose="020B0503020204020204" charset="-122"/>
                <a:cs typeface="+mn-cs"/>
              </a:endParaRPr>
            </a:p>
          </p:txBody>
        </p:sp>
        <p:sp>
          <p:nvSpPr>
            <p:cNvPr id="11" name="文本框 10"/>
            <p:cNvSpPr txBox="1"/>
            <p:nvPr/>
          </p:nvSpPr>
          <p:spPr>
            <a:xfrm>
              <a:off x="10805366" y="6428675"/>
              <a:ext cx="309880" cy="2705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endParaRPr>
            </a:p>
          </p:txBody>
        </p:sp>
      </p:grpSp>
      <p:sp>
        <p:nvSpPr>
          <p:cNvPr id="15" name="矩形 14"/>
          <p:cNvSpPr/>
          <p:nvPr/>
        </p:nvSpPr>
        <p:spPr>
          <a:xfrm>
            <a:off x="212130" y="1858918"/>
            <a:ext cx="11513006" cy="422075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16" name="组合 15"/>
          <p:cNvGrpSpPr/>
          <p:nvPr/>
        </p:nvGrpSpPr>
        <p:grpSpPr>
          <a:xfrm>
            <a:off x="598112" y="2204864"/>
            <a:ext cx="10867785" cy="3121556"/>
            <a:chOff x="598112" y="2302016"/>
            <a:chExt cx="10867785" cy="3121556"/>
          </a:xfrm>
        </p:grpSpPr>
        <p:sp>
          <p:nvSpPr>
            <p:cNvPr id="17" name="文本框 16"/>
            <p:cNvSpPr txBox="1"/>
            <p:nvPr/>
          </p:nvSpPr>
          <p:spPr>
            <a:xfrm>
              <a:off x="2037974" y="2302016"/>
              <a:ext cx="9427923" cy="3121556"/>
            </a:xfrm>
            <a:prstGeom prst="rect">
              <a:avLst/>
            </a:prstGeom>
            <a:noFill/>
          </p:spPr>
          <p:txBody>
            <a:bodyPr wrap="square" rtlCol="0">
              <a:normAutofit/>
            </a:bodyPr>
            <a:lstStyle/>
            <a:p>
              <a:pPr algn="just">
                <a:lnSpc>
                  <a:spcPct val="130000"/>
                </a:lnSpc>
                <a:spcBef>
                  <a:spcPts val="600"/>
                </a:spcBef>
                <a:defRPr/>
              </a:pPr>
              <a:endParaRPr lang="zh-CN" altLang="en-US" sz="1600" kern="0" dirty="0">
                <a:solidFill>
                  <a:srgbClr val="222222"/>
                </a:solidFill>
                <a:ea typeface="阿里巴巴普惠体 R"/>
                <a:cs typeface="阿里巴巴普惠体 M" panose="00020600040101010101" pitchFamily="18" charset="-122"/>
              </a:endParaRPr>
            </a:p>
          </p:txBody>
        </p:sp>
        <p:grpSp>
          <p:nvGrpSpPr>
            <p:cNvPr id="18" name="组合 17"/>
            <p:cNvGrpSpPr/>
            <p:nvPr/>
          </p:nvGrpSpPr>
          <p:grpSpPr>
            <a:xfrm>
              <a:off x="598112" y="2302016"/>
              <a:ext cx="1176713" cy="514645"/>
              <a:chOff x="10068105" y="1734537"/>
              <a:chExt cx="1690700" cy="514645"/>
            </a:xfrm>
          </p:grpSpPr>
          <p:grpSp>
            <p:nvGrpSpPr>
              <p:cNvPr id="19" name="组合 18"/>
              <p:cNvGrpSpPr/>
              <p:nvPr/>
            </p:nvGrpSpPr>
            <p:grpSpPr>
              <a:xfrm>
                <a:off x="10068105" y="1734537"/>
                <a:ext cx="1690700" cy="514645"/>
                <a:chOff x="10068105" y="1734537"/>
                <a:chExt cx="1690700" cy="514645"/>
              </a:xfrm>
            </p:grpSpPr>
            <p:sp>
              <p:nvSpPr>
                <p:cNvPr id="21" name="平行四边形 20"/>
                <p:cNvSpPr/>
                <p:nvPr/>
              </p:nvSpPr>
              <p:spPr>
                <a:xfrm>
                  <a:off x="10136045" y="1734537"/>
                  <a:ext cx="1622760" cy="461665"/>
                </a:xfrm>
                <a:prstGeom prst="parallelogram">
                  <a:avLst>
                    <a:gd name="adj" fmla="val 0"/>
                  </a:avLst>
                </a:prstGeom>
                <a:noFill/>
                <a:ln w="9525" cap="flat" cmpd="sng" algn="ctr">
                  <a:solidFill>
                    <a:srgbClr val="961318"/>
                  </a:solid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sp>
              <p:nvSpPr>
                <p:cNvPr id="22" name="平行四边形 21"/>
                <p:cNvSpPr/>
                <p:nvPr/>
              </p:nvSpPr>
              <p:spPr>
                <a:xfrm>
                  <a:off x="10068105" y="1787517"/>
                  <a:ext cx="1622760" cy="461665"/>
                </a:xfrm>
                <a:prstGeom prst="parallelogram">
                  <a:avLst>
                    <a:gd name="adj" fmla="val 0"/>
                  </a:avLst>
                </a:prstGeom>
                <a:solidFill>
                  <a:srgbClr val="961318"/>
                </a:solidFill>
                <a:ln w="12700" cap="flat" cmpd="sng" algn="ctr">
                  <a:no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grpSp>
          <p:sp>
            <p:nvSpPr>
              <p:cNvPr id="20" name="文本框 19"/>
              <p:cNvSpPr txBox="1"/>
              <p:nvPr/>
            </p:nvSpPr>
            <p:spPr>
              <a:xfrm>
                <a:off x="10627637" y="1805090"/>
                <a:ext cx="445235" cy="423545"/>
              </a:xfrm>
              <a:prstGeom prst="rect">
                <a:avLst/>
              </a:prstGeom>
              <a:noFill/>
            </p:spPr>
            <p:txBody>
              <a:bodyPr wrap="none" rtlCol="0">
                <a:spAutoFit/>
              </a:bodyPr>
              <a:lstStyle/>
              <a:p>
                <a:pPr algn="ctr">
                  <a:lnSpc>
                    <a:spcPct val="120000"/>
                  </a:lnSpc>
                  <a:defRPr/>
                </a:pPr>
                <a:endParaRPr lang="zh-CN" altLang="en-US" kern="0" dirty="0">
                  <a:solidFill>
                    <a:prstClr val="white"/>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endParaRPr>
              </a:p>
            </p:txBody>
          </p:sp>
        </p:grpSp>
      </p:grpSp>
      <p:sp>
        <p:nvSpPr>
          <p:cNvPr id="36" name="圆角矩形 6"/>
          <p:cNvSpPr/>
          <p:nvPr/>
        </p:nvSpPr>
        <p:spPr>
          <a:xfrm>
            <a:off x="413878" y="1019284"/>
            <a:ext cx="3177540" cy="490220"/>
          </a:xfrm>
          <a:prstGeom prst="roundRect">
            <a:avLst>
              <a:gd name="adj" fmla="val 37046"/>
            </a:avLst>
          </a:prstGeom>
          <a:gradFill>
            <a:gsLst>
              <a:gs pos="53000">
                <a:srgbClr val="961318"/>
              </a:gs>
              <a:gs pos="95000">
                <a:srgbClr val="961318">
                  <a:alpha val="0"/>
                </a:srgbClr>
              </a:gs>
              <a:gs pos="0">
                <a:srgbClr val="961318"/>
              </a:gs>
            </a:gsLst>
            <a:lin ang="20700000" scaled="0"/>
          </a:gradFill>
          <a:ln w="12700" cap="flat" cmpd="sng" algn="ctr">
            <a:noFill/>
            <a:prstDash val="solid"/>
            <a:miter lim="800000"/>
          </a:ln>
          <a:effectLst/>
        </p:spPr>
        <p:txBody>
          <a:bodyPr rtlCol="0" anchor="ctr"/>
          <a:lstStyle/>
          <a:p>
            <a:pPr algn="ctr">
              <a:defRPr/>
            </a:pPr>
            <a:r>
              <a:rPr lang="zh-CN" altLang="en-US" kern="0">
                <a:solidFill>
                  <a:prstClr val="white"/>
                </a:solidFill>
                <a:latin typeface="微软雅黑" panose="020B0503020204020204" charset="-122"/>
                <a:ea typeface="微软雅黑" panose="020B0503020204020204" charset="-122"/>
              </a:rPr>
              <a:t>最优决策方案</a:t>
            </a:r>
            <a:endParaRPr lang="zh-CN" altLang="en-US" kern="0">
              <a:solidFill>
                <a:prstClr val="white"/>
              </a:solidFill>
              <a:latin typeface="微软雅黑" panose="020B0503020204020204" charset="-122"/>
              <a:ea typeface="微软雅黑" panose="020B0503020204020204" charset="-122"/>
            </a:endParaRPr>
          </a:p>
        </p:txBody>
      </p:sp>
      <p:sp>
        <p:nvSpPr>
          <p:cNvPr id="4" name="文本框 3"/>
          <p:cNvSpPr txBox="1"/>
          <p:nvPr/>
        </p:nvSpPr>
        <p:spPr>
          <a:xfrm>
            <a:off x="2051050" y="3778885"/>
            <a:ext cx="8292465" cy="1707515"/>
          </a:xfrm>
          <a:prstGeom prst="rect">
            <a:avLst/>
          </a:prstGeom>
        </p:spPr>
        <p:txBody>
          <a:bodyPr>
            <a:noAutofit/>
          </a:bodyPr>
          <a:p>
            <a:pPr marL="0" indent="0"/>
            <a:r>
              <a:rPr lang="zh-CN" altLang="en-US" sz="2400" b="0" i="0">
                <a:latin typeface="Inter"/>
                <a:ea typeface="Inter"/>
              </a:rPr>
              <a:t>针对零件，半成品和成品的决策，对于所有零部件都进行检查，组装为半成品后不进行检查，直接组装为成品。</a:t>
            </a:r>
            <a:endParaRPr lang="zh-CN" altLang="en-US" sz="2400" b="0" i="0">
              <a:latin typeface="Inter"/>
              <a:ea typeface="Inter"/>
            </a:endParaRPr>
          </a:p>
          <a:p>
            <a:pPr marL="0" indent="0"/>
            <a:endParaRPr lang="zh-CN" altLang="en-US" sz="2400" b="0" i="0">
              <a:latin typeface="Inter"/>
              <a:ea typeface="Inter"/>
            </a:endParaRPr>
          </a:p>
          <a:p>
            <a:pPr marL="0" indent="0"/>
            <a:r>
              <a:rPr lang="zh-CN" altLang="en-US" sz="2400" b="0" i="0">
                <a:latin typeface="Inter"/>
                <a:ea typeface="Inter"/>
              </a:rPr>
              <a:t>在这一最优决策模式下，所获取的利润期望为 </a:t>
            </a:r>
            <a:r>
              <a:rPr lang="en-US" altLang="zh-CN" sz="2400" b="0" i="0">
                <a:latin typeface="华文中宋" panose="02010600040101010101" charset="-122"/>
                <a:ea typeface="华文中宋" panose="02010600040101010101" charset="-122"/>
              </a:rPr>
              <a:t>117.0</a:t>
            </a:r>
            <a:r>
              <a:rPr lang="en-US" altLang="zh-CN" sz="2400" b="0" i="0">
                <a:latin typeface="Inter"/>
                <a:ea typeface="Inter"/>
              </a:rPr>
              <a:t> </a:t>
            </a:r>
            <a:r>
              <a:rPr lang="zh-CN" altLang="en-US" sz="2400" b="0" i="0">
                <a:latin typeface="Inter"/>
                <a:ea typeface="Inter"/>
              </a:rPr>
              <a:t>元。</a:t>
            </a:r>
            <a:endParaRPr lang="zh-CN" altLang="en-US" sz="2400" b="0" i="0">
              <a:latin typeface="Inter"/>
              <a:ea typeface="Inter"/>
            </a:endParaRPr>
          </a:p>
        </p:txBody>
      </p:sp>
      <p:pic>
        <p:nvPicPr>
          <p:cNvPr id="3" name="图片 2"/>
          <p:cNvPicPr>
            <a:picLocks noChangeAspect="1"/>
          </p:cNvPicPr>
          <p:nvPr/>
        </p:nvPicPr>
        <p:blipFill>
          <a:blip r:embed="rId1"/>
          <a:srcRect r="782" b="16117"/>
          <a:stretch>
            <a:fillRect/>
          </a:stretch>
        </p:blipFill>
        <p:spPr>
          <a:xfrm>
            <a:off x="2891155" y="2091690"/>
            <a:ext cx="6506210" cy="1687195"/>
          </a:xfrm>
          <a:prstGeom prst="rect">
            <a:avLst/>
          </a:prstGeom>
        </p:spPr>
      </p:pic>
      <p:sp>
        <p:nvSpPr>
          <p:cNvPr id="2" name="文本框 1"/>
          <p:cNvSpPr txBox="1"/>
          <p:nvPr/>
        </p:nvSpPr>
        <p:spPr>
          <a:xfrm>
            <a:off x="10805366" y="6428675"/>
            <a:ext cx="1050925" cy="368300"/>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A</a:t>
            </a: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pril 10</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spTree>
  </p:cSld>
  <p:clrMapOvr>
    <a:masterClrMapping/>
  </p:clrMapOvr>
  <p:transition spd="slow">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500" y="1489075"/>
            <a:ext cx="12278360" cy="3632200"/>
          </a:xfrm>
          <a:prstGeom prst="rect">
            <a:avLst/>
          </a:prstGeom>
          <a:solidFill>
            <a:srgbClr val="961318">
              <a:alpha val="85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charset="-122"/>
              <a:cs typeface="+mn-ea"/>
              <a:sym typeface="+mn-lt"/>
            </a:endParaRPr>
          </a:p>
        </p:txBody>
      </p:sp>
      <p:sp>
        <p:nvSpPr>
          <p:cNvPr id="4" name="Rectangle 9"/>
          <p:cNvSpPr/>
          <p:nvPr/>
        </p:nvSpPr>
        <p:spPr>
          <a:xfrm>
            <a:off x="1668145" y="2964815"/>
            <a:ext cx="9416415" cy="1778000"/>
          </a:xfrm>
          <a:prstGeom prst="rect">
            <a:avLst/>
          </a:prstGeom>
        </p:spPr>
        <p:txBody>
          <a:bodyPr wrap="square">
            <a:noAutofit/>
          </a:bodyPr>
          <a:lstStyle/>
          <a:p>
            <a:pPr algn="ctr"/>
            <a:r>
              <a:rPr lang="zh-CN" altLang="en-US" sz="6000" b="1" dirty="0">
                <a:solidFill>
                  <a:prstClr val="white"/>
                </a:solidFill>
                <a:latin typeface="微软雅黑" panose="020B0503020204020204" charset="-122"/>
                <a:ea typeface="微软雅黑" panose="020B0503020204020204" charset="-122"/>
                <a:cs typeface="阿里巴巴普惠体 B" panose="00020600040101010101" pitchFamily="18" charset="-122"/>
              </a:rPr>
              <a:t>感谢观看 期待您的指点</a:t>
            </a:r>
            <a:r>
              <a:rPr lang="zh-CN" altLang="en-US" sz="6000" b="1" i="1" dirty="0">
                <a:solidFill>
                  <a:prstClr val="white"/>
                </a:solidFill>
                <a:latin typeface="微软雅黑" panose="020B0503020204020204" charset="-122"/>
                <a:ea typeface="微软雅黑" panose="020B0503020204020204" charset="-122"/>
                <a:cs typeface="阿里巴巴普惠体 B" panose="00020600040101010101" pitchFamily="18" charset="-122"/>
              </a:rPr>
              <a:t>！</a:t>
            </a:r>
            <a:endParaRPr lang="zh-CN" altLang="en-US" sz="6000" b="1" i="1" dirty="0">
              <a:solidFill>
                <a:prstClr val="white"/>
              </a:solidFill>
              <a:latin typeface="微软雅黑" panose="020B0503020204020204" charset="-122"/>
              <a:ea typeface="微软雅黑" panose="020B0503020204020204" charset="-122"/>
              <a:cs typeface="阿里巴巴普惠体 B" panose="00020600040101010101" pitchFamily="18" charset="-122"/>
            </a:endParaRPr>
          </a:p>
        </p:txBody>
      </p:sp>
      <p:cxnSp>
        <p:nvCxnSpPr>
          <p:cNvPr id="6" name="直接连接符 5"/>
          <p:cNvCxnSpPr/>
          <p:nvPr/>
        </p:nvCxnSpPr>
        <p:spPr>
          <a:xfrm flipV="1">
            <a:off x="-631417" y="5529572"/>
            <a:ext cx="5256126" cy="1"/>
          </a:xfrm>
          <a:prstGeom prst="line">
            <a:avLst/>
          </a:prstGeom>
          <a:noFill/>
          <a:ln w="38100" cap="flat" cmpd="sng" algn="ctr">
            <a:solidFill>
              <a:srgbClr val="961318"/>
            </a:solidFill>
            <a:prstDash val="solid"/>
            <a:miter lim="800000"/>
          </a:ln>
          <a:effectLst/>
        </p:spPr>
      </p:cxnSp>
      <p:cxnSp>
        <p:nvCxnSpPr>
          <p:cNvPr id="7" name="直接连接符 6"/>
          <p:cNvCxnSpPr/>
          <p:nvPr/>
        </p:nvCxnSpPr>
        <p:spPr>
          <a:xfrm>
            <a:off x="7770554" y="5561910"/>
            <a:ext cx="5446002" cy="0"/>
          </a:xfrm>
          <a:prstGeom prst="line">
            <a:avLst/>
          </a:prstGeom>
          <a:noFill/>
          <a:ln w="38100" cap="flat" cmpd="sng" algn="ctr">
            <a:solidFill>
              <a:srgbClr val="961318"/>
            </a:solidFill>
            <a:prstDash val="solid"/>
            <a:miter lim="800000"/>
          </a:ln>
          <a:effectLst/>
        </p:spPr>
      </p:cxnSp>
      <p:sp>
        <p:nvSpPr>
          <p:cNvPr id="15" name="Rectangle 10"/>
          <p:cNvSpPr/>
          <p:nvPr>
            <p:custDataLst>
              <p:tags r:id="rId1"/>
            </p:custDataLst>
          </p:nvPr>
        </p:nvSpPr>
        <p:spPr>
          <a:xfrm>
            <a:off x="55245" y="4028440"/>
            <a:ext cx="12215495" cy="398780"/>
          </a:xfrm>
          <a:prstGeom prst="rect">
            <a:avLst/>
          </a:prstGeom>
        </p:spPr>
        <p:txBody>
          <a:bodyPr wrap="square">
            <a:spAutoFit/>
          </a:bodyPr>
          <a:lstStyle/>
          <a:p>
            <a:pPr algn="ctr"/>
            <a:endParaRPr lang="zh-CN" altLang="en-US" sz="2000" b="1" dirty="0">
              <a:solidFill>
                <a:prstClr val="white"/>
              </a:solidFill>
              <a:latin typeface="微软雅黑 Light" panose="020B0502040204020203" pitchFamily="34" charset="-122"/>
              <a:ea typeface="微软雅黑 Light" panose="020B0502040204020203" pitchFamily="34" charset="-122"/>
            </a:endParaRPr>
          </a:p>
        </p:txBody>
      </p:sp>
      <p:sp>
        <p:nvSpPr>
          <p:cNvPr id="3" name="文本框 8"/>
          <p:cNvSpPr txBox="1"/>
          <p:nvPr/>
        </p:nvSpPr>
        <p:spPr>
          <a:xfrm>
            <a:off x="4624709" y="5207967"/>
            <a:ext cx="3075931" cy="707886"/>
          </a:xfrm>
          <a:prstGeom prst="rect">
            <a:avLst/>
          </a:prstGeom>
          <a:noFill/>
        </p:spPr>
        <p:txBody>
          <a:bodyPr wrap="square" rtlCol="0">
            <a:spAutoFit/>
          </a:bodyPr>
          <a:lstStyle/>
          <a:p>
            <a:pPr algn="ctr">
              <a:buClrTx/>
              <a:buSzTx/>
              <a:buFontTx/>
            </a:pPr>
            <a:r>
              <a:rPr lang="zh-CN" altLang="en-US" sz="2000" dirty="0">
                <a:solidFill>
                  <a:srgbClr val="8C1515"/>
                </a:solidFill>
                <a:latin typeface="华文行楷" panose="02010800040101010101" pitchFamily="2" charset="-122"/>
                <a:ea typeface="华文行楷" panose="02010800040101010101" pitchFamily="2" charset="-122"/>
                <a:sym typeface="+mn-ea"/>
              </a:rPr>
              <a:t>精勤求学 敦笃励志 </a:t>
            </a:r>
            <a:endParaRPr lang="zh-CN" altLang="en-US" sz="2000" dirty="0">
              <a:solidFill>
                <a:srgbClr val="8C1515"/>
              </a:solidFill>
              <a:latin typeface="华文行楷" panose="02010800040101010101" pitchFamily="2" charset="-122"/>
              <a:ea typeface="华文行楷" panose="02010800040101010101" pitchFamily="2" charset="-122"/>
              <a:sym typeface="+mn-ea"/>
            </a:endParaRPr>
          </a:p>
          <a:p>
            <a:pPr algn="ctr">
              <a:buClrTx/>
              <a:buSzTx/>
              <a:buFontTx/>
            </a:pPr>
            <a:r>
              <a:rPr lang="zh-CN" altLang="en-US" sz="2000" dirty="0">
                <a:solidFill>
                  <a:srgbClr val="8C1515"/>
                </a:solidFill>
                <a:latin typeface="华文行楷" panose="02010800040101010101" pitchFamily="2" charset="-122"/>
                <a:ea typeface="华文行楷" panose="02010800040101010101" pitchFamily="2" charset="-122"/>
                <a:sym typeface="+mn-ea"/>
              </a:rPr>
              <a:t>果毅力行 忠恕任事</a:t>
            </a:r>
            <a:endParaRPr lang="zh-CN" altLang="en-US" sz="2000" dirty="0">
              <a:solidFill>
                <a:srgbClr val="8C1515"/>
              </a:solidFill>
              <a:latin typeface="华文行楷" panose="02010800040101010101" pitchFamily="2" charset="-122"/>
              <a:ea typeface="华文行楷" panose="02010800040101010101" pitchFamily="2" charset="-122"/>
              <a:sym typeface="+mn-ea"/>
            </a:endParaRPr>
          </a:p>
        </p:txBody>
      </p:sp>
      <p:pic>
        <p:nvPicPr>
          <p:cNvPr id="8" name="图片 7"/>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81923" y="1639042"/>
            <a:ext cx="4588552" cy="1325773"/>
          </a:xfrm>
          <a:prstGeom prst="rect">
            <a:avLst/>
          </a:prstGeom>
        </p:spPr>
      </p:pic>
      <p:grpSp>
        <p:nvGrpSpPr>
          <p:cNvPr id="5" name="组合 4"/>
          <p:cNvGrpSpPr/>
          <p:nvPr/>
        </p:nvGrpSpPr>
        <p:grpSpPr>
          <a:xfrm>
            <a:off x="2388937" y="6230473"/>
            <a:ext cx="7185777" cy="337185"/>
            <a:chOff x="415917" y="6056049"/>
            <a:chExt cx="7185777" cy="337185"/>
          </a:xfrm>
        </p:grpSpPr>
        <p:sp>
          <p:nvSpPr>
            <p:cNvPr id="9" name="TextBox 14"/>
            <p:cNvSpPr txBox="1"/>
            <p:nvPr/>
          </p:nvSpPr>
          <p:spPr>
            <a:xfrm>
              <a:off x="415917" y="6056049"/>
              <a:ext cx="2937510" cy="337185"/>
            </a:xfrm>
            <a:prstGeom prst="rect">
              <a:avLst/>
            </a:prstGeom>
            <a:noFill/>
          </p:spPr>
          <p:txBody>
            <a:bodyPr wrap="none" rtlCol="0">
              <a:spAutoFit/>
            </a:bodyPr>
            <a:p>
              <a:r>
                <a:rPr lang="zh-CN" altLang="en-US" sz="1600" b="1" dirty="0">
                  <a:solidFill>
                    <a:srgbClr val="961318"/>
                  </a:solidFill>
                  <a:latin typeface="Arial" panose="020B0604020202020204"/>
                  <a:ea typeface="微软雅黑" panose="020B0503020204020204" charset="-122"/>
                  <a:cs typeface="+mn-ea"/>
                </a:rPr>
                <a:t>答辩人：顾雨阳</a:t>
              </a:r>
              <a:r>
                <a:rPr lang="en-US" altLang="zh-CN" sz="1600" b="1" dirty="0">
                  <a:solidFill>
                    <a:srgbClr val="961318"/>
                  </a:solidFill>
                  <a:latin typeface="Arial" panose="020B0604020202020204"/>
                  <a:ea typeface="微软雅黑" panose="020B0503020204020204" charset="-122"/>
                  <a:cs typeface="+mn-ea"/>
                </a:rPr>
                <a:t> </a:t>
              </a:r>
              <a:r>
                <a:rPr lang="zh-CN" altLang="en-US" sz="1600" b="1" dirty="0">
                  <a:solidFill>
                    <a:srgbClr val="961318"/>
                  </a:solidFill>
                  <a:latin typeface="Arial" panose="020B0604020202020204"/>
                  <a:ea typeface="微软雅黑" panose="020B0503020204020204" charset="-122"/>
                  <a:cs typeface="+mn-ea"/>
                </a:rPr>
                <a:t>伍俊宇</a:t>
              </a:r>
              <a:r>
                <a:rPr lang="en-US" altLang="zh-CN" sz="1600" b="1" dirty="0">
                  <a:solidFill>
                    <a:srgbClr val="961318"/>
                  </a:solidFill>
                  <a:latin typeface="Arial" panose="020B0604020202020204"/>
                  <a:ea typeface="微软雅黑" panose="020B0503020204020204" charset="-122"/>
                  <a:cs typeface="+mn-ea"/>
                </a:rPr>
                <a:t> </a:t>
              </a:r>
              <a:r>
                <a:rPr lang="zh-CN" altLang="en-US" sz="1600" b="1" dirty="0">
                  <a:solidFill>
                    <a:srgbClr val="961318"/>
                  </a:solidFill>
                  <a:latin typeface="Arial" panose="020B0604020202020204"/>
                  <a:ea typeface="微软雅黑" panose="020B0503020204020204" charset="-122"/>
                  <a:cs typeface="+mn-ea"/>
                </a:rPr>
                <a:t>李佳融</a:t>
              </a:r>
              <a:endParaRPr lang="zh-CN" altLang="en-US" sz="1600" b="1" dirty="0">
                <a:solidFill>
                  <a:srgbClr val="961318"/>
                </a:solidFill>
                <a:latin typeface="Arial" panose="020B0604020202020204"/>
                <a:ea typeface="微软雅黑" panose="020B0503020204020204" charset="-122"/>
                <a:cs typeface="+mn-ea"/>
              </a:endParaRPr>
            </a:p>
          </p:txBody>
        </p:sp>
        <p:sp>
          <p:nvSpPr>
            <p:cNvPr id="14" name="TextBox 90"/>
            <p:cNvSpPr txBox="1"/>
            <p:nvPr/>
          </p:nvSpPr>
          <p:spPr>
            <a:xfrm>
              <a:off x="5295374" y="6056049"/>
              <a:ext cx="2306320" cy="337185"/>
            </a:xfrm>
            <a:prstGeom prst="rect">
              <a:avLst/>
            </a:prstGeom>
            <a:noFill/>
          </p:spPr>
          <p:txBody>
            <a:bodyPr wrap="none" rtlCol="0">
              <a:spAutoFit/>
            </a:bodyPr>
            <a:p>
              <a:r>
                <a:rPr lang="zh-CN" altLang="en-US" sz="1600" b="1" dirty="0">
                  <a:solidFill>
                    <a:srgbClr val="961318"/>
                  </a:solidFill>
                  <a:latin typeface="Arial" panose="020B0604020202020204"/>
                  <a:ea typeface="微软雅黑" panose="020B0503020204020204" charset="-122"/>
                  <a:cs typeface="+mn-ea"/>
                </a:rPr>
                <a:t>日期：</a:t>
              </a:r>
              <a:r>
                <a:rPr lang="en-US" altLang="zh-CN" sz="1600" b="1" dirty="0">
                  <a:solidFill>
                    <a:srgbClr val="961318"/>
                  </a:solidFill>
                  <a:latin typeface="Arial" panose="020B0604020202020204"/>
                  <a:ea typeface="微软雅黑" panose="020B0503020204020204" charset="-122"/>
                  <a:cs typeface="+mn-ea"/>
                </a:rPr>
                <a:t>2025</a:t>
              </a:r>
              <a:r>
                <a:rPr lang="zh-CN" altLang="en-US" sz="1600" b="1" dirty="0">
                  <a:solidFill>
                    <a:srgbClr val="961318"/>
                  </a:solidFill>
                  <a:latin typeface="Arial" panose="020B0604020202020204"/>
                  <a:ea typeface="微软雅黑" panose="020B0503020204020204" charset="-122"/>
                  <a:cs typeface="+mn-ea"/>
                </a:rPr>
                <a:t>年</a:t>
              </a:r>
              <a:r>
                <a:rPr lang="en-US" altLang="zh-CN" sz="1600" b="1" dirty="0">
                  <a:solidFill>
                    <a:srgbClr val="961318"/>
                  </a:solidFill>
                  <a:latin typeface="Arial" panose="020B0604020202020204"/>
                  <a:ea typeface="微软雅黑" panose="020B0503020204020204" charset="-122"/>
                  <a:cs typeface="+mn-ea"/>
                </a:rPr>
                <a:t>04</a:t>
              </a:r>
              <a:r>
                <a:rPr lang="zh-CN" altLang="en-US" sz="1600" b="1" dirty="0">
                  <a:solidFill>
                    <a:srgbClr val="961318"/>
                  </a:solidFill>
                  <a:latin typeface="Arial" panose="020B0604020202020204"/>
                  <a:ea typeface="微软雅黑" panose="020B0503020204020204" charset="-122"/>
                  <a:cs typeface="+mn-ea"/>
                </a:rPr>
                <a:t>月</a:t>
              </a:r>
              <a:r>
                <a:rPr lang="en-US" altLang="zh-CN" sz="1600" b="1" dirty="0">
                  <a:solidFill>
                    <a:srgbClr val="961318"/>
                  </a:solidFill>
                  <a:latin typeface="Arial" panose="020B0604020202020204"/>
                  <a:ea typeface="微软雅黑" panose="020B0503020204020204" charset="-122"/>
                  <a:cs typeface="+mn-ea"/>
                </a:rPr>
                <a:t>10</a:t>
              </a:r>
              <a:r>
                <a:rPr lang="zh-CN" altLang="en-US" sz="1600" b="1" dirty="0">
                  <a:solidFill>
                    <a:srgbClr val="961318"/>
                  </a:solidFill>
                  <a:latin typeface="Arial" panose="020B0604020202020204"/>
                  <a:ea typeface="微软雅黑" panose="020B0503020204020204" charset="-122"/>
                  <a:cs typeface="+mn-ea"/>
                </a:rPr>
                <a:t>日</a:t>
              </a:r>
              <a:endParaRPr lang="zh-CN" altLang="en-US" sz="1600" b="1" dirty="0">
                <a:solidFill>
                  <a:srgbClr val="961318"/>
                </a:solidFill>
                <a:latin typeface="Arial" panose="020B0604020202020204"/>
                <a:ea typeface="微软雅黑" panose="020B0503020204020204" charset="-122"/>
                <a:cs typeface="+mn-ea"/>
              </a:endParaRPr>
            </a:p>
          </p:txBody>
        </p:sp>
      </p:grpSp>
    </p:spTree>
  </p:cSld>
  <p:clrMapOvr>
    <a:masterClrMapping/>
  </p:clrMapOvr>
</p:sld>
</file>

<file path=ppt/tags/tag1.xml><?xml version="1.0" encoding="utf-8"?>
<p:tagLst xmlns:p="http://schemas.openxmlformats.org/presentationml/2006/main">
  <p:tag name="PA" val="v5.2.9"/>
</p:tagLst>
</file>

<file path=ppt/tags/tag2.xml><?xml version="1.0" encoding="utf-8"?>
<p:tagLst xmlns:p="http://schemas.openxmlformats.org/presentationml/2006/main">
  <p:tag name="PA" val="v5.2.9"/>
</p:tagLst>
</file>

<file path=ppt/tags/tag3.xml><?xml version="1.0" encoding="utf-8"?>
<p:tagLst xmlns:p="http://schemas.openxmlformats.org/presentationml/2006/main">
  <p:tag name="PA" val="v5.2.9"/>
</p:tagLst>
</file>

<file path=ppt/tags/tag4.xml><?xml version="1.0" encoding="utf-8"?>
<p:tagLst xmlns:p="http://schemas.openxmlformats.org/presentationml/2006/main">
  <p:tag name="PA" val="v5.2.9"/>
</p:tagLst>
</file>

<file path=ppt/tags/tag5.xml><?xml version="1.0" encoding="utf-8"?>
<p:tagLst xmlns:p="http://schemas.openxmlformats.org/presentationml/2006/main">
  <p:tag name="PA" val="v5.2.9"/>
</p:tagLst>
</file>

<file path=ppt/tags/tag6.xml><?xml version="1.0" encoding="utf-8"?>
<p:tagLst xmlns:p="http://schemas.openxmlformats.org/presentationml/2006/main">
  <p:tag name="PA" val="v5.2.9"/>
</p:tagLst>
</file>

<file path=ppt/tags/tag7.xml><?xml version="1.0" encoding="utf-8"?>
<p:tagLst xmlns:p="http://schemas.openxmlformats.org/presentationml/2006/main">
  <p:tag name="PA" val="v5.2.9"/>
</p:tagLst>
</file>

<file path=ppt/tags/tag8.xml><?xml version="1.0" encoding="utf-8"?>
<p:tagLst xmlns:p="http://schemas.openxmlformats.org/presentationml/2006/main">
  <p:tag name="PA" val="v5.2.9"/>
</p:tagLst>
</file>

<file path=ppt/tags/tag9.xml><?xml version="1.0" encoding="utf-8"?>
<p:tagLst xmlns:p="http://schemas.openxmlformats.org/presentationml/2006/main">
  <p:tag name="PA" val="v5.2.9"/>
</p:tagLst>
</file>

<file path=ppt/tags/tag10.xml><?xml version="1.0" encoding="utf-8"?>
<p:tagLst xmlns:p="http://schemas.openxmlformats.org/presentationml/2006/main">
  <p:tag name="PA" val="v5.2.9"/>
</p:tagLst>
</file>

<file path=ppt/tags/tag11.xml><?xml version="1.0" encoding="utf-8"?>
<p:tagLst xmlns:p="http://schemas.openxmlformats.org/presentationml/2006/main">
  <p:tag name="PA" val="v5.2.9"/>
</p:tagLst>
</file>

<file path=ppt/tags/tag12.xml><?xml version="1.0" encoding="utf-8"?>
<p:tagLst xmlns:p="http://schemas.openxmlformats.org/presentationml/2006/main">
  <p:tag name="PA" val="v5.2.9"/>
</p:tagLst>
</file>

<file path=ppt/tags/tag13.xml><?xml version="1.0" encoding="utf-8"?>
<p:tagLst xmlns:p="http://schemas.openxmlformats.org/presentationml/2006/main">
  <p:tag name="PA" val="v5.2.9"/>
</p:tagLst>
</file>

<file path=ppt/tags/tag14.xml><?xml version="1.0" encoding="utf-8"?>
<p:tagLst xmlns:p="http://schemas.openxmlformats.org/presentationml/2006/main">
  <p:tag name="PA" val="v5.2.9"/>
</p:tagLst>
</file>

<file path=ppt/tags/tag15.xml><?xml version="1.0" encoding="utf-8"?>
<p:tagLst xmlns:p="http://schemas.openxmlformats.org/presentationml/2006/main">
  <p:tag name="PA" val="v5.2.9"/>
</p:tagLst>
</file>

<file path=ppt/tags/tag16.xml><?xml version="1.0" encoding="utf-8"?>
<p:tagLst xmlns:p="http://schemas.openxmlformats.org/presentationml/2006/main">
  <p:tag name="PA" val="v5.2.9"/>
</p:tagLst>
</file>

<file path=ppt/tags/tag17.xml><?xml version="1.0" encoding="utf-8"?>
<p:tagLst xmlns:p="http://schemas.openxmlformats.org/presentationml/2006/main">
  <p:tag name="PA" val="v5.2.9"/>
</p:tagLst>
</file>

<file path=ppt/tags/tag18.xml><?xml version="1.0" encoding="utf-8"?>
<p:tagLst xmlns:p="http://schemas.openxmlformats.org/presentationml/2006/main">
  <p:tag name="PA" val="v5.2.9"/>
</p:tagLst>
</file>

<file path=ppt/tags/tag19.xml><?xml version="1.0" encoding="utf-8"?>
<p:tagLst xmlns:p="http://schemas.openxmlformats.org/presentationml/2006/main">
  <p:tag name="PA" val="v5.2.9"/>
</p:tagLst>
</file>

<file path=ppt/tags/tag20.xml><?xml version="1.0" encoding="utf-8"?>
<p:tagLst xmlns:p="http://schemas.openxmlformats.org/presentationml/2006/main">
  <p:tag name="PA" val="v5.2.9"/>
</p:tagLst>
</file>

<file path=ppt/tags/tag21.xml><?xml version="1.0" encoding="utf-8"?>
<p:tagLst xmlns:p="http://schemas.openxmlformats.org/presentationml/2006/main">
  <p:tag name="PA" val="v5.2.9"/>
</p:tagLst>
</file>

<file path=ppt/tags/tag22.xml><?xml version="1.0" encoding="utf-8"?>
<p:tagLst xmlns:p="http://schemas.openxmlformats.org/presentationml/2006/main">
  <p:tag name="PA" val="v5.2.9"/>
</p:tagLst>
</file>

<file path=ppt/tags/tag23.xml><?xml version="1.0" encoding="utf-8"?>
<p:tagLst xmlns:p="http://schemas.openxmlformats.org/presentationml/2006/main">
  <p:tag name="PA" val="v5.2.9"/>
</p:tagLst>
</file>

<file path=ppt/tags/tag24.xml><?xml version="1.0" encoding="utf-8"?>
<p:tagLst xmlns:p="http://schemas.openxmlformats.org/presentationml/2006/main">
  <p:tag name="PA" val="v5.2.9"/>
</p:tagLst>
</file>

<file path=ppt/tags/tag25.xml><?xml version="1.0" encoding="utf-8"?>
<p:tagLst xmlns:p="http://schemas.openxmlformats.org/presentationml/2006/main">
  <p:tag name="PA" val="v5.2.9"/>
</p:tagLst>
</file>

<file path=ppt/tags/tag26.xml><?xml version="1.0" encoding="utf-8"?>
<p:tagLst xmlns:p="http://schemas.openxmlformats.org/presentationml/2006/main">
  <p:tag name="PA" val="v5.2.9"/>
</p:tagLst>
</file>

<file path=ppt/tags/tag27.xml><?xml version="1.0" encoding="utf-8"?>
<p:tagLst xmlns:p="http://schemas.openxmlformats.org/presentationml/2006/main">
  <p:tag name="PA" val="v5.2.9"/>
</p:tagLst>
</file>

<file path=ppt/tags/tag28.xml><?xml version="1.0" encoding="utf-8"?>
<p:tagLst xmlns:p="http://schemas.openxmlformats.org/presentationml/2006/main">
  <p:tag name="PA" val="v5.2.9"/>
</p:tagLst>
</file>

<file path=ppt/tags/tag29.xml><?xml version="1.0" encoding="utf-8"?>
<p:tagLst xmlns:p="http://schemas.openxmlformats.org/presentationml/2006/main">
  <p:tag name="PA" val="v5.2.9"/>
</p:tagLst>
</file>

<file path=ppt/tags/tag30.xml><?xml version="1.0" encoding="utf-8"?>
<p:tagLst xmlns:p="http://schemas.openxmlformats.org/presentationml/2006/main">
  <p:tag name="PA" val="v5.2.9"/>
</p:tagLst>
</file>

<file path=ppt/tags/tag31.xml><?xml version="1.0" encoding="utf-8"?>
<p:tagLst xmlns:p="http://schemas.openxmlformats.org/presentationml/2006/main">
  <p:tag name="PA" val="v5.2.9"/>
</p:tagLst>
</file>

<file path=ppt/tags/tag32.xml><?xml version="1.0" encoding="utf-8"?>
<p:tagLst xmlns:p="http://schemas.openxmlformats.org/presentationml/2006/main">
  <p:tag name="PA" val="v5.2.9"/>
</p:tagLst>
</file>

<file path=ppt/tags/tag33.xml><?xml version="1.0" encoding="utf-8"?>
<p:tagLst xmlns:p="http://schemas.openxmlformats.org/presentationml/2006/main">
  <p:tag name="PA" val="v5.2.9"/>
</p:tagLst>
</file>

<file path=ppt/tags/tag34.xml><?xml version="1.0" encoding="utf-8"?>
<p:tagLst xmlns:p="http://schemas.openxmlformats.org/presentationml/2006/main">
  <p:tag name="PA" val="v5.2.9"/>
</p:tagLst>
</file>

<file path=ppt/tags/tag35.xml><?xml version="1.0" encoding="utf-8"?>
<p:tagLst xmlns:p="http://schemas.openxmlformats.org/presentationml/2006/main">
  <p:tag name="PA" val="v5.2.9"/>
</p:tagLst>
</file>

<file path=ppt/tags/tag36.xml><?xml version="1.0" encoding="utf-8"?>
<p:tagLst xmlns:p="http://schemas.openxmlformats.org/presentationml/2006/main">
  <p:tag name="PA" val="v5.2.9"/>
</p:tagLst>
</file>

<file path=ppt/tags/tag37.xml><?xml version="1.0" encoding="utf-8"?>
<p:tagLst xmlns:p="http://schemas.openxmlformats.org/presentationml/2006/main">
  <p:tag name="PA" val="v5.2.9"/>
</p:tagLst>
</file>

<file path=ppt/tags/tag38.xml><?xml version="1.0" encoding="utf-8"?>
<p:tagLst xmlns:p="http://schemas.openxmlformats.org/presentationml/2006/main">
  <p:tag name="PA" val="v5.2.9"/>
</p:tagLst>
</file>

<file path=ppt/tags/tag39.xml><?xml version="1.0" encoding="utf-8"?>
<p:tagLst xmlns:p="http://schemas.openxmlformats.org/presentationml/2006/main">
  <p:tag name="PA" val="v5.2.9"/>
</p:tagLst>
</file>

<file path=ppt/tags/tag40.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1.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2.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3.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4.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5.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6.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7.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8.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49.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0.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1.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2.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3.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4.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5.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6.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7.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8.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59.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0.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1.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2.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3.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4.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5.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6.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67.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68.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69.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0.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1.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2.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3.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4.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5.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6.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7.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8.xml><?xml version="1.0" encoding="utf-8"?>
<p:tagLst xmlns:p="http://schemas.openxmlformats.org/presentationml/2006/main">
  <p:tag name="KSO_WM_DIAGRAM_VIRTUALLY_FRAME" val="{&quot;height&quot;:107.56267716535422,&quot;left&quot;:504.1255118110236,&quot;top&quot;:418.40267716535436,&quot;width&quot;:402.1685826771653}"/>
</p:tagLst>
</file>

<file path=ppt/tags/tag79.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0.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1.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2.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3.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4.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5.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6.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7.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8.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89.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0.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1.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2.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3.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4.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5.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6.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7.xml><?xml version="1.0" encoding="utf-8"?>
<p:tagLst xmlns:p="http://schemas.openxmlformats.org/presentationml/2006/main">
  <p:tag name="KSO_WM_DIAGRAM_VIRTUALLY_FRAME" val="{&quot;height&quot;:185.85007874015747,&quot;left&quot;:84.25007874015748,&quot;top&quot;:358.60590551181105,&quot;width&quot;:778.7499212598425}"/>
</p:tagLst>
</file>

<file path=ppt/tags/tag98.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99.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100.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101.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102.xml><?xml version="1.0" encoding="utf-8"?>
<p:tagLst xmlns:p="http://schemas.openxmlformats.org/presentationml/2006/main">
  <p:tag name="KSO_WM_DIAGRAM_VIRTUALLY_FRAME" val="{&quot;height&quot;:79.69362204724402,&quot;left&quot;:88.78031496062991,&quot;top&quot;:377.40637795275586,&quot;width&quot;:804.66968503937}"/>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PP_MARK_KEY" val="00dd180a-db4a-469a-b40a-450751c175c2"/>
  <p:tag name="COMMONDATA" val="eyJoZGlkIjoiNTMzNTU1OTFlNjljOTNmZjcwNDMwMDVkNDMxOGYxND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5418</Words>
  <Application>WPS 演示</Application>
  <PresentationFormat>宽屏</PresentationFormat>
  <Paragraphs>635</Paragraphs>
  <Slides>43</Slides>
  <Notes>2</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43</vt:i4>
      </vt:variant>
    </vt:vector>
  </HeadingPairs>
  <TitlesOfParts>
    <vt:vector size="68" baseType="lpstr">
      <vt:lpstr>Arial</vt:lpstr>
      <vt:lpstr>宋体</vt:lpstr>
      <vt:lpstr>Wingdings</vt:lpstr>
      <vt:lpstr>华文行楷</vt:lpstr>
      <vt:lpstr>Arial</vt:lpstr>
      <vt:lpstr>微软雅黑</vt:lpstr>
      <vt:lpstr>阿里巴巴普惠体 B</vt:lpstr>
      <vt:lpstr>微软雅黑 Light</vt:lpstr>
      <vt:lpstr>Impact</vt:lpstr>
      <vt:lpstr>Calibri</vt:lpstr>
      <vt:lpstr>Arial Black</vt:lpstr>
      <vt:lpstr>Arial Unicode MS</vt:lpstr>
      <vt:lpstr>等线</vt:lpstr>
      <vt:lpstr>Cambria</vt:lpstr>
      <vt:lpstr>Segoe UI Semibold</vt:lpstr>
      <vt:lpstr>阿里巴巴普惠体 R</vt:lpstr>
      <vt:lpstr>阿里巴巴普惠体 M</vt:lpstr>
      <vt:lpstr>阿里巴巴普惠体 H</vt:lpstr>
      <vt:lpstr>Inter</vt:lpstr>
      <vt:lpstr>Segoe Print</vt:lpstr>
      <vt:lpstr>华文中宋</vt:lpstr>
      <vt:lpstr>mp-quote</vt:lpstr>
      <vt:lpstr>等线 Light</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ClaudioL</cp:lastModifiedBy>
  <cp:revision>230</cp:revision>
  <dcterms:created xsi:type="dcterms:W3CDTF">2020-08-06T01:38:00Z</dcterms:created>
  <dcterms:modified xsi:type="dcterms:W3CDTF">2025-04-11T02:19:03Z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9B02F66F72FD43E394F008CFD829F75F</vt:lpwstr>
  </property>
  <property fmtid="{D5CDD505-2E9C-101B-9397-08002B2CF9AE}" pid="3" name="KSOProductBuildVer">
    <vt:lpwstr>2052-11.8.2.12094</vt:lpwstr>
  </property>
</Properties>
</file>